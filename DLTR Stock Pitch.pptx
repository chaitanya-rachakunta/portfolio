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5.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96" r:id="rId4"/>
  </p:sldMasterIdLst>
  <p:notesMasterIdLst>
    <p:notesMasterId r:id="rId39"/>
  </p:notesMasterIdLst>
  <p:sldIdLst>
    <p:sldId id="256" r:id="rId5"/>
    <p:sldId id="386" r:id="rId6"/>
    <p:sldId id="361" r:id="rId7"/>
    <p:sldId id="364" r:id="rId8"/>
    <p:sldId id="365" r:id="rId9"/>
    <p:sldId id="370" r:id="rId10"/>
    <p:sldId id="372" r:id="rId11"/>
    <p:sldId id="373" r:id="rId12"/>
    <p:sldId id="346" r:id="rId13"/>
    <p:sldId id="368" r:id="rId14"/>
    <p:sldId id="369" r:id="rId15"/>
    <p:sldId id="371" r:id="rId16"/>
    <p:sldId id="298" r:id="rId17"/>
    <p:sldId id="354" r:id="rId18"/>
    <p:sldId id="352" r:id="rId19"/>
    <p:sldId id="347" r:id="rId20"/>
    <p:sldId id="273" r:id="rId21"/>
    <p:sldId id="353" r:id="rId22"/>
    <p:sldId id="374" r:id="rId23"/>
    <p:sldId id="375" r:id="rId24"/>
    <p:sldId id="376" r:id="rId25"/>
    <p:sldId id="384" r:id="rId26"/>
    <p:sldId id="381" r:id="rId27"/>
    <p:sldId id="348" r:id="rId28"/>
    <p:sldId id="382" r:id="rId29"/>
    <p:sldId id="383" r:id="rId30"/>
    <p:sldId id="349" r:id="rId31"/>
    <p:sldId id="355" r:id="rId32"/>
    <p:sldId id="356" r:id="rId33"/>
    <p:sldId id="357" r:id="rId34"/>
    <p:sldId id="358" r:id="rId35"/>
    <p:sldId id="359" r:id="rId36"/>
    <p:sldId id="378" r:id="rId37"/>
    <p:sldId id="360" r:id="rId38"/>
  </p:sldIdLst>
  <p:sldSz cx="9144000" cy="5143500" type="screen16x9"/>
  <p:notesSz cx="6858000" cy="9144000"/>
  <p:embeddedFontLst>
    <p:embeddedFont>
      <p:font typeface="DM Serif Display" pitchFamily="2" charset="0"/>
      <p:regular r:id="rId40"/>
      <p:italic r:id="rId41"/>
    </p:embeddedFont>
    <p:embeddedFont>
      <p:font typeface="Fira Sans Extra Condensed Medium" panose="020B0603050000020004" pitchFamily="34" charset="0"/>
      <p:regular r:id="rId42"/>
      <p:bold r:id="rId43"/>
      <p:italic r:id="rId44"/>
      <p:boldItalic r:id="rId45"/>
    </p:embeddedFont>
    <p:embeddedFont>
      <p:font typeface="Open Sans" panose="020B0606030504020204" pitchFamily="34" charset="0"/>
      <p:regular r:id="rId46"/>
      <p:bold r:id="rId47"/>
      <p:italic r:id="rId48"/>
      <p:boldItalic r:id="rId49"/>
    </p:embeddedFont>
    <p:embeddedFont>
      <p:font typeface="Open Sans Light" panose="020B0306030504020204"/>
      <p:regular r:id="rId50"/>
      <p:bold r:id="rId51"/>
      <p:italic r:id="rId52"/>
      <p:boldItalic r:id="rId53"/>
    </p:embeddedFont>
    <p:embeddedFont>
      <p:font typeface="Trebuchet MS" panose="020B070302020209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A00"/>
    <a:srgbClr val="6BC856"/>
    <a:srgbClr val="0FAA4B"/>
    <a:srgbClr val="144600"/>
    <a:srgbClr val="E6F6E2"/>
    <a:srgbClr val="168766"/>
    <a:srgbClr val="CEEAB0"/>
    <a:srgbClr val="222222"/>
    <a:srgbClr val="93EE00"/>
    <a:srgbClr val="FFF1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76C1D3-3573-5947-8FC1-783C7946C45D}" v="580" dt="2024-12-19T03:23:59.614"/>
  </p1510:revLst>
</p1510:revInfo>
</file>

<file path=ppt/tableStyles.xml><?xml version="1.0" encoding="utf-8"?>
<a:tblStyleLst xmlns:a="http://schemas.openxmlformats.org/drawingml/2006/main" def="{F3ECB871-D4C5-4039-ACB0-15ABA0CD83E5}">
  <a:tblStyle styleId="{F3ECB871-D4C5-4039-ACB0-15ABA0CD83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19"/>
    <p:restoredTop sz="94694"/>
  </p:normalViewPr>
  <p:slideViewPr>
    <p:cSldViewPr snapToGrid="0">
      <p:cViewPr varScale="1">
        <p:scale>
          <a:sx n="156" d="100"/>
          <a:sy n="156"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font" Target="fonts/font12.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2.fntdata"/><Relationship Id="rId54" Type="http://schemas.openxmlformats.org/officeDocument/2006/relationships/font" Target="fonts/font15.fntdata"/><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embeddings/oleObject1.bin"/></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embeddings/oleObject2.bin"/></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embeddings/oleObject3.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Variety Store Industry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spPr>
            <a:ln>
              <a:noFill/>
            </a:ln>
          </c:spPr>
          <c:dPt>
            <c:idx val="0"/>
            <c:bubble3D val="0"/>
            <c:spPr>
              <a:solidFill>
                <a:schemeClr val="accent3">
                  <a:lumMod val="50000"/>
                </a:schemeClr>
              </a:solidFill>
              <a:ln w="19050">
                <a:noFill/>
              </a:ln>
              <a:effectLst/>
            </c:spPr>
            <c:extLst>
              <c:ext xmlns:c16="http://schemas.microsoft.com/office/drawing/2014/chart" uri="{C3380CC4-5D6E-409C-BE32-E72D297353CC}">
                <c16:uniqueId val="{00000001-9432-4AC9-9630-156E48EE7DE5}"/>
              </c:ext>
            </c:extLst>
          </c:dPt>
          <c:dPt>
            <c:idx val="1"/>
            <c:bubble3D val="0"/>
            <c:spPr>
              <a:solidFill>
                <a:schemeClr val="accent3">
                  <a:lumMod val="75000"/>
                </a:schemeClr>
              </a:solidFill>
              <a:ln w="19050">
                <a:noFill/>
              </a:ln>
              <a:effectLst/>
            </c:spPr>
            <c:extLst>
              <c:ext xmlns:c16="http://schemas.microsoft.com/office/drawing/2014/chart" uri="{C3380CC4-5D6E-409C-BE32-E72D297353CC}">
                <c16:uniqueId val="{00000003-9432-4AC9-9630-156E48EE7DE5}"/>
              </c:ext>
            </c:extLst>
          </c:dPt>
          <c:dPt>
            <c:idx val="2"/>
            <c:bubble3D val="0"/>
            <c:spPr>
              <a:solidFill>
                <a:schemeClr val="accent3">
                  <a:lumMod val="60000"/>
                  <a:lumOff val="40000"/>
                </a:schemeClr>
              </a:solidFill>
              <a:ln w="19050">
                <a:noFill/>
              </a:ln>
              <a:effectLst/>
            </c:spPr>
            <c:extLst>
              <c:ext xmlns:c16="http://schemas.microsoft.com/office/drawing/2014/chart" uri="{C3380CC4-5D6E-409C-BE32-E72D297353CC}">
                <c16:uniqueId val="{00000005-9432-4AC9-9630-156E48EE7DE5}"/>
              </c:ext>
            </c:extLst>
          </c:dPt>
          <c:dPt>
            <c:idx val="3"/>
            <c:bubble3D val="0"/>
            <c:spPr>
              <a:solidFill>
                <a:schemeClr val="accent3">
                  <a:lumMod val="40000"/>
                  <a:lumOff val="60000"/>
                </a:schemeClr>
              </a:solidFill>
              <a:ln w="19050">
                <a:noFill/>
              </a:ln>
              <a:effectLst/>
            </c:spPr>
            <c:extLst>
              <c:ext xmlns:c16="http://schemas.microsoft.com/office/drawing/2014/chart" uri="{C3380CC4-5D6E-409C-BE32-E72D297353CC}">
                <c16:uniqueId val="{00000007-9432-4AC9-9630-156E48EE7DE5}"/>
              </c:ext>
            </c:extLst>
          </c:dPt>
          <c:dPt>
            <c:idx val="4"/>
            <c:bubble3D val="0"/>
            <c:spPr>
              <a:solidFill>
                <a:schemeClr val="accent3">
                  <a:lumMod val="20000"/>
                  <a:lumOff val="80000"/>
                </a:schemeClr>
              </a:solidFill>
              <a:ln w="19050">
                <a:noFill/>
              </a:ln>
              <a:effectLst/>
            </c:spPr>
            <c:extLst>
              <c:ext xmlns:c16="http://schemas.microsoft.com/office/drawing/2014/chart" uri="{C3380CC4-5D6E-409C-BE32-E72D297353CC}">
                <c16:uniqueId val="{00000009-9432-4AC9-9630-156E48EE7DE5}"/>
              </c:ext>
            </c:extLst>
          </c:dPt>
          <c:dPt>
            <c:idx val="5"/>
            <c:bubble3D val="0"/>
            <c:spPr>
              <a:solidFill>
                <a:schemeClr val="bg2">
                  <a:lumMod val="90000"/>
                </a:schemeClr>
              </a:solidFill>
              <a:ln w="19050">
                <a:noFill/>
              </a:ln>
              <a:effectLst/>
            </c:spPr>
            <c:extLst>
              <c:ext xmlns:c16="http://schemas.microsoft.com/office/drawing/2014/chart" uri="{C3380CC4-5D6E-409C-BE32-E72D297353CC}">
                <c16:uniqueId val="{0000000B-9432-4AC9-9630-156E48EE7DE5}"/>
              </c:ext>
            </c:extLst>
          </c:dPt>
          <c:dLbls>
            <c:dLbl>
              <c:idx val="0"/>
              <c:layout>
                <c:manualLayout>
                  <c:x val="7.0745762259877424E-3"/>
                  <c:y val="6.4135447143838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432-4AC9-9630-156E48EE7DE5}"/>
                </c:ext>
              </c:extLst>
            </c:dLbl>
            <c:dLbl>
              <c:idx val="1"/>
              <c:layout>
                <c:manualLayout>
                  <c:x val="-9.4155001756321393E-3"/>
                  <c:y val="-2.7529779572530205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432-4AC9-9630-156E48EE7DE5}"/>
                </c:ext>
              </c:extLst>
            </c:dLbl>
            <c:dLbl>
              <c:idx val="4"/>
              <c:layout>
                <c:manualLayout>
                  <c:x val="-1.2397419072615923E-2"/>
                  <c:y val="2.0609507144940215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32-4AC9-9630-156E48EE7DE5}"/>
                </c:ext>
              </c:extLst>
            </c:dLbl>
            <c:dLbl>
              <c:idx val="5"/>
              <c:layout>
                <c:manualLayout>
                  <c:x val="1.8560804899387577E-3"/>
                  <c:y val="4.7072761738116073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432-4AC9-9630-156E48EE7DE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Sheet1!$A$13:$A$18</c:f>
              <c:strCache>
                <c:ptCount val="6"/>
                <c:pt idx="0">
                  <c:v>Walmart Inc</c:v>
                </c:pt>
                <c:pt idx="1">
                  <c:v>Costco Wholesale Corp</c:v>
                </c:pt>
                <c:pt idx="2">
                  <c:v>Others</c:v>
                </c:pt>
                <c:pt idx="3">
                  <c:v>Target Corporation</c:v>
                </c:pt>
                <c:pt idx="4">
                  <c:v>Dollar General Corporation</c:v>
                </c:pt>
                <c:pt idx="5">
                  <c:v>Dollar Tree Inc</c:v>
                </c:pt>
              </c:strCache>
            </c:strRef>
          </c:cat>
          <c:val>
            <c:numRef>
              <c:f>Sheet1!$B$13:$B$18</c:f>
              <c:numCache>
                <c:formatCode>0%</c:formatCode>
                <c:ptCount val="6"/>
                <c:pt idx="0">
                  <c:v>0.49</c:v>
                </c:pt>
                <c:pt idx="1">
                  <c:v>0.2</c:v>
                </c:pt>
                <c:pt idx="2">
                  <c:v>0.18</c:v>
                </c:pt>
                <c:pt idx="3">
                  <c:v>0.08</c:v>
                </c:pt>
                <c:pt idx="4">
                  <c:v>0.03</c:v>
                </c:pt>
                <c:pt idx="5">
                  <c:v>0.02</c:v>
                </c:pt>
              </c:numCache>
            </c:numRef>
          </c:val>
          <c:extLst>
            <c:ext xmlns:c16="http://schemas.microsoft.com/office/drawing/2014/chart" uri="{C3380CC4-5D6E-409C-BE32-E72D297353CC}">
              <c16:uniqueId val="{0000000C-9432-4AC9-9630-156E48EE7DE5}"/>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Dollar</a:t>
            </a:r>
            <a:r>
              <a:rPr lang="en-US" b="1" baseline="0"/>
              <a:t> and Variety Store Industry</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spPr>
            <a:solidFill>
              <a:schemeClr val="accent6">
                <a:lumMod val="50000"/>
              </a:schemeClr>
            </a:solidFill>
            <a:ln>
              <a:noFill/>
            </a:ln>
          </c:spPr>
          <c:dPt>
            <c:idx val="0"/>
            <c:bubble3D val="0"/>
            <c:spPr>
              <a:solidFill>
                <a:schemeClr val="accent6">
                  <a:lumMod val="40000"/>
                  <a:lumOff val="60000"/>
                </a:schemeClr>
              </a:solidFill>
              <a:ln w="19050">
                <a:noFill/>
              </a:ln>
              <a:effectLst/>
            </c:spPr>
            <c:extLst>
              <c:ext xmlns:c16="http://schemas.microsoft.com/office/drawing/2014/chart" uri="{C3380CC4-5D6E-409C-BE32-E72D297353CC}">
                <c16:uniqueId val="{00000001-3DC3-4B75-B247-101F1FA217D8}"/>
              </c:ext>
            </c:extLst>
          </c:dPt>
          <c:dPt>
            <c:idx val="1"/>
            <c:bubble3D val="0"/>
            <c:spPr>
              <a:solidFill>
                <a:schemeClr val="accent6">
                  <a:lumMod val="50000"/>
                </a:schemeClr>
              </a:solidFill>
              <a:ln w="19050">
                <a:noFill/>
              </a:ln>
              <a:effectLst/>
            </c:spPr>
            <c:extLst>
              <c:ext xmlns:c16="http://schemas.microsoft.com/office/drawing/2014/chart" uri="{C3380CC4-5D6E-409C-BE32-E72D297353CC}">
                <c16:uniqueId val="{00000003-3DC3-4B75-B247-101F1FA217D8}"/>
              </c:ext>
            </c:extLst>
          </c:dPt>
          <c:dPt>
            <c:idx val="2"/>
            <c:bubble3D val="0"/>
            <c:spPr>
              <a:solidFill>
                <a:schemeClr val="accent6">
                  <a:lumMod val="75000"/>
                </a:schemeClr>
              </a:solidFill>
              <a:ln w="19050">
                <a:noFill/>
              </a:ln>
              <a:effectLst/>
            </c:spPr>
            <c:extLst>
              <c:ext xmlns:c16="http://schemas.microsoft.com/office/drawing/2014/chart" uri="{C3380CC4-5D6E-409C-BE32-E72D297353CC}">
                <c16:uniqueId val="{00000005-3DC3-4B75-B247-101F1FA217D8}"/>
              </c:ext>
            </c:extLst>
          </c:dPt>
          <c:dPt>
            <c:idx val="3"/>
            <c:bubble3D val="0"/>
            <c:spPr>
              <a:solidFill>
                <a:schemeClr val="accent6">
                  <a:lumMod val="60000"/>
                  <a:lumOff val="40000"/>
                </a:schemeClr>
              </a:solidFill>
              <a:ln w="19050">
                <a:noFill/>
              </a:ln>
              <a:effectLst/>
            </c:spPr>
            <c:extLst>
              <c:ext xmlns:c16="http://schemas.microsoft.com/office/drawing/2014/chart" uri="{C3380CC4-5D6E-409C-BE32-E72D297353CC}">
                <c16:uniqueId val="{00000007-3DC3-4B75-B247-101F1FA217D8}"/>
              </c:ext>
            </c:extLst>
          </c:dPt>
          <c:dLbls>
            <c:dLbl>
              <c:idx val="0"/>
              <c:tx>
                <c:rich>
                  <a:bodyPr/>
                  <a:lstStyle/>
                  <a:p>
                    <a:fld id="{5C939319-DC50-4B5F-BA3A-C76B132728DD}" type="PERCENTAGE">
                      <a:rPr lang="en-US" b="1"/>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DC3-4B75-B247-101F1FA217D8}"/>
                </c:ext>
              </c:extLst>
            </c:dLbl>
            <c:dLbl>
              <c:idx val="1"/>
              <c:layout>
                <c:manualLayout>
                  <c:x val="4.8920173590603688E-2"/>
                  <c:y val="-1.7512953629994246E-2"/>
                </c:manualLayout>
              </c:layout>
              <c:tx>
                <c:rich>
                  <a:bodyPr/>
                  <a:lstStyle/>
                  <a:p>
                    <a:fld id="{0F04869A-B26C-4D88-8057-F8C29D3255A8}" type="PERCENTAGE">
                      <a:rPr lang="en-US" b="1"/>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DC3-4B75-B247-101F1FA217D8}"/>
                </c:ext>
              </c:extLst>
            </c:dLbl>
            <c:dLbl>
              <c:idx val="2"/>
              <c:tx>
                <c:rich>
                  <a:bodyPr/>
                  <a:lstStyle/>
                  <a:p>
                    <a:fld id="{348B63FB-1032-4FB5-9A67-5B2512EC86B3}" type="PERCENTAGE">
                      <a:rPr lang="en-US" b="1"/>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DC3-4B75-B247-101F1FA217D8}"/>
                </c:ext>
              </c:extLst>
            </c:dLbl>
            <c:dLbl>
              <c:idx val="3"/>
              <c:tx>
                <c:rich>
                  <a:bodyPr/>
                  <a:lstStyle/>
                  <a:p>
                    <a:fld id="{DE856226-42A3-47C6-A8B4-2200B03B6639}" type="PERCENTAGE">
                      <a:rPr lang="en-US" b="1"/>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3DC3-4B75-B247-101F1FA217D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Sheet1!$A$7:$A$10</c:f>
              <c:strCache>
                <c:ptCount val="4"/>
                <c:pt idx="0">
                  <c:v>Dollar General Corporation</c:v>
                </c:pt>
                <c:pt idx="1">
                  <c:v>Dollar Tree Stores, Inc.</c:v>
                </c:pt>
                <c:pt idx="2">
                  <c:v>Big Lots, Inc.</c:v>
                </c:pt>
                <c:pt idx="3">
                  <c:v>Other Companies</c:v>
                </c:pt>
              </c:strCache>
            </c:strRef>
          </c:cat>
          <c:val>
            <c:numRef>
              <c:f>Sheet1!$B$7:$B$10</c:f>
              <c:numCache>
                <c:formatCode>General</c:formatCode>
                <c:ptCount val="4"/>
                <c:pt idx="0">
                  <c:v>32.6</c:v>
                </c:pt>
                <c:pt idx="1">
                  <c:v>24.5</c:v>
                </c:pt>
                <c:pt idx="2">
                  <c:v>3.4</c:v>
                </c:pt>
                <c:pt idx="3">
                  <c:v>39.5</c:v>
                </c:pt>
              </c:numCache>
            </c:numRef>
          </c:val>
          <c:extLst>
            <c:ext xmlns:c16="http://schemas.microsoft.com/office/drawing/2014/chart" uri="{C3380CC4-5D6E-409C-BE32-E72D297353CC}">
              <c16:uniqueId val="{00000008-3DC3-4B75-B247-101F1FA217D8}"/>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421976252925079"/>
          <c:y val="0.10940266859442814"/>
          <c:w val="0.79931241105600459"/>
          <c:h val="0.77604307311961562"/>
        </c:manualLayout>
      </c:layout>
      <c:barChart>
        <c:barDir val="bar"/>
        <c:grouping val="clustered"/>
        <c:varyColors val="0"/>
        <c:ser>
          <c:idx val="2"/>
          <c:order val="0"/>
          <c:tx>
            <c:strRef>
              <c:f>Anika!$A$53</c:f>
              <c:strCache>
                <c:ptCount val="1"/>
                <c:pt idx="0">
                  <c:v>Gross margin</c:v>
                </c:pt>
              </c:strCache>
            </c:strRef>
          </c:tx>
          <c:spPr>
            <a:solidFill>
              <a:srgbClr val="6BC856"/>
            </a:solidFill>
            <a:ln>
              <a:noFill/>
            </a:ln>
            <a:effectLst>
              <a:outerShdw blurRad="57150" dist="19050" dir="5400000" algn="ctr" rotWithShape="0">
                <a:schemeClr val="accent6">
                  <a:alpha val="0"/>
                </a:schemeClr>
              </a:outerShdw>
              <a:softEdge rad="0"/>
            </a:effectLst>
            <a:scene3d>
              <a:camera prst="orthographicFront">
                <a:rot lat="0" lon="0" rev="0"/>
              </a:camera>
              <a:lightRig rig="threePt" dir="t">
                <a:rot lat="0" lon="0" rev="1200000"/>
              </a:lightRig>
            </a:scene3d>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Anika!$B$50:$K$50</c:f>
              <c:numCache>
                <c:formatCode>m/d/yyyy</c:formatCode>
                <c:ptCount val="10"/>
                <c:pt idx="0">
                  <c:v>41670</c:v>
                </c:pt>
                <c:pt idx="1">
                  <c:v>42035</c:v>
                </c:pt>
                <c:pt idx="2">
                  <c:v>42400</c:v>
                </c:pt>
                <c:pt idx="3">
                  <c:v>42766</c:v>
                </c:pt>
                <c:pt idx="4">
                  <c:v>43131</c:v>
                </c:pt>
                <c:pt idx="5">
                  <c:v>43496</c:v>
                </c:pt>
                <c:pt idx="6">
                  <c:v>43861</c:v>
                </c:pt>
                <c:pt idx="7">
                  <c:v>44227</c:v>
                </c:pt>
                <c:pt idx="8">
                  <c:v>44592</c:v>
                </c:pt>
                <c:pt idx="9">
                  <c:v>44957</c:v>
                </c:pt>
              </c:numCache>
            </c:numRef>
          </c:cat>
          <c:val>
            <c:numRef>
              <c:f>Anika!$B$53:$K$53</c:f>
              <c:numCache>
                <c:formatCode>0.0%;\(0.0%\)</c:formatCode>
                <c:ptCount val="10"/>
                <c:pt idx="0">
                  <c:v>0.35582822085889571</c:v>
                </c:pt>
                <c:pt idx="1">
                  <c:v>0.35270047197228621</c:v>
                </c:pt>
                <c:pt idx="2">
                  <c:v>0.30046327362824543</c:v>
                </c:pt>
                <c:pt idx="3">
                  <c:v>0.30863643383914441</c:v>
                </c:pt>
                <c:pt idx="4">
                  <c:v>0.31565485154300871</c:v>
                </c:pt>
                <c:pt idx="5">
                  <c:v>0.3044038329251248</c:v>
                </c:pt>
                <c:pt idx="6">
                  <c:v>0.29819828214207061</c:v>
                </c:pt>
                <c:pt idx="7">
                  <c:v>0.30531218026366852</c:v>
                </c:pt>
                <c:pt idx="8">
                  <c:v>0.29395696244852054</c:v>
                </c:pt>
                <c:pt idx="9">
                  <c:v>0.31538523985500344</c:v>
                </c:pt>
              </c:numCache>
            </c:numRef>
          </c:val>
          <c:extLst>
            <c:ext xmlns:c16="http://schemas.microsoft.com/office/drawing/2014/chart" uri="{C3380CC4-5D6E-409C-BE32-E72D297353CC}">
              <c16:uniqueId val="{00000000-17AC-480D-8C6C-B6039E689B7E}"/>
            </c:ext>
          </c:extLst>
        </c:ser>
        <c:ser>
          <c:idx val="3"/>
          <c:order val="1"/>
          <c:tx>
            <c:strRef>
              <c:f>Anika!$A$54</c:f>
              <c:strCache>
                <c:ptCount val="1"/>
                <c:pt idx="0">
                  <c:v>EBITDA margin</c:v>
                </c:pt>
              </c:strCache>
            </c:strRef>
          </c:tx>
          <c:spPr>
            <a:solidFill>
              <a:srgbClr val="144600"/>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Anika!$B$50:$K$50</c:f>
              <c:numCache>
                <c:formatCode>m/d/yyyy</c:formatCode>
                <c:ptCount val="10"/>
                <c:pt idx="0">
                  <c:v>41670</c:v>
                </c:pt>
                <c:pt idx="1">
                  <c:v>42035</c:v>
                </c:pt>
                <c:pt idx="2">
                  <c:v>42400</c:v>
                </c:pt>
                <c:pt idx="3">
                  <c:v>42766</c:v>
                </c:pt>
                <c:pt idx="4">
                  <c:v>43131</c:v>
                </c:pt>
                <c:pt idx="5">
                  <c:v>43496</c:v>
                </c:pt>
                <c:pt idx="6">
                  <c:v>43861</c:v>
                </c:pt>
                <c:pt idx="7">
                  <c:v>44227</c:v>
                </c:pt>
                <c:pt idx="8">
                  <c:v>44592</c:v>
                </c:pt>
                <c:pt idx="9">
                  <c:v>44957</c:v>
                </c:pt>
              </c:numCache>
            </c:numRef>
          </c:cat>
          <c:val>
            <c:numRef>
              <c:f>Anika!$B$54:$K$54</c:f>
              <c:numCache>
                <c:formatCode>0.0%;\(0.0%\)</c:formatCode>
                <c:ptCount val="10"/>
                <c:pt idx="0">
                  <c:v>0.1480555590985039</c:v>
                </c:pt>
                <c:pt idx="1">
                  <c:v>0.1448582920648207</c:v>
                </c:pt>
                <c:pt idx="2">
                  <c:v>9.9190884220306544E-2</c:v>
                </c:pt>
                <c:pt idx="3">
                  <c:v>0.11304973164987067</c:v>
                </c:pt>
                <c:pt idx="4">
                  <c:v>0.11734058573644104</c:v>
                </c:pt>
                <c:pt idx="5">
                  <c:v>-1.395065568958037E-2</c:v>
                </c:pt>
                <c:pt idx="6">
                  <c:v>8.0793535161875096E-2</c:v>
                </c:pt>
                <c:pt idx="7">
                  <c:v>0.10092789688466558</c:v>
                </c:pt>
                <c:pt idx="8">
                  <c:v>9.6021457988237607E-2</c:v>
                </c:pt>
                <c:pt idx="9">
                  <c:v>0.10603670093923066</c:v>
                </c:pt>
              </c:numCache>
            </c:numRef>
          </c:val>
          <c:extLst>
            <c:ext xmlns:c16="http://schemas.microsoft.com/office/drawing/2014/chart" uri="{C3380CC4-5D6E-409C-BE32-E72D297353CC}">
              <c16:uniqueId val="{00000001-17AC-480D-8C6C-B6039E689B7E}"/>
            </c:ext>
          </c:extLst>
        </c:ser>
        <c:ser>
          <c:idx val="4"/>
          <c:order val="2"/>
          <c:tx>
            <c:strRef>
              <c:f>Anika!$A$55</c:f>
              <c:strCache>
                <c:ptCount val="1"/>
                <c:pt idx="0">
                  <c:v>EBIT margin</c:v>
                </c:pt>
              </c:strCache>
            </c:strRef>
          </c:tx>
          <c:spPr>
            <a:solidFill>
              <a:srgbClr val="0FAA4B"/>
            </a:solidFill>
            <a:ln>
              <a:noFill/>
            </a:ln>
            <a:effectLst>
              <a:outerShdw blurRad="57150" dist="19050" dir="5400000" algn="ctr" rotWithShape="0">
                <a:srgbClr val="000000">
                  <a:alpha val="79000"/>
                </a:srgbClr>
              </a:outerShdw>
            </a:effectLst>
            <a:scene3d>
              <a:camera prst="orthographicFront">
                <a:rot lat="0" lon="0" rev="0"/>
              </a:camera>
              <a:lightRig rig="threePt" dir="t">
                <a:rot lat="0" lon="0" rev="1200000"/>
              </a:lightRig>
            </a:scene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Anika!$B$50:$K$50</c:f>
              <c:numCache>
                <c:formatCode>m/d/yyyy</c:formatCode>
                <c:ptCount val="10"/>
                <c:pt idx="0">
                  <c:v>41670</c:v>
                </c:pt>
                <c:pt idx="1">
                  <c:v>42035</c:v>
                </c:pt>
                <c:pt idx="2">
                  <c:v>42400</c:v>
                </c:pt>
                <c:pt idx="3">
                  <c:v>42766</c:v>
                </c:pt>
                <c:pt idx="4">
                  <c:v>43131</c:v>
                </c:pt>
                <c:pt idx="5">
                  <c:v>43496</c:v>
                </c:pt>
                <c:pt idx="6">
                  <c:v>43861</c:v>
                </c:pt>
                <c:pt idx="7">
                  <c:v>44227</c:v>
                </c:pt>
                <c:pt idx="8">
                  <c:v>44592</c:v>
                </c:pt>
                <c:pt idx="9">
                  <c:v>44957</c:v>
                </c:pt>
              </c:numCache>
            </c:numRef>
          </c:cat>
          <c:val>
            <c:numRef>
              <c:f>Anika!$B$55:$K$55</c:f>
              <c:numCache>
                <c:formatCode>0.0%;\(0.0%\)</c:formatCode>
                <c:ptCount val="10"/>
                <c:pt idx="0">
                  <c:v>0.12375801946354095</c:v>
                </c:pt>
                <c:pt idx="1">
                  <c:v>0.12092255469531057</c:v>
                </c:pt>
                <c:pt idx="2">
                  <c:v>6.7729572084860301E-2</c:v>
                </c:pt>
                <c:pt idx="3">
                  <c:v>8.228116915711034E-2</c:v>
                </c:pt>
                <c:pt idx="4">
                  <c:v>8.9865366029084501E-2</c:v>
                </c:pt>
                <c:pt idx="5">
                  <c:v>-4.1164073556409442E-2</c:v>
                </c:pt>
                <c:pt idx="6">
                  <c:v>5.3458586748437169E-2</c:v>
                </c:pt>
                <c:pt idx="7">
                  <c:v>7.4008302854253138E-2</c:v>
                </c:pt>
                <c:pt idx="8">
                  <c:v>6.8819050803154855E-2</c:v>
                </c:pt>
                <c:pt idx="9">
                  <c:v>7.8932785537048661E-2</c:v>
                </c:pt>
              </c:numCache>
            </c:numRef>
          </c:val>
          <c:extLst>
            <c:ext xmlns:c16="http://schemas.microsoft.com/office/drawing/2014/chart" uri="{C3380CC4-5D6E-409C-BE32-E72D297353CC}">
              <c16:uniqueId val="{00000002-17AC-480D-8C6C-B6039E689B7E}"/>
            </c:ext>
          </c:extLst>
        </c:ser>
        <c:dLbls>
          <c:dLblPos val="outEnd"/>
          <c:showLegendKey val="0"/>
          <c:showVal val="1"/>
          <c:showCatName val="0"/>
          <c:showSerName val="0"/>
          <c:showPercent val="0"/>
          <c:showBubbleSize val="0"/>
        </c:dLbls>
        <c:gapWidth val="115"/>
        <c:overlap val="-20"/>
        <c:axId val="1806172271"/>
        <c:axId val="678495888"/>
      </c:barChart>
      <c:catAx>
        <c:axId val="1806172271"/>
        <c:scaling>
          <c:orientation val="minMax"/>
        </c:scaling>
        <c:delete val="0"/>
        <c:axPos val="l"/>
        <c:numFmt formatCode="yyyy" sourceLinked="0"/>
        <c:majorTickMark val="none"/>
        <c:minorTickMark val="none"/>
        <c:tickLblPos val="low"/>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bg2">
                    <a:lumMod val="50000"/>
                  </a:schemeClr>
                </a:solidFill>
                <a:latin typeface="+mn-lt"/>
                <a:ea typeface="+mn-ea"/>
                <a:cs typeface="+mn-cs"/>
              </a:defRPr>
            </a:pPr>
            <a:endParaRPr lang="en-US"/>
          </a:p>
        </c:txPr>
        <c:crossAx val="678495888"/>
        <c:crosses val="autoZero"/>
        <c:auto val="0"/>
        <c:lblAlgn val="ctr"/>
        <c:lblOffset val="500"/>
        <c:noMultiLvlLbl val="0"/>
      </c:catAx>
      <c:valAx>
        <c:axId val="678495888"/>
        <c:scaling>
          <c:orientation val="minMax"/>
        </c:scaling>
        <c:delete val="0"/>
        <c:axPos val="b"/>
        <c:majorGridlines>
          <c:spPr>
            <a:ln w="9525" cap="flat" cmpd="sng" algn="ctr">
              <a:solidFill>
                <a:schemeClr val="lt1">
                  <a:lumMod val="95000"/>
                  <a:alpha val="10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lumMod val="50000"/>
                  </a:schemeClr>
                </a:solidFill>
                <a:latin typeface="+mn-lt"/>
                <a:ea typeface="+mn-ea"/>
                <a:cs typeface="+mn-cs"/>
              </a:defRPr>
            </a:pPr>
            <a:endParaRPr lang="en-US"/>
          </a:p>
        </c:txPr>
        <c:crossAx val="1806172271"/>
        <c:crosses val="autoZero"/>
        <c:crossBetween val="between"/>
      </c:valAx>
      <c:spPr>
        <a:noFill/>
        <a:ln>
          <a:noFill/>
        </a:ln>
        <a:effectLst/>
      </c:spPr>
    </c:plotArea>
    <c:legend>
      <c:legendPos val="b"/>
      <c:legendEntry>
        <c:idx val="2"/>
        <c:txPr>
          <a:bodyPr rot="0" spcFirstLastPara="1" vertOverflow="ellipsis" vert="horz" wrap="square" anchor="ctr" anchorCtr="1"/>
          <a:lstStyle/>
          <a:p>
            <a:pPr>
              <a:defRPr sz="900" b="0" i="0" u="none" strike="noStrike" kern="1200" baseline="0">
                <a:solidFill>
                  <a:schemeClr val="bg2">
                    <a:lumMod val="5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bg2">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Freight</a:t>
            </a:r>
            <a:r>
              <a:rPr lang="en-US">
                <a:solidFill>
                  <a:sysClr val="windowText" lastClr="000000"/>
                </a:solidFill>
                <a:latin typeface="Times New Roman" panose="02020603050405020304" pitchFamily="18" charset="0"/>
                <a:cs typeface="Times New Roman" panose="02020603050405020304" pitchFamily="18" charset="0"/>
              </a:rPr>
              <a:t> Expense</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Valuation!$S$103</c:f>
              <c:strCache>
                <c:ptCount val="1"/>
                <c:pt idx="0">
                  <c:v>Freight Expense</c:v>
                </c:pt>
              </c:strCache>
            </c:strRef>
          </c:tx>
          <c:spPr>
            <a:ln w="28575" cap="rnd">
              <a:solidFill>
                <a:srgbClr val="0A974B"/>
              </a:solidFill>
              <a:round/>
            </a:ln>
            <a:effectLst/>
          </c:spPr>
          <c:marker>
            <c:symbol val="none"/>
          </c:marker>
          <c:cat>
            <c:numRef>
              <c:f>Valuation!$T$102:$AB$102</c:f>
              <c:numCache>
                <c:formatCode>General</c:formatCode>
                <c:ptCount val="9"/>
                <c:pt idx="0">
                  <c:v>2020</c:v>
                </c:pt>
                <c:pt idx="1">
                  <c:v>2021</c:v>
                </c:pt>
                <c:pt idx="2">
                  <c:v>2022</c:v>
                </c:pt>
                <c:pt idx="3">
                  <c:v>2023</c:v>
                </c:pt>
                <c:pt idx="4">
                  <c:v>2024</c:v>
                </c:pt>
                <c:pt idx="5">
                  <c:v>2025</c:v>
                </c:pt>
                <c:pt idx="6">
                  <c:v>2026</c:v>
                </c:pt>
                <c:pt idx="7">
                  <c:v>2027</c:v>
                </c:pt>
                <c:pt idx="8">
                  <c:v>2028</c:v>
                </c:pt>
              </c:numCache>
            </c:numRef>
          </c:cat>
          <c:val>
            <c:numRef>
              <c:f>Valuation!$T$103:$AB$103</c:f>
              <c:numCache>
                <c:formatCode>#,##0.00;[Red]\(#,##0.00\)</c:formatCode>
                <c:ptCount val="9"/>
                <c:pt idx="0">
                  <c:v>1262.2</c:v>
                </c:pt>
                <c:pt idx="1">
                  <c:v>1887.9</c:v>
                </c:pt>
                <c:pt idx="2">
                  <c:v>1811.4</c:v>
                </c:pt>
                <c:pt idx="3">
                  <c:v>2236.3000000000002</c:v>
                </c:pt>
                <c:pt idx="4">
                  <c:v>-881.8</c:v>
                </c:pt>
                <c:pt idx="5">
                  <c:v>1639.318010338789</c:v>
                </c:pt>
                <c:pt idx="6">
                  <c:v>1823.837455852399</c:v>
                </c:pt>
                <c:pt idx="7">
                  <c:v>1994.1984567145932</c:v>
                </c:pt>
                <c:pt idx="8">
                  <c:v>2225.8850477243882</c:v>
                </c:pt>
              </c:numCache>
            </c:numRef>
          </c:val>
          <c:smooth val="0"/>
          <c:extLst>
            <c:ext xmlns:c16="http://schemas.microsoft.com/office/drawing/2014/chart" uri="{C3380CC4-5D6E-409C-BE32-E72D297353CC}">
              <c16:uniqueId val="{00000000-9D92-461D-8BAC-6A472FAFDE20}"/>
            </c:ext>
          </c:extLst>
        </c:ser>
        <c:dLbls>
          <c:showLegendKey val="0"/>
          <c:showVal val="0"/>
          <c:showCatName val="0"/>
          <c:showSerName val="0"/>
          <c:showPercent val="0"/>
          <c:showBubbleSize val="0"/>
        </c:dLbls>
        <c:smooth val="0"/>
        <c:axId val="1150514223"/>
        <c:axId val="1150522383"/>
      </c:lineChart>
      <c:catAx>
        <c:axId val="1150514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0522383"/>
        <c:crosses val="autoZero"/>
        <c:auto val="1"/>
        <c:lblAlgn val="ctr"/>
        <c:lblOffset val="100"/>
        <c:noMultiLvlLbl val="0"/>
      </c:catAx>
      <c:valAx>
        <c:axId val="1150522383"/>
        <c:scaling>
          <c:orientation val="minMax"/>
        </c:scaling>
        <c:delete val="0"/>
        <c:axPos val="l"/>
        <c:majorGridlines>
          <c:spPr>
            <a:ln w="9525" cap="flat" cmpd="sng" algn="ctr">
              <a:solidFill>
                <a:schemeClr val="tx1">
                  <a:lumMod val="15000"/>
                  <a:lumOff val="85000"/>
                </a:schemeClr>
              </a:solidFill>
              <a:round/>
            </a:ln>
            <a:effectLst/>
          </c:spPr>
        </c:majorGridlines>
        <c:numFmt formatCode="#,##0.00;[Red]\(#,##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05142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a:t>Revenue (USD in Millions)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9.708713787915961E-2"/>
          <c:y val="0.15875866773529695"/>
          <c:w val="0.86388092029880903"/>
          <c:h val="0.742286751972843"/>
        </c:manualLayout>
      </c:layout>
      <c:scatterChart>
        <c:scatterStyle val="smoothMarker"/>
        <c:varyColors val="0"/>
        <c:ser>
          <c:idx val="0"/>
          <c:order val="0"/>
          <c:tx>
            <c:strRef>
              <c:f>Jasmin!$B$1</c:f>
              <c:strCache>
                <c:ptCount val="1"/>
                <c:pt idx="0">
                  <c:v>Revenue</c:v>
                </c:pt>
              </c:strCache>
            </c:strRef>
          </c:tx>
          <c:spPr>
            <a:ln w="19050" cap="rnd">
              <a:solidFill>
                <a:srgbClr val="0A974B"/>
              </a:solidFill>
              <a:round/>
            </a:ln>
            <a:effectLst/>
          </c:spPr>
          <c:marker>
            <c:symbol val="circle"/>
            <c:size val="5"/>
            <c:spPr>
              <a:solidFill>
                <a:srgbClr val="0A974B"/>
              </a:solidFill>
              <a:ln w="9525">
                <a:noFill/>
              </a:ln>
              <a:effectLst/>
            </c:spPr>
          </c:marker>
          <c:xVal>
            <c:numRef>
              <c:f>Jasmin!$A$2:$A$12</c:f>
              <c:numCache>
                <c:formatCode>General</c:formatCode>
                <c:ptCount val="11"/>
                <c:pt idx="0">
                  <c:v>2013</c:v>
                </c:pt>
                <c:pt idx="1">
                  <c:v>2014</c:v>
                </c:pt>
                <c:pt idx="2">
                  <c:v>2015</c:v>
                </c:pt>
                <c:pt idx="3">
                  <c:v>2016</c:v>
                </c:pt>
                <c:pt idx="4">
                  <c:v>2017</c:v>
                </c:pt>
                <c:pt idx="5">
                  <c:v>2018</c:v>
                </c:pt>
                <c:pt idx="6">
                  <c:v>2019</c:v>
                </c:pt>
                <c:pt idx="7">
                  <c:v>2020</c:v>
                </c:pt>
                <c:pt idx="8">
                  <c:v>2021</c:v>
                </c:pt>
                <c:pt idx="9">
                  <c:v>2022</c:v>
                </c:pt>
                <c:pt idx="10">
                  <c:v>2023</c:v>
                </c:pt>
              </c:numCache>
            </c:numRef>
          </c:xVal>
          <c:yVal>
            <c:numRef>
              <c:f>Jasmin!$B$2:$B$12</c:f>
              <c:numCache>
                <c:formatCode>General</c:formatCode>
                <c:ptCount val="11"/>
                <c:pt idx="0">
                  <c:v>7394.5</c:v>
                </c:pt>
                <c:pt idx="1">
                  <c:v>7840.3</c:v>
                </c:pt>
                <c:pt idx="2">
                  <c:v>8602.2000000000007</c:v>
                </c:pt>
                <c:pt idx="3">
                  <c:v>15498.4</c:v>
                </c:pt>
                <c:pt idx="4">
                  <c:v>20719.2</c:v>
                </c:pt>
                <c:pt idx="5">
                  <c:v>22245.5</c:v>
                </c:pt>
                <c:pt idx="6">
                  <c:v>22823.3</c:v>
                </c:pt>
                <c:pt idx="7">
                  <c:v>23610.799999999999</c:v>
                </c:pt>
                <c:pt idx="8">
                  <c:v>25509.3</c:v>
                </c:pt>
                <c:pt idx="9">
                  <c:v>26321.200000000001</c:v>
                </c:pt>
                <c:pt idx="10">
                  <c:v>28331.7</c:v>
                </c:pt>
              </c:numCache>
            </c:numRef>
          </c:yVal>
          <c:smooth val="1"/>
          <c:extLst>
            <c:ext xmlns:c16="http://schemas.microsoft.com/office/drawing/2014/chart" uri="{C3380CC4-5D6E-409C-BE32-E72D297353CC}">
              <c16:uniqueId val="{00000000-49F8-2C4A-8FFF-801881B66EF3}"/>
            </c:ext>
          </c:extLst>
        </c:ser>
        <c:dLbls>
          <c:showLegendKey val="0"/>
          <c:showVal val="0"/>
          <c:showCatName val="0"/>
          <c:showSerName val="0"/>
          <c:showPercent val="0"/>
          <c:showBubbleSize val="0"/>
        </c:dLbls>
        <c:axId val="682501087"/>
        <c:axId val="1245875519"/>
      </c:scatterChart>
      <c:valAx>
        <c:axId val="682501087"/>
        <c:scaling>
          <c:orientation val="minMax"/>
          <c:max val="2023"/>
          <c:min val="2013"/>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rgbClr val="0A974B"/>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45875519"/>
        <c:crosses val="autoZero"/>
        <c:crossBetween val="midCat"/>
        <c:majorUnit val="1"/>
      </c:valAx>
      <c:valAx>
        <c:axId val="12458755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68250108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US"/>
              <a:t>FAMILY DOLLAR REVENUE SEGMENTS </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6">
                  <a:shade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5563-43BD-968F-F283AE13CA11}"/>
              </c:ext>
            </c:extLst>
          </c:dPt>
          <c:dPt>
            <c:idx val="1"/>
            <c:bubble3D val="0"/>
            <c:spPr>
              <a:solidFill>
                <a:schemeClr val="accent6">
                  <a:lumMod val="40000"/>
                  <a:lumOff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5563-43BD-968F-F283AE13CA11}"/>
              </c:ext>
            </c:extLst>
          </c:dPt>
          <c:dPt>
            <c:idx val="2"/>
            <c:bubble3D val="0"/>
            <c:spPr>
              <a:solidFill>
                <a:schemeClr val="accent6">
                  <a:tint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5563-43BD-968F-F283AE13CA11}"/>
              </c:ext>
            </c:extLst>
          </c:dPt>
          <c:dPt>
            <c:idx val="3"/>
            <c:bubble3D val="0"/>
            <c:spPr>
              <a:solidFill>
                <a:schemeClr val="accent6">
                  <a:lumMod val="5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5563-43BD-968F-F283AE13CA11}"/>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'[DLTR charts.xlsx]revenue segments'!$A$11:$A$14</c:f>
              <c:strCache>
                <c:ptCount val="4"/>
                <c:pt idx="0">
                  <c:v>Consumable</c:v>
                </c:pt>
                <c:pt idx="1">
                  <c:v>Home products</c:v>
                </c:pt>
                <c:pt idx="2">
                  <c:v>Apparel and accessories</c:v>
                </c:pt>
                <c:pt idx="3">
                  <c:v>Seasonal and electronics</c:v>
                </c:pt>
              </c:strCache>
            </c:strRef>
          </c:cat>
          <c:val>
            <c:numRef>
              <c:f>'[DLTR charts.xlsx]revenue segments'!$B$11:$B$14</c:f>
              <c:numCache>
                <c:formatCode>0%</c:formatCode>
                <c:ptCount val="4"/>
                <c:pt idx="0">
                  <c:v>0.80300000000000005</c:v>
                </c:pt>
                <c:pt idx="1">
                  <c:v>6.7000000000000004E-2</c:v>
                </c:pt>
                <c:pt idx="2">
                  <c:v>4.9000000000000002E-2</c:v>
                </c:pt>
                <c:pt idx="3">
                  <c:v>8.1000000000000003E-2</c:v>
                </c:pt>
              </c:numCache>
            </c:numRef>
          </c:val>
          <c:extLst>
            <c:ext xmlns:c16="http://schemas.microsoft.com/office/drawing/2014/chart" uri="{C3380CC4-5D6E-409C-BE32-E72D297353CC}">
              <c16:uniqueId val="{00000008-5563-43BD-968F-F283AE13CA11}"/>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US"/>
              <a:t>DOLLAR TREE REVENUE SEGMENTS</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6">
                  <a:lumMod val="7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960D-4D8E-86A5-2966FC362C5C}"/>
              </c:ext>
            </c:extLst>
          </c:dPt>
          <c:dPt>
            <c:idx val="1"/>
            <c:bubble3D val="0"/>
            <c:spPr>
              <a:solidFill>
                <a:schemeClr val="accent6">
                  <a:lumMod val="60000"/>
                  <a:lumOff val="4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960D-4D8E-86A5-2966FC362C5C}"/>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960D-4D8E-86A5-2966FC362C5C}"/>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'[DLTR charts.xlsx]revenue segments'!$A$3:$A$5</c:f>
              <c:strCache>
                <c:ptCount val="3"/>
                <c:pt idx="0">
                  <c:v>Consumable</c:v>
                </c:pt>
                <c:pt idx="1">
                  <c:v>Variety</c:v>
                </c:pt>
                <c:pt idx="2">
                  <c:v>Seasonal</c:v>
                </c:pt>
              </c:strCache>
            </c:strRef>
          </c:cat>
          <c:val>
            <c:numRef>
              <c:f>'[DLTR charts.xlsx]revenue segments'!$B$3:$B$5</c:f>
              <c:numCache>
                <c:formatCode>0%</c:formatCode>
                <c:ptCount val="3"/>
                <c:pt idx="0">
                  <c:v>0.47199999999999998</c:v>
                </c:pt>
                <c:pt idx="1">
                  <c:v>0.46400000000000002</c:v>
                </c:pt>
                <c:pt idx="2">
                  <c:v>6.4000000000000001E-2</c:v>
                </c:pt>
              </c:numCache>
            </c:numRef>
          </c:val>
          <c:extLst>
            <c:ext xmlns:c16="http://schemas.microsoft.com/office/drawing/2014/chart" uri="{C3380CC4-5D6E-409C-BE32-E72D297353CC}">
              <c16:uniqueId val="{00000006-960D-4D8E-86A5-2966FC362C5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9">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D615E-1AEB-4E4D-9FC6-B0689D3ACB49}" type="doc">
      <dgm:prSet loTypeId="urn:microsoft.com/office/officeart/2005/8/layout/radial4" loCatId="" qsTypeId="urn:microsoft.com/office/officeart/2005/8/quickstyle/simple1" qsCatId="simple" csTypeId="urn:microsoft.com/office/officeart/2005/8/colors/accent1_2" csCatId="accent1" phldr="1"/>
      <dgm:spPr/>
      <dgm:t>
        <a:bodyPr/>
        <a:lstStyle/>
        <a:p>
          <a:endParaRPr lang="en-US"/>
        </a:p>
      </dgm:t>
    </dgm:pt>
    <dgm:pt modelId="{8702FA78-76FA-8F48-A6F1-9233AF5BA0CE}">
      <dgm:prSet phldrT="[Text]" custT="1"/>
      <dgm:spPr>
        <a:solidFill>
          <a:srgbClr val="6BC856"/>
        </a:solidFill>
      </dgm:spPr>
      <dgm:t>
        <a:bodyPr/>
        <a:lstStyle/>
        <a:p>
          <a:r>
            <a:rPr lang="en-US" sz="2000">
              <a:solidFill>
                <a:srgbClr val="E6F6E2"/>
              </a:solidFill>
            </a:rPr>
            <a:t>ROE:</a:t>
          </a:r>
        </a:p>
        <a:p>
          <a:r>
            <a:rPr lang="en-US" sz="2000">
              <a:solidFill>
                <a:srgbClr val="E6F6E2"/>
              </a:solidFill>
            </a:rPr>
            <a:t>-13.75 x</a:t>
          </a:r>
        </a:p>
      </dgm:t>
    </dgm:pt>
    <dgm:pt modelId="{5114364E-0C07-E945-A26D-782103CE8445}" type="parTrans" cxnId="{51A48F5E-2F85-7841-B5BC-D6261BD10BB9}">
      <dgm:prSet/>
      <dgm:spPr/>
      <dgm:t>
        <a:bodyPr/>
        <a:lstStyle/>
        <a:p>
          <a:endParaRPr lang="en-US"/>
        </a:p>
      </dgm:t>
    </dgm:pt>
    <dgm:pt modelId="{FB7F26F9-A97E-BC49-AD11-C1D9681D0369}" type="sibTrans" cxnId="{51A48F5E-2F85-7841-B5BC-D6261BD10BB9}">
      <dgm:prSet/>
      <dgm:spPr/>
      <dgm:t>
        <a:bodyPr/>
        <a:lstStyle/>
        <a:p>
          <a:endParaRPr lang="en-US"/>
        </a:p>
      </dgm:t>
    </dgm:pt>
    <dgm:pt modelId="{798F7899-7D1E-2B4D-BD71-8F4BC9C32115}">
      <dgm:prSet phldrT="[Text]" custT="1"/>
      <dgm:spPr>
        <a:solidFill>
          <a:srgbClr val="0FAA4B"/>
        </a:solidFill>
      </dgm:spPr>
      <dgm:t>
        <a:bodyPr/>
        <a:lstStyle/>
        <a:p>
          <a:r>
            <a:rPr lang="en-US" sz="2000">
              <a:solidFill>
                <a:srgbClr val="E6F6E2"/>
              </a:solidFill>
            </a:rPr>
            <a:t>Asset Turnover: 1.35 x</a:t>
          </a:r>
        </a:p>
      </dgm:t>
    </dgm:pt>
    <dgm:pt modelId="{7EACF9A1-A9C9-7C46-BCD5-FFD707845BC4}" type="parTrans" cxnId="{35CDDD8B-097F-C44E-BBFD-BE816371B650}">
      <dgm:prSet/>
      <dgm:spPr>
        <a:solidFill>
          <a:srgbClr val="CEEAB0"/>
        </a:solidFill>
      </dgm:spPr>
      <dgm:t>
        <a:bodyPr/>
        <a:lstStyle/>
        <a:p>
          <a:endParaRPr lang="en-US"/>
        </a:p>
      </dgm:t>
    </dgm:pt>
    <dgm:pt modelId="{8FA076FF-367D-D049-9044-35423985DE74}" type="sibTrans" cxnId="{35CDDD8B-097F-C44E-BBFD-BE816371B650}">
      <dgm:prSet/>
      <dgm:spPr/>
      <dgm:t>
        <a:bodyPr/>
        <a:lstStyle/>
        <a:p>
          <a:endParaRPr lang="en-US"/>
        </a:p>
      </dgm:t>
    </dgm:pt>
    <dgm:pt modelId="{5BD11DE2-37D8-584E-9AB4-11ED983632A7}">
      <dgm:prSet phldrT="[Text]" custT="1"/>
      <dgm:spPr>
        <a:solidFill>
          <a:srgbClr val="0FAA4B"/>
        </a:solidFill>
      </dgm:spPr>
      <dgm:t>
        <a:bodyPr/>
        <a:lstStyle/>
        <a:p>
          <a:r>
            <a:rPr lang="en-US" sz="2000">
              <a:solidFill>
                <a:srgbClr val="E6F6E2"/>
              </a:solidFill>
            </a:rPr>
            <a:t>Profit Margin: -4.94 x</a:t>
          </a:r>
        </a:p>
      </dgm:t>
    </dgm:pt>
    <dgm:pt modelId="{1CBFCAB9-F546-CE43-BA14-C41BADC35853}" type="parTrans" cxnId="{7EC808C1-CE1F-1D49-854A-897AF9B01CCC}">
      <dgm:prSet/>
      <dgm:spPr>
        <a:solidFill>
          <a:srgbClr val="CEEAB0"/>
        </a:solidFill>
      </dgm:spPr>
      <dgm:t>
        <a:bodyPr/>
        <a:lstStyle/>
        <a:p>
          <a:endParaRPr lang="en-US"/>
        </a:p>
      </dgm:t>
    </dgm:pt>
    <dgm:pt modelId="{7D28E568-F6C4-9245-8377-CDA3E2302FE6}" type="sibTrans" cxnId="{7EC808C1-CE1F-1D49-854A-897AF9B01CCC}">
      <dgm:prSet/>
      <dgm:spPr/>
      <dgm:t>
        <a:bodyPr/>
        <a:lstStyle/>
        <a:p>
          <a:endParaRPr lang="en-US"/>
        </a:p>
      </dgm:t>
    </dgm:pt>
    <dgm:pt modelId="{E26ED276-D39D-094E-A5E8-C0A07E95F5BD}">
      <dgm:prSet phldrT="[Text]" custT="1"/>
      <dgm:spPr>
        <a:solidFill>
          <a:srgbClr val="0FAA4B"/>
        </a:solidFill>
      </dgm:spPr>
      <dgm:t>
        <a:bodyPr/>
        <a:lstStyle/>
        <a:p>
          <a:r>
            <a:rPr lang="en-US" sz="2000">
              <a:solidFill>
                <a:srgbClr val="E6F6E2"/>
              </a:solidFill>
            </a:rPr>
            <a:t>Financial Leverage: 2.06 x</a:t>
          </a:r>
        </a:p>
      </dgm:t>
    </dgm:pt>
    <dgm:pt modelId="{990E8172-5EED-134D-9DB9-501CCAF5832C}" type="parTrans" cxnId="{A32CB732-4E61-C04B-BEB4-4D92B8B21EF5}">
      <dgm:prSet/>
      <dgm:spPr>
        <a:solidFill>
          <a:srgbClr val="CEEAB0"/>
        </a:solidFill>
      </dgm:spPr>
      <dgm:t>
        <a:bodyPr/>
        <a:lstStyle/>
        <a:p>
          <a:endParaRPr lang="en-US"/>
        </a:p>
      </dgm:t>
    </dgm:pt>
    <dgm:pt modelId="{9A4ED30F-BD15-9C4D-8A81-9EC3269CFC62}" type="sibTrans" cxnId="{A32CB732-4E61-C04B-BEB4-4D92B8B21EF5}">
      <dgm:prSet/>
      <dgm:spPr/>
      <dgm:t>
        <a:bodyPr/>
        <a:lstStyle/>
        <a:p>
          <a:endParaRPr lang="en-US"/>
        </a:p>
      </dgm:t>
    </dgm:pt>
    <dgm:pt modelId="{DEB79FCF-626C-7144-9BFF-CA85DA694605}" type="pres">
      <dgm:prSet presAssocID="{073D615E-1AEB-4E4D-9FC6-B0689D3ACB49}" presName="cycle" presStyleCnt="0">
        <dgm:presLayoutVars>
          <dgm:chMax val="1"/>
          <dgm:dir/>
          <dgm:animLvl val="ctr"/>
          <dgm:resizeHandles val="exact"/>
        </dgm:presLayoutVars>
      </dgm:prSet>
      <dgm:spPr/>
    </dgm:pt>
    <dgm:pt modelId="{5F9DFFEB-3F57-D343-A61F-9156B2A5A222}" type="pres">
      <dgm:prSet presAssocID="{8702FA78-76FA-8F48-A6F1-9233AF5BA0CE}" presName="centerShape" presStyleLbl="node0" presStyleIdx="0" presStyleCnt="1"/>
      <dgm:spPr/>
    </dgm:pt>
    <dgm:pt modelId="{B2B0EE64-00BA-A44D-91FF-0B4891C24777}" type="pres">
      <dgm:prSet presAssocID="{7EACF9A1-A9C9-7C46-BCD5-FFD707845BC4}" presName="parTrans" presStyleLbl="bgSibTrans2D1" presStyleIdx="0" presStyleCnt="3"/>
      <dgm:spPr/>
    </dgm:pt>
    <dgm:pt modelId="{D3861683-2ECE-574B-861F-EC741D8B04CF}" type="pres">
      <dgm:prSet presAssocID="{798F7899-7D1E-2B4D-BD71-8F4BC9C32115}" presName="node" presStyleLbl="node1" presStyleIdx="0" presStyleCnt="3">
        <dgm:presLayoutVars>
          <dgm:bulletEnabled val="1"/>
        </dgm:presLayoutVars>
      </dgm:prSet>
      <dgm:spPr/>
    </dgm:pt>
    <dgm:pt modelId="{E42083FA-8399-DD40-9A53-CD841F01C530}" type="pres">
      <dgm:prSet presAssocID="{1CBFCAB9-F546-CE43-BA14-C41BADC35853}" presName="parTrans" presStyleLbl="bgSibTrans2D1" presStyleIdx="1" presStyleCnt="3"/>
      <dgm:spPr/>
    </dgm:pt>
    <dgm:pt modelId="{399532C6-7E4D-4C40-B448-1785DB1FD53F}" type="pres">
      <dgm:prSet presAssocID="{5BD11DE2-37D8-584E-9AB4-11ED983632A7}" presName="node" presStyleLbl="node1" presStyleIdx="1" presStyleCnt="3">
        <dgm:presLayoutVars>
          <dgm:bulletEnabled val="1"/>
        </dgm:presLayoutVars>
      </dgm:prSet>
      <dgm:spPr/>
    </dgm:pt>
    <dgm:pt modelId="{9F5C7ECA-1564-AF44-9F27-F348736830B3}" type="pres">
      <dgm:prSet presAssocID="{990E8172-5EED-134D-9DB9-501CCAF5832C}" presName="parTrans" presStyleLbl="bgSibTrans2D1" presStyleIdx="2" presStyleCnt="3"/>
      <dgm:spPr/>
    </dgm:pt>
    <dgm:pt modelId="{06AD35E3-8BF7-1B42-B795-3798076CE8AB}" type="pres">
      <dgm:prSet presAssocID="{E26ED276-D39D-094E-A5E8-C0A07E95F5BD}" presName="node" presStyleLbl="node1" presStyleIdx="2" presStyleCnt="3">
        <dgm:presLayoutVars>
          <dgm:bulletEnabled val="1"/>
        </dgm:presLayoutVars>
      </dgm:prSet>
      <dgm:spPr/>
    </dgm:pt>
  </dgm:ptLst>
  <dgm:cxnLst>
    <dgm:cxn modelId="{5FB0CC24-FC8F-0241-8ACD-D2E4C81158AB}" type="presOf" srcId="{7EACF9A1-A9C9-7C46-BCD5-FFD707845BC4}" destId="{B2B0EE64-00BA-A44D-91FF-0B4891C24777}" srcOrd="0" destOrd="0" presId="urn:microsoft.com/office/officeart/2005/8/layout/radial4"/>
    <dgm:cxn modelId="{6FC34B32-DAC7-E34B-ACEC-0D2F93E06E02}" type="presOf" srcId="{073D615E-1AEB-4E4D-9FC6-B0689D3ACB49}" destId="{DEB79FCF-626C-7144-9BFF-CA85DA694605}" srcOrd="0" destOrd="0" presId="urn:microsoft.com/office/officeart/2005/8/layout/radial4"/>
    <dgm:cxn modelId="{A32CB732-4E61-C04B-BEB4-4D92B8B21EF5}" srcId="{8702FA78-76FA-8F48-A6F1-9233AF5BA0CE}" destId="{E26ED276-D39D-094E-A5E8-C0A07E95F5BD}" srcOrd="2" destOrd="0" parTransId="{990E8172-5EED-134D-9DB9-501CCAF5832C}" sibTransId="{9A4ED30F-BD15-9C4D-8A81-9EC3269CFC62}"/>
    <dgm:cxn modelId="{51A48F5E-2F85-7841-B5BC-D6261BD10BB9}" srcId="{073D615E-1AEB-4E4D-9FC6-B0689D3ACB49}" destId="{8702FA78-76FA-8F48-A6F1-9233AF5BA0CE}" srcOrd="0" destOrd="0" parTransId="{5114364E-0C07-E945-A26D-782103CE8445}" sibTransId="{FB7F26F9-A97E-BC49-AD11-C1D9681D0369}"/>
    <dgm:cxn modelId="{50A11B5F-94D7-3045-A0F9-05CFBFE4EC98}" type="presOf" srcId="{990E8172-5EED-134D-9DB9-501CCAF5832C}" destId="{9F5C7ECA-1564-AF44-9F27-F348736830B3}" srcOrd="0" destOrd="0" presId="urn:microsoft.com/office/officeart/2005/8/layout/radial4"/>
    <dgm:cxn modelId="{84666E65-DA51-0348-8F59-19BF12362531}" type="presOf" srcId="{E26ED276-D39D-094E-A5E8-C0A07E95F5BD}" destId="{06AD35E3-8BF7-1B42-B795-3798076CE8AB}" srcOrd="0" destOrd="0" presId="urn:microsoft.com/office/officeart/2005/8/layout/radial4"/>
    <dgm:cxn modelId="{35CDDD8B-097F-C44E-BBFD-BE816371B650}" srcId="{8702FA78-76FA-8F48-A6F1-9233AF5BA0CE}" destId="{798F7899-7D1E-2B4D-BD71-8F4BC9C32115}" srcOrd="0" destOrd="0" parTransId="{7EACF9A1-A9C9-7C46-BCD5-FFD707845BC4}" sibTransId="{8FA076FF-367D-D049-9044-35423985DE74}"/>
    <dgm:cxn modelId="{90A58794-5A1C-0D40-9B0C-305F1C06E7E2}" type="presOf" srcId="{5BD11DE2-37D8-584E-9AB4-11ED983632A7}" destId="{399532C6-7E4D-4C40-B448-1785DB1FD53F}" srcOrd="0" destOrd="0" presId="urn:microsoft.com/office/officeart/2005/8/layout/radial4"/>
    <dgm:cxn modelId="{3AB13DA9-D1E2-CD47-851A-56109E6119BA}" type="presOf" srcId="{8702FA78-76FA-8F48-A6F1-9233AF5BA0CE}" destId="{5F9DFFEB-3F57-D343-A61F-9156B2A5A222}" srcOrd="0" destOrd="0" presId="urn:microsoft.com/office/officeart/2005/8/layout/radial4"/>
    <dgm:cxn modelId="{7EC808C1-CE1F-1D49-854A-897AF9B01CCC}" srcId="{8702FA78-76FA-8F48-A6F1-9233AF5BA0CE}" destId="{5BD11DE2-37D8-584E-9AB4-11ED983632A7}" srcOrd="1" destOrd="0" parTransId="{1CBFCAB9-F546-CE43-BA14-C41BADC35853}" sibTransId="{7D28E568-F6C4-9245-8377-CDA3E2302FE6}"/>
    <dgm:cxn modelId="{02FBE0C5-F2DC-5349-AFF1-7C7EBC3FE493}" type="presOf" srcId="{798F7899-7D1E-2B4D-BD71-8F4BC9C32115}" destId="{D3861683-2ECE-574B-861F-EC741D8B04CF}" srcOrd="0" destOrd="0" presId="urn:microsoft.com/office/officeart/2005/8/layout/radial4"/>
    <dgm:cxn modelId="{CDEB59D0-1F87-7A4A-8928-79E321922422}" type="presOf" srcId="{1CBFCAB9-F546-CE43-BA14-C41BADC35853}" destId="{E42083FA-8399-DD40-9A53-CD841F01C530}" srcOrd="0" destOrd="0" presId="urn:microsoft.com/office/officeart/2005/8/layout/radial4"/>
    <dgm:cxn modelId="{50017004-0A3D-2C4B-B683-1832A8BB1041}" type="presParOf" srcId="{DEB79FCF-626C-7144-9BFF-CA85DA694605}" destId="{5F9DFFEB-3F57-D343-A61F-9156B2A5A222}" srcOrd="0" destOrd="0" presId="urn:microsoft.com/office/officeart/2005/8/layout/radial4"/>
    <dgm:cxn modelId="{9640F2E3-8ECD-8744-8826-E8E209D4835A}" type="presParOf" srcId="{DEB79FCF-626C-7144-9BFF-CA85DA694605}" destId="{B2B0EE64-00BA-A44D-91FF-0B4891C24777}" srcOrd="1" destOrd="0" presId="urn:microsoft.com/office/officeart/2005/8/layout/radial4"/>
    <dgm:cxn modelId="{722D4A17-6C38-E446-A299-6143FC9199FA}" type="presParOf" srcId="{DEB79FCF-626C-7144-9BFF-CA85DA694605}" destId="{D3861683-2ECE-574B-861F-EC741D8B04CF}" srcOrd="2" destOrd="0" presId="urn:microsoft.com/office/officeart/2005/8/layout/radial4"/>
    <dgm:cxn modelId="{E09CEA21-2A11-A04A-BA19-583893B2F1EA}" type="presParOf" srcId="{DEB79FCF-626C-7144-9BFF-CA85DA694605}" destId="{E42083FA-8399-DD40-9A53-CD841F01C530}" srcOrd="3" destOrd="0" presId="urn:microsoft.com/office/officeart/2005/8/layout/radial4"/>
    <dgm:cxn modelId="{B262B19E-88E5-D04D-91F7-B049F8CB4187}" type="presParOf" srcId="{DEB79FCF-626C-7144-9BFF-CA85DA694605}" destId="{399532C6-7E4D-4C40-B448-1785DB1FD53F}" srcOrd="4" destOrd="0" presId="urn:microsoft.com/office/officeart/2005/8/layout/radial4"/>
    <dgm:cxn modelId="{03080CF4-8D3B-A14B-95E5-19F5E5ED444C}" type="presParOf" srcId="{DEB79FCF-626C-7144-9BFF-CA85DA694605}" destId="{9F5C7ECA-1564-AF44-9F27-F348736830B3}" srcOrd="5" destOrd="0" presId="urn:microsoft.com/office/officeart/2005/8/layout/radial4"/>
    <dgm:cxn modelId="{D32286F7-B471-E94A-8A70-E72029792017}" type="presParOf" srcId="{DEB79FCF-626C-7144-9BFF-CA85DA694605}" destId="{06AD35E3-8BF7-1B42-B795-3798076CE8AB}"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DFFEB-3F57-D343-A61F-9156B2A5A222}">
      <dsp:nvSpPr>
        <dsp:cNvPr id="0" name=""/>
        <dsp:cNvSpPr/>
      </dsp:nvSpPr>
      <dsp:spPr>
        <a:xfrm>
          <a:off x="2155507" y="2277603"/>
          <a:ext cx="1784985" cy="1784985"/>
        </a:xfrm>
        <a:prstGeom prst="ellipse">
          <a:avLst/>
        </a:prstGeom>
        <a:solidFill>
          <a:srgbClr val="6BC85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E6F6E2"/>
              </a:solidFill>
            </a:rPr>
            <a:t>ROE:</a:t>
          </a:r>
        </a:p>
        <a:p>
          <a:pPr marL="0" lvl="0" indent="0" algn="ctr" defTabSz="889000">
            <a:lnSpc>
              <a:spcPct val="90000"/>
            </a:lnSpc>
            <a:spcBef>
              <a:spcPct val="0"/>
            </a:spcBef>
            <a:spcAft>
              <a:spcPct val="35000"/>
            </a:spcAft>
            <a:buNone/>
          </a:pPr>
          <a:r>
            <a:rPr lang="en-US" sz="2000" kern="1200">
              <a:solidFill>
                <a:srgbClr val="E6F6E2"/>
              </a:solidFill>
            </a:rPr>
            <a:t>-13.75 x</a:t>
          </a:r>
        </a:p>
      </dsp:txBody>
      <dsp:txXfrm>
        <a:off x="2416912" y="2539008"/>
        <a:ext cx="1262175" cy="1262175"/>
      </dsp:txXfrm>
    </dsp:sp>
    <dsp:sp modelId="{B2B0EE64-00BA-A44D-91FF-0B4891C24777}">
      <dsp:nvSpPr>
        <dsp:cNvPr id="0" name=""/>
        <dsp:cNvSpPr/>
      </dsp:nvSpPr>
      <dsp:spPr>
        <a:xfrm rot="12900000">
          <a:off x="871449" y="1920360"/>
          <a:ext cx="1510013" cy="508720"/>
        </a:xfrm>
        <a:prstGeom prst="leftArrow">
          <a:avLst>
            <a:gd name="adj1" fmla="val 60000"/>
            <a:gd name="adj2" fmla="val 50000"/>
          </a:avLst>
        </a:prstGeom>
        <a:solidFill>
          <a:srgbClr val="CEEAB0"/>
        </a:solidFill>
        <a:ln>
          <a:noFill/>
        </a:ln>
        <a:effectLst/>
      </dsp:spPr>
      <dsp:style>
        <a:lnRef idx="0">
          <a:scrgbClr r="0" g="0" b="0"/>
        </a:lnRef>
        <a:fillRef idx="1">
          <a:scrgbClr r="0" g="0" b="0"/>
        </a:fillRef>
        <a:effectRef idx="0">
          <a:scrgbClr r="0" g="0" b="0"/>
        </a:effectRef>
        <a:fontRef idx="minor">
          <a:schemeClr val="lt1"/>
        </a:fontRef>
      </dsp:style>
    </dsp:sp>
    <dsp:sp modelId="{D3861683-2ECE-574B-861F-EC741D8B04CF}">
      <dsp:nvSpPr>
        <dsp:cNvPr id="0" name=""/>
        <dsp:cNvSpPr/>
      </dsp:nvSpPr>
      <dsp:spPr>
        <a:xfrm>
          <a:off x="160123" y="1063372"/>
          <a:ext cx="1695735" cy="1356588"/>
        </a:xfrm>
        <a:prstGeom prst="roundRect">
          <a:avLst>
            <a:gd name="adj" fmla="val 10000"/>
          </a:avLst>
        </a:prstGeom>
        <a:solidFill>
          <a:srgbClr val="0FAA4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E6F6E2"/>
              </a:solidFill>
            </a:rPr>
            <a:t>Asset Turnover: 1.35 x</a:t>
          </a:r>
        </a:p>
      </dsp:txBody>
      <dsp:txXfrm>
        <a:off x="199856" y="1103105"/>
        <a:ext cx="1616269" cy="1277122"/>
      </dsp:txXfrm>
    </dsp:sp>
    <dsp:sp modelId="{E42083FA-8399-DD40-9A53-CD841F01C530}">
      <dsp:nvSpPr>
        <dsp:cNvPr id="0" name=""/>
        <dsp:cNvSpPr/>
      </dsp:nvSpPr>
      <dsp:spPr>
        <a:xfrm rot="16200000">
          <a:off x="2292993" y="1180352"/>
          <a:ext cx="1510013" cy="508720"/>
        </a:xfrm>
        <a:prstGeom prst="leftArrow">
          <a:avLst>
            <a:gd name="adj1" fmla="val 60000"/>
            <a:gd name="adj2" fmla="val 50000"/>
          </a:avLst>
        </a:prstGeom>
        <a:solidFill>
          <a:srgbClr val="CEEAB0"/>
        </a:solidFill>
        <a:ln>
          <a:noFill/>
        </a:ln>
        <a:effectLst/>
      </dsp:spPr>
      <dsp:style>
        <a:lnRef idx="0">
          <a:scrgbClr r="0" g="0" b="0"/>
        </a:lnRef>
        <a:fillRef idx="1">
          <a:scrgbClr r="0" g="0" b="0"/>
        </a:fillRef>
        <a:effectRef idx="0">
          <a:scrgbClr r="0" g="0" b="0"/>
        </a:effectRef>
        <a:fontRef idx="minor">
          <a:schemeClr val="lt1"/>
        </a:fontRef>
      </dsp:style>
    </dsp:sp>
    <dsp:sp modelId="{399532C6-7E4D-4C40-B448-1785DB1FD53F}">
      <dsp:nvSpPr>
        <dsp:cNvPr id="0" name=""/>
        <dsp:cNvSpPr/>
      </dsp:nvSpPr>
      <dsp:spPr>
        <a:xfrm>
          <a:off x="2200132" y="1411"/>
          <a:ext cx="1695735" cy="1356588"/>
        </a:xfrm>
        <a:prstGeom prst="roundRect">
          <a:avLst>
            <a:gd name="adj" fmla="val 10000"/>
          </a:avLst>
        </a:prstGeom>
        <a:solidFill>
          <a:srgbClr val="0FAA4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E6F6E2"/>
              </a:solidFill>
            </a:rPr>
            <a:t>Profit Margin: -4.94 x</a:t>
          </a:r>
        </a:p>
      </dsp:txBody>
      <dsp:txXfrm>
        <a:off x="2239865" y="41144"/>
        <a:ext cx="1616269" cy="1277122"/>
      </dsp:txXfrm>
    </dsp:sp>
    <dsp:sp modelId="{9F5C7ECA-1564-AF44-9F27-F348736830B3}">
      <dsp:nvSpPr>
        <dsp:cNvPr id="0" name=""/>
        <dsp:cNvSpPr/>
      </dsp:nvSpPr>
      <dsp:spPr>
        <a:xfrm rot="19500000">
          <a:off x="3714536" y="1920360"/>
          <a:ext cx="1510013" cy="508720"/>
        </a:xfrm>
        <a:prstGeom prst="leftArrow">
          <a:avLst>
            <a:gd name="adj1" fmla="val 60000"/>
            <a:gd name="adj2" fmla="val 50000"/>
          </a:avLst>
        </a:prstGeom>
        <a:solidFill>
          <a:srgbClr val="CEEAB0"/>
        </a:solidFill>
        <a:ln>
          <a:noFill/>
        </a:ln>
        <a:effectLst/>
      </dsp:spPr>
      <dsp:style>
        <a:lnRef idx="0">
          <a:scrgbClr r="0" g="0" b="0"/>
        </a:lnRef>
        <a:fillRef idx="1">
          <a:scrgbClr r="0" g="0" b="0"/>
        </a:fillRef>
        <a:effectRef idx="0">
          <a:scrgbClr r="0" g="0" b="0"/>
        </a:effectRef>
        <a:fontRef idx="minor">
          <a:schemeClr val="lt1"/>
        </a:fontRef>
      </dsp:style>
    </dsp:sp>
    <dsp:sp modelId="{06AD35E3-8BF7-1B42-B795-3798076CE8AB}">
      <dsp:nvSpPr>
        <dsp:cNvPr id="0" name=""/>
        <dsp:cNvSpPr/>
      </dsp:nvSpPr>
      <dsp:spPr>
        <a:xfrm>
          <a:off x="4240140" y="1063372"/>
          <a:ext cx="1695735" cy="1356588"/>
        </a:xfrm>
        <a:prstGeom prst="roundRect">
          <a:avLst>
            <a:gd name="adj" fmla="val 10000"/>
          </a:avLst>
        </a:prstGeom>
        <a:solidFill>
          <a:srgbClr val="0FAA4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E6F6E2"/>
              </a:solidFill>
            </a:rPr>
            <a:t>Financial Leverage: 2.06 x</a:t>
          </a:r>
        </a:p>
      </dsp:txBody>
      <dsp:txXfrm>
        <a:off x="4279873" y="1103105"/>
        <a:ext cx="1616269" cy="1277122"/>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F1867EC1-EDA6-9343-290D-8A336C8F4A9F}"/>
            </a:ext>
          </a:extLst>
        </p:cNvPr>
        <p:cNvGrpSpPr/>
        <p:nvPr/>
      </p:nvGrpSpPr>
      <p:grpSpPr>
        <a:xfrm>
          <a:off x="0" y="0"/>
          <a:ext cx="0" cy="0"/>
          <a:chOff x="0" y="0"/>
          <a:chExt cx="0" cy="0"/>
        </a:xfrm>
      </p:grpSpPr>
      <p:sp>
        <p:nvSpPr>
          <p:cNvPr id="275" name="Google Shape;275;g11588ae0e4b_0_10:notes">
            <a:extLst>
              <a:ext uri="{FF2B5EF4-FFF2-40B4-BE49-F238E27FC236}">
                <a16:creationId xmlns:a16="http://schemas.microsoft.com/office/drawing/2014/main" id="{E28D3530-1C3C-24AA-7805-851B4378BF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1588ae0e4b_0_10:notes">
            <a:extLst>
              <a:ext uri="{FF2B5EF4-FFF2-40B4-BE49-F238E27FC236}">
                <a16:creationId xmlns:a16="http://schemas.microsoft.com/office/drawing/2014/main" id="{BBE5A268-0B85-8A5C-56EC-3B340B100D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8339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1588ae0e4b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11588ae0e4b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$124.9 Billion Revenue</a:t>
            </a:r>
          </a:p>
          <a:p>
            <a:pPr marL="285750" indent="-285750">
              <a:buFont typeface="Arial" panose="020B0604020202020204" pitchFamily="34" charset="0"/>
              <a:buChar char="•"/>
            </a:pPr>
            <a:r>
              <a:rPr lang="en-US">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$5.5 Billion Profit</a:t>
            </a:r>
          </a:p>
          <a:p>
            <a:pPr marL="285750" indent="-285750">
              <a:buFont typeface="Arial" panose="020B0604020202020204" pitchFamily="34" charset="0"/>
              <a:buChar char="•"/>
            </a:pPr>
            <a:r>
              <a:rPr lang="en-US">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4.4% Profit Margin</a:t>
            </a:r>
          </a:p>
          <a:p>
            <a:pPr marL="0" lvl="0" indent="0" algn="l" rtl="0">
              <a:spcBef>
                <a:spcPts val="0"/>
              </a:spcBef>
              <a:spcAft>
                <a:spcPts val="0"/>
              </a:spcAft>
              <a:buNone/>
            </a:pPr>
            <a:endParaRPr/>
          </a:p>
        </p:txBody>
      </p:sp>
    </p:spTree>
    <p:extLst>
      <p:ext uri="{BB962C8B-B14F-4D97-AF65-F5344CB8AC3E}">
        <p14:creationId xmlns:p14="http://schemas.microsoft.com/office/powerpoint/2010/main" val="2780109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1588ae0e4b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11588ae0e4b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178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1588ae0e4b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11588ae0e4b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3491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1588ae0e4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1588ae0e4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780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In the variety store landscape, Dollar Tree faces stiff competition from key players like Dollar General, Costco, Walmart, and Target. Dollar General is their main competitor as they also target the same value-oriented group of customers seeking low prices. Costco, Walmart, and Target aren't typical discount stores, but still massive retailers with large product offerings, discounts, and memberships, giving them an advantage in the market.</a:t>
            </a:r>
          </a:p>
        </p:txBody>
      </p:sp>
    </p:spTree>
    <p:extLst>
      <p:ext uri="{BB962C8B-B14F-4D97-AF65-F5344CB8AC3E}">
        <p14:creationId xmlns:p14="http://schemas.microsoft.com/office/powerpoint/2010/main" val="2416340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Dollar Tree has a robust market presence with over 16,000 stores in the 48 states and 5 </a:t>
            </a:r>
            <a:r>
              <a:rPr lang="en-US" err="1"/>
              <a:t>canadian</a:t>
            </a:r>
            <a:r>
              <a:rPr lang="en-US"/>
              <a:t> provinces, making it far more </a:t>
            </a:r>
            <a:r>
              <a:rPr lang="en-US" err="1"/>
              <a:t>accesible</a:t>
            </a:r>
            <a:r>
              <a:rPr lang="en-US"/>
              <a:t> </a:t>
            </a:r>
            <a:r>
              <a:rPr lang="en-US" err="1"/>
              <a:t>tham</a:t>
            </a:r>
            <a:r>
              <a:rPr lang="en-US"/>
              <a:t> its competitors. And uses its rolled out their new multi-</a:t>
            </a:r>
            <a:r>
              <a:rPr lang="en-US" err="1"/>
              <a:t>pice</a:t>
            </a:r>
            <a:r>
              <a:rPr lang="en-US"/>
              <a:t>-point initiative which has added a new variety of products costing to $5 to increase their store traffic keeping it well below )the Targets, </a:t>
            </a:r>
            <a:r>
              <a:rPr lang="en-US" err="1"/>
              <a:t>Walmarts</a:t>
            </a:r>
            <a:r>
              <a:rPr lang="en-US"/>
              <a:t>, and </a:t>
            </a:r>
            <a:r>
              <a:rPr lang="en-US" err="1"/>
              <a:t>Costcos</a:t>
            </a:r>
            <a:r>
              <a:rPr lang="en-US"/>
              <a:t> in every </a:t>
            </a:r>
            <a:r>
              <a:rPr lang="en-US" err="1"/>
              <a:t>region.which</a:t>
            </a:r>
            <a:r>
              <a:rPr lang="en-US"/>
              <a:t> has grown by 2.1%. </a:t>
            </a:r>
          </a:p>
          <a:p>
            <a:r>
              <a:rPr lang="en-US"/>
              <a:t>Expanding the company's reach in key states strategic acquisitions like (170 locations of) of the recent 99 Cents Only Stores, expanding the company's reach in key states (California and Texas, ).</a:t>
            </a:r>
          </a:p>
          <a:p>
            <a:endParaRPr lang="en-US"/>
          </a:p>
          <a:p>
            <a:r>
              <a:rPr lang="en-US"/>
              <a:t> As per their weaknesses, Facing challenges, including declining operating income margins due to higher (</a:t>
            </a:r>
            <a:r>
              <a:rPr lang="en-US" err="1"/>
              <a:t>SalesGeneral&amp;Administrativ</a:t>
            </a:r>
            <a:r>
              <a:rPr lang="en-US"/>
              <a:t>) energy and transport costs (up 200 basis points </a:t>
            </a:r>
            <a:r>
              <a:rPr lang="en-US" err="1"/>
              <a:t>bc</a:t>
            </a:r>
            <a:r>
              <a:rPr lang="en-US"/>
              <a:t> of) ( higher depreciation expense, increased energy costs, freight transportation costs) and Family Dollar’s underperformance, with sales dropping 4% in the last three months. Recently, </a:t>
            </a:r>
            <a:r>
              <a:rPr lang="en-US" err="1"/>
              <a:t>theres</a:t>
            </a:r>
            <a:r>
              <a:rPr lang="en-US"/>
              <a:t> been a number of Leadership changes, including  their long time CEO stepping down due to health issues, who had a major role in reviving the business which is bound to create some operational instability in the short term</a:t>
            </a:r>
            <a:endParaRPr lang="en-US">
              <a:ea typeface="Calibri"/>
            </a:endParaRPr>
          </a:p>
          <a:p>
            <a:endParaRPr lang="en-US">
              <a:ea typeface="Calibri"/>
            </a:endParaRPr>
          </a:p>
          <a:p>
            <a:pPr>
              <a:buNone/>
            </a:pPr>
            <a:endParaRPr lang="en-US">
              <a:latin typeface="Calibri"/>
              <a:ea typeface="Calibri"/>
              <a:cs typeface="Calibri"/>
            </a:endParaRPr>
          </a:p>
        </p:txBody>
      </p:sp>
    </p:spTree>
    <p:extLst>
      <p:ext uri="{BB962C8B-B14F-4D97-AF65-F5344CB8AC3E}">
        <p14:creationId xmlns:p14="http://schemas.microsoft.com/office/powerpoint/2010/main" val="3737750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Dollar Tree is optimizing its portfolio, closing nearly 700 underperforming Family Dollar stores to either spin off these locations or divest to generate value. It’s also expanding the previously mentioned multi-price point lines to more stores beyond the 10% they have already trialed at to enhance transaction values towards more customers. Further expansion, internationally, especially into regions with developing economies like Brazil or Southeast Asia, to tap into value-conscious populations.</a:t>
            </a:r>
            <a:endParaRPr lang="en-US">
              <a:ea typeface="Calibri"/>
            </a:endParaRPr>
          </a:p>
          <a:p>
            <a:r>
              <a:rPr lang="en-US"/>
              <a:t>Intense competition from Walmart, Dollar General, and others continuously pressures DLTR's market share. Economic challenges, including inflation has impacted Low-income households, who tend to shop at deep discounters, and a slough of supply chain disruptions caused by severe and unprecedent weather events like the Oklahoma recent tornado causing losses of $117 million by hitting their distribution center threaten margins and inventory stability.</a:t>
            </a:r>
            <a:endParaRPr lang="en-US">
              <a:ea typeface="Calibri"/>
            </a:endParaRPr>
          </a:p>
          <a:p>
            <a:pPr>
              <a:buNone/>
            </a:pPr>
            <a:endParaRPr lang="en-US">
              <a:latin typeface="Calibri"/>
              <a:ea typeface="Calibri"/>
              <a:cs typeface="Calibri"/>
            </a:endParaRPr>
          </a:p>
        </p:txBody>
      </p:sp>
    </p:spTree>
    <p:extLst>
      <p:ext uri="{BB962C8B-B14F-4D97-AF65-F5344CB8AC3E}">
        <p14:creationId xmlns:p14="http://schemas.microsoft.com/office/powerpoint/2010/main" val="4051871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1588ae0e4b_0_1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1588ae0e4b_0_1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Threat of Sub: </a:t>
            </a:r>
          </a:p>
          <a:p>
            <a:r>
              <a:rPr lang="en-US" b="1"/>
              <a:t>16,300 Competing Discount Stores:</a:t>
            </a:r>
            <a:r>
              <a:rPr lang="en-US"/>
              <a:t> Over 16,300 competing discount retail stores provide alternative shopping options, intensifying the competition.</a:t>
            </a:r>
          </a:p>
          <a:p>
            <a:r>
              <a:rPr lang="en-US" b="1"/>
              <a:t>Rise of E-Commerce:</a:t>
            </a:r>
            <a:r>
              <a:rPr lang="en-US"/>
              <a:t> The projected growth of e-commerce to exceed $1.5 trillion in sales by 2025 poses a significant threat, as online retailers offer convenience, delivery services, and competitive pricing.</a:t>
            </a:r>
          </a:p>
          <a:p>
            <a:r>
              <a:rPr lang="en-US" b="1"/>
              <a:t>Local Low-Cost Alternatives:</a:t>
            </a:r>
            <a:r>
              <a:rPr lang="en-US"/>
              <a:t> Local dollar stores and thrift shops in urban and suburban markets offer even lower average prices, increasing the attractiveness of substitutes, especially during economic downturns.</a:t>
            </a: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1588ae0e4b_0_1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1588ae0e4b_0_1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7620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1588ae0e4b_0_8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1588ae0e4b_0_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5581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1588ae0e4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1588ae0e4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662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1588ae0e4b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11588ae0e4b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528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11588ae0e4b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1588ae0e4b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0570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a:extLst>
            <a:ext uri="{FF2B5EF4-FFF2-40B4-BE49-F238E27FC236}">
              <a16:creationId xmlns:a16="http://schemas.microsoft.com/office/drawing/2014/main" id="{C1C39CB0-4583-9451-9F11-0B34583DF0AB}"/>
            </a:ext>
          </a:extLst>
        </p:cNvPr>
        <p:cNvGrpSpPr/>
        <p:nvPr/>
      </p:nvGrpSpPr>
      <p:grpSpPr>
        <a:xfrm>
          <a:off x="0" y="0"/>
          <a:ext cx="0" cy="0"/>
          <a:chOff x="0" y="0"/>
          <a:chExt cx="0" cy="0"/>
        </a:xfrm>
      </p:grpSpPr>
      <p:sp>
        <p:nvSpPr>
          <p:cNvPr id="586" name="Google Shape;586;g11588ae0e4b_0_431:notes">
            <a:extLst>
              <a:ext uri="{FF2B5EF4-FFF2-40B4-BE49-F238E27FC236}">
                <a16:creationId xmlns:a16="http://schemas.microsoft.com/office/drawing/2014/main" id="{55F5A5CC-DD31-E37B-4CA0-DAE28C701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1588ae0e4b_0_431:notes">
            <a:extLst>
              <a:ext uri="{FF2B5EF4-FFF2-40B4-BE49-F238E27FC236}">
                <a16:creationId xmlns:a16="http://schemas.microsoft.com/office/drawing/2014/main" id="{221AE402-9480-3D99-3C1A-5E438AF27E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3841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1588ae0e4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1588ae0e4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8879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a:extLst>
            <a:ext uri="{FF2B5EF4-FFF2-40B4-BE49-F238E27FC236}">
              <a16:creationId xmlns:a16="http://schemas.microsoft.com/office/drawing/2014/main" id="{B995B72F-C4D1-3856-8EEE-1E142362F6D2}"/>
            </a:ext>
          </a:extLst>
        </p:cNvPr>
        <p:cNvGrpSpPr/>
        <p:nvPr/>
      </p:nvGrpSpPr>
      <p:grpSpPr>
        <a:xfrm>
          <a:off x="0" y="0"/>
          <a:ext cx="0" cy="0"/>
          <a:chOff x="0" y="0"/>
          <a:chExt cx="0" cy="0"/>
        </a:xfrm>
      </p:grpSpPr>
      <p:sp>
        <p:nvSpPr>
          <p:cNvPr id="586" name="Google Shape;586;g11588ae0e4b_0_431:notes">
            <a:extLst>
              <a:ext uri="{FF2B5EF4-FFF2-40B4-BE49-F238E27FC236}">
                <a16:creationId xmlns:a16="http://schemas.microsoft.com/office/drawing/2014/main" id="{3B037364-B33A-3B4F-CE79-C1DC76483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1588ae0e4b_0_431:notes">
            <a:extLst>
              <a:ext uri="{FF2B5EF4-FFF2-40B4-BE49-F238E27FC236}">
                <a16:creationId xmlns:a16="http://schemas.microsoft.com/office/drawing/2014/main" id="{427E474A-941A-1E95-0F54-3ABE1DB3F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2251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a:extLst>
            <a:ext uri="{FF2B5EF4-FFF2-40B4-BE49-F238E27FC236}">
              <a16:creationId xmlns:a16="http://schemas.microsoft.com/office/drawing/2014/main" id="{CC778AE7-C5FB-1A8B-F4B1-8BC6EC0E5621}"/>
            </a:ext>
          </a:extLst>
        </p:cNvPr>
        <p:cNvGrpSpPr/>
        <p:nvPr/>
      </p:nvGrpSpPr>
      <p:grpSpPr>
        <a:xfrm>
          <a:off x="0" y="0"/>
          <a:ext cx="0" cy="0"/>
          <a:chOff x="0" y="0"/>
          <a:chExt cx="0" cy="0"/>
        </a:xfrm>
      </p:grpSpPr>
      <p:sp>
        <p:nvSpPr>
          <p:cNvPr id="586" name="Google Shape;586;g11588ae0e4b_0_431:notes">
            <a:extLst>
              <a:ext uri="{FF2B5EF4-FFF2-40B4-BE49-F238E27FC236}">
                <a16:creationId xmlns:a16="http://schemas.microsoft.com/office/drawing/2014/main" id="{DE43256B-070E-4928-A658-2FC895DCC5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1588ae0e4b_0_431:notes">
            <a:extLst>
              <a:ext uri="{FF2B5EF4-FFF2-40B4-BE49-F238E27FC236}">
                <a16:creationId xmlns:a16="http://schemas.microsoft.com/office/drawing/2014/main" id="{A2D0B1E0-BACC-C137-0347-47B86CFC0C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867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1588ae0e4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1588ae0e4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7440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8202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991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307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7538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9119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141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1166a889f7a_1_1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1166a889f7a_1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580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14.xml"/><Relationship Id="rId7" Type="http://schemas.openxmlformats.org/officeDocument/2006/relationships/image" Target="../media/image1.png"/><Relationship Id="rId2"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 Target="../slides/slide30.xml"/><Relationship Id="rId5" Type="http://schemas.openxmlformats.org/officeDocument/2006/relationships/slide" Target="../slides/slide27.xml"/><Relationship Id="rId4" Type="http://schemas.openxmlformats.org/officeDocument/2006/relationships/slide" Target="../slides/slide2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49550" y="1361100"/>
            <a:ext cx="4245000" cy="2122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CCCCCC"/>
              </a:buClr>
              <a:buSzPts val="4800"/>
              <a:buFont typeface="DM Serif Display"/>
              <a:buNone/>
              <a:defRPr sz="4800">
                <a:solidFill>
                  <a:schemeClr val="dk1"/>
                </a:solidFill>
                <a:latin typeface="DM Serif Display"/>
                <a:ea typeface="DM Serif Display"/>
                <a:cs typeface="DM Serif Display"/>
                <a:sym typeface="DM Serif Display"/>
              </a:defRPr>
            </a:lvl1pPr>
            <a:lvl2pPr lvl="1"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2pPr>
            <a:lvl3pPr lvl="2"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3pPr>
            <a:lvl4pPr lvl="3"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4pPr>
            <a:lvl5pPr lvl="4"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5pPr>
            <a:lvl6pPr lvl="5"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6pPr>
            <a:lvl7pPr lvl="6"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7pPr>
            <a:lvl8pPr lvl="7"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8pPr>
            <a:lvl9pPr lvl="8"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9pPr>
          </a:lstStyle>
          <a:p>
            <a:endParaRPr/>
          </a:p>
        </p:txBody>
      </p:sp>
      <p:sp>
        <p:nvSpPr>
          <p:cNvPr id="10" name="Google Shape;10;p2"/>
          <p:cNvSpPr txBox="1">
            <a:spLocks noGrp="1"/>
          </p:cNvSpPr>
          <p:nvPr>
            <p:ph type="subTitle" idx="1"/>
          </p:nvPr>
        </p:nvSpPr>
        <p:spPr>
          <a:xfrm>
            <a:off x="2449475" y="3483600"/>
            <a:ext cx="4245000" cy="3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CCCCCC"/>
              </a:buClr>
              <a:buSzPts val="1800"/>
              <a:buNone/>
              <a:defRPr sz="1200">
                <a:latin typeface="Open Sans Light"/>
                <a:ea typeface="Open Sans Light"/>
                <a:cs typeface="Open Sans Light"/>
                <a:sym typeface="Open Sans Light"/>
              </a:defRPr>
            </a:lvl1pPr>
            <a:lvl2pPr lvl="1" algn="ctr" rtl="0">
              <a:lnSpc>
                <a:spcPct val="100000"/>
              </a:lnSpc>
              <a:spcBef>
                <a:spcPts val="0"/>
              </a:spcBef>
              <a:spcAft>
                <a:spcPts val="0"/>
              </a:spcAft>
              <a:buClr>
                <a:srgbClr val="CCCCCC"/>
              </a:buClr>
              <a:buSzPts val="2800"/>
              <a:buNone/>
              <a:defRPr sz="2800">
                <a:solidFill>
                  <a:srgbClr val="CCCCCC"/>
                </a:solidFill>
              </a:defRPr>
            </a:lvl2pPr>
            <a:lvl3pPr lvl="2" algn="ctr" rtl="0">
              <a:lnSpc>
                <a:spcPct val="100000"/>
              </a:lnSpc>
              <a:spcBef>
                <a:spcPts val="0"/>
              </a:spcBef>
              <a:spcAft>
                <a:spcPts val="0"/>
              </a:spcAft>
              <a:buClr>
                <a:srgbClr val="CCCCCC"/>
              </a:buClr>
              <a:buSzPts val="2800"/>
              <a:buNone/>
              <a:defRPr sz="2800">
                <a:solidFill>
                  <a:srgbClr val="CCCCCC"/>
                </a:solidFill>
              </a:defRPr>
            </a:lvl3pPr>
            <a:lvl4pPr lvl="3" algn="ctr" rtl="0">
              <a:lnSpc>
                <a:spcPct val="100000"/>
              </a:lnSpc>
              <a:spcBef>
                <a:spcPts val="0"/>
              </a:spcBef>
              <a:spcAft>
                <a:spcPts val="0"/>
              </a:spcAft>
              <a:buClr>
                <a:srgbClr val="CCCCCC"/>
              </a:buClr>
              <a:buSzPts val="2800"/>
              <a:buNone/>
              <a:defRPr sz="2800">
                <a:solidFill>
                  <a:srgbClr val="CCCCCC"/>
                </a:solidFill>
              </a:defRPr>
            </a:lvl4pPr>
            <a:lvl5pPr lvl="4" algn="ctr" rtl="0">
              <a:lnSpc>
                <a:spcPct val="100000"/>
              </a:lnSpc>
              <a:spcBef>
                <a:spcPts val="0"/>
              </a:spcBef>
              <a:spcAft>
                <a:spcPts val="0"/>
              </a:spcAft>
              <a:buClr>
                <a:srgbClr val="CCCCCC"/>
              </a:buClr>
              <a:buSzPts val="2800"/>
              <a:buNone/>
              <a:defRPr sz="2800">
                <a:solidFill>
                  <a:srgbClr val="CCCCCC"/>
                </a:solidFill>
              </a:defRPr>
            </a:lvl5pPr>
            <a:lvl6pPr lvl="5" algn="ctr" rtl="0">
              <a:lnSpc>
                <a:spcPct val="100000"/>
              </a:lnSpc>
              <a:spcBef>
                <a:spcPts val="0"/>
              </a:spcBef>
              <a:spcAft>
                <a:spcPts val="0"/>
              </a:spcAft>
              <a:buClr>
                <a:srgbClr val="CCCCCC"/>
              </a:buClr>
              <a:buSzPts val="2800"/>
              <a:buNone/>
              <a:defRPr sz="2800">
                <a:solidFill>
                  <a:srgbClr val="CCCCCC"/>
                </a:solidFill>
              </a:defRPr>
            </a:lvl6pPr>
            <a:lvl7pPr lvl="6" algn="ctr" rtl="0">
              <a:lnSpc>
                <a:spcPct val="100000"/>
              </a:lnSpc>
              <a:spcBef>
                <a:spcPts val="0"/>
              </a:spcBef>
              <a:spcAft>
                <a:spcPts val="0"/>
              </a:spcAft>
              <a:buClr>
                <a:srgbClr val="CCCCCC"/>
              </a:buClr>
              <a:buSzPts val="2800"/>
              <a:buNone/>
              <a:defRPr sz="2800">
                <a:solidFill>
                  <a:srgbClr val="CCCCCC"/>
                </a:solidFill>
              </a:defRPr>
            </a:lvl7pPr>
            <a:lvl8pPr lvl="7" algn="ctr" rtl="0">
              <a:lnSpc>
                <a:spcPct val="100000"/>
              </a:lnSpc>
              <a:spcBef>
                <a:spcPts val="0"/>
              </a:spcBef>
              <a:spcAft>
                <a:spcPts val="0"/>
              </a:spcAft>
              <a:buClr>
                <a:srgbClr val="CCCCCC"/>
              </a:buClr>
              <a:buSzPts val="2800"/>
              <a:buNone/>
              <a:defRPr sz="2800">
                <a:solidFill>
                  <a:srgbClr val="CCCCCC"/>
                </a:solidFill>
              </a:defRPr>
            </a:lvl8pPr>
            <a:lvl9pPr lvl="8" algn="ctr" rtl="0">
              <a:lnSpc>
                <a:spcPct val="100000"/>
              </a:lnSpc>
              <a:spcBef>
                <a:spcPts val="0"/>
              </a:spcBef>
              <a:spcAft>
                <a:spcPts val="0"/>
              </a:spcAft>
              <a:buClr>
                <a:srgbClr val="CCCCCC"/>
              </a:buClr>
              <a:buSzPts val="2800"/>
              <a:buNone/>
              <a:defRPr sz="2800">
                <a:solidFill>
                  <a:srgbClr val="CCCCCC"/>
                </a:solidFill>
              </a:defRPr>
            </a:lvl9pPr>
          </a:lstStyle>
          <a:p>
            <a:endParaRPr/>
          </a:p>
        </p:txBody>
      </p:sp>
    </p:spTree>
    <p:extLst>
      <p:ext uri="{BB962C8B-B14F-4D97-AF65-F5344CB8AC3E}">
        <p14:creationId xmlns:p14="http://schemas.microsoft.com/office/powerpoint/2010/main" val="1389171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2"/>
        <p:cNvGrpSpPr/>
        <p:nvPr/>
      </p:nvGrpSpPr>
      <p:grpSpPr>
        <a:xfrm>
          <a:off x="0" y="0"/>
          <a:ext cx="0" cy="0"/>
          <a:chOff x="0" y="0"/>
          <a:chExt cx="0" cy="0"/>
        </a:xfrm>
      </p:grpSpPr>
      <p:sp>
        <p:nvSpPr>
          <p:cNvPr id="23" name="Google Shape;23;p6"/>
          <p:cNvSpPr txBox="1">
            <a:spLocks noGrp="1"/>
          </p:cNvSpPr>
          <p:nvPr>
            <p:ph type="ctrTitle"/>
          </p:nvPr>
        </p:nvSpPr>
        <p:spPr>
          <a:xfrm>
            <a:off x="723600" y="470625"/>
            <a:ext cx="15678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extLst>
      <p:ext uri="{BB962C8B-B14F-4D97-AF65-F5344CB8AC3E}">
        <p14:creationId xmlns:p14="http://schemas.microsoft.com/office/powerpoint/2010/main" val="94359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8"/>
        <p:cNvGrpSpPr/>
        <p:nvPr/>
      </p:nvGrpSpPr>
      <p:grpSpPr>
        <a:xfrm>
          <a:off x="0" y="0"/>
          <a:ext cx="0" cy="0"/>
          <a:chOff x="0" y="0"/>
          <a:chExt cx="0" cy="0"/>
        </a:xfrm>
      </p:grpSpPr>
      <p:sp>
        <p:nvSpPr>
          <p:cNvPr id="39" name="Google Shape;39;p13"/>
          <p:cNvSpPr txBox="1">
            <a:spLocks noGrp="1"/>
          </p:cNvSpPr>
          <p:nvPr>
            <p:ph type="ctrTitle"/>
          </p:nvPr>
        </p:nvSpPr>
        <p:spPr>
          <a:xfrm>
            <a:off x="723600" y="470622"/>
            <a:ext cx="17538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40" name="Google Shape;40;p13">
            <a:hlinkClick r:id="rId2" action="ppaction://hlinksldjump"/>
          </p:cNvPr>
          <p:cNvSpPr txBox="1">
            <a:spLocks noGrp="1"/>
          </p:cNvSpPr>
          <p:nvPr>
            <p:ph type="ctrTitle" idx="2"/>
          </p:nvPr>
        </p:nvSpPr>
        <p:spPr>
          <a:xfrm>
            <a:off x="2869492" y="2202425"/>
            <a:ext cx="11700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41" name="Google Shape;41;p13"/>
          <p:cNvSpPr txBox="1">
            <a:spLocks noGrp="1"/>
          </p:cNvSpPr>
          <p:nvPr>
            <p:ph type="subTitle" idx="1"/>
          </p:nvPr>
        </p:nvSpPr>
        <p:spPr>
          <a:xfrm>
            <a:off x="2133184" y="2617473"/>
            <a:ext cx="19065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42" name="Google Shape;42;p13">
            <a:hlinkClick r:id="rId2" action="ppaction://hlinksldjump"/>
          </p:cNvPr>
          <p:cNvSpPr txBox="1">
            <a:spLocks noGrp="1"/>
          </p:cNvSpPr>
          <p:nvPr>
            <p:ph type="title" idx="3" hasCustomPrompt="1"/>
          </p:nvPr>
        </p:nvSpPr>
        <p:spPr>
          <a:xfrm>
            <a:off x="2285884" y="1624335"/>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13">
            <a:hlinkClick r:id="rId3" action="ppaction://hlinksldjump"/>
          </p:cNvPr>
          <p:cNvSpPr txBox="1">
            <a:spLocks noGrp="1"/>
          </p:cNvSpPr>
          <p:nvPr>
            <p:ph type="ctrTitle" idx="4"/>
          </p:nvPr>
        </p:nvSpPr>
        <p:spPr>
          <a:xfrm>
            <a:off x="3965788" y="2199025"/>
            <a:ext cx="22518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44" name="Google Shape;44;p13"/>
          <p:cNvSpPr txBox="1">
            <a:spLocks noGrp="1"/>
          </p:cNvSpPr>
          <p:nvPr>
            <p:ph type="subTitle" idx="5"/>
          </p:nvPr>
        </p:nvSpPr>
        <p:spPr>
          <a:xfrm>
            <a:off x="4240888" y="2612183"/>
            <a:ext cx="19767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Font typeface="Open Sans Light"/>
              <a:buNone/>
              <a:defRPr sz="1000"/>
            </a:lvl1pPr>
            <a:lvl2pPr lvl="1"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2pPr>
            <a:lvl3pPr lvl="2"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3pPr>
            <a:lvl4pPr lvl="3"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4pPr>
            <a:lvl5pPr lvl="4"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5pPr>
            <a:lvl6pPr lvl="5"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6pPr>
            <a:lvl7pPr lvl="6"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7pPr>
            <a:lvl8pPr lvl="7"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8pPr>
            <a:lvl9pPr lvl="8"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9pPr>
          </a:lstStyle>
          <a:p>
            <a:endParaRPr/>
          </a:p>
        </p:txBody>
      </p:sp>
      <p:sp>
        <p:nvSpPr>
          <p:cNvPr id="45" name="Google Shape;45;p13">
            <a:hlinkClick r:id="rId3" action="ppaction://hlinksldjump"/>
          </p:cNvPr>
          <p:cNvSpPr txBox="1">
            <a:spLocks noGrp="1"/>
          </p:cNvSpPr>
          <p:nvPr>
            <p:ph type="title" idx="6" hasCustomPrompt="1"/>
          </p:nvPr>
        </p:nvSpPr>
        <p:spPr>
          <a:xfrm>
            <a:off x="4483545" y="1620937"/>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46" name="Google Shape;46;p13">
            <a:hlinkClick r:id="rId4" action="ppaction://hlinksldjump"/>
          </p:cNvPr>
          <p:cNvSpPr txBox="1">
            <a:spLocks noGrp="1"/>
          </p:cNvSpPr>
          <p:nvPr>
            <p:ph type="ctrTitle" idx="7"/>
          </p:nvPr>
        </p:nvSpPr>
        <p:spPr>
          <a:xfrm>
            <a:off x="6974340" y="2199050"/>
            <a:ext cx="14448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200"/>
              <a:buNone/>
              <a:defRPr sz="1200"/>
            </a:lvl1pPr>
            <a:lvl2pPr lvl="1" algn="r" rtl="0">
              <a:spcBef>
                <a:spcPts val="0"/>
              </a:spcBef>
              <a:spcAft>
                <a:spcPts val="0"/>
              </a:spcAft>
              <a:buSzPts val="1200"/>
              <a:buNone/>
              <a:defRPr sz="1200"/>
            </a:lvl2pPr>
            <a:lvl3pPr lvl="2" algn="r" rtl="0">
              <a:spcBef>
                <a:spcPts val="0"/>
              </a:spcBef>
              <a:spcAft>
                <a:spcPts val="0"/>
              </a:spcAft>
              <a:buSzPts val="1200"/>
              <a:buNone/>
              <a:defRPr sz="1200"/>
            </a:lvl3pPr>
            <a:lvl4pPr lvl="3" algn="r" rtl="0">
              <a:spcBef>
                <a:spcPts val="0"/>
              </a:spcBef>
              <a:spcAft>
                <a:spcPts val="0"/>
              </a:spcAft>
              <a:buSzPts val="1200"/>
              <a:buNone/>
              <a:defRPr sz="1200"/>
            </a:lvl4pPr>
            <a:lvl5pPr lvl="4" algn="r" rtl="0">
              <a:spcBef>
                <a:spcPts val="0"/>
              </a:spcBef>
              <a:spcAft>
                <a:spcPts val="0"/>
              </a:spcAft>
              <a:buSzPts val="1200"/>
              <a:buNone/>
              <a:defRPr sz="1200"/>
            </a:lvl5pPr>
            <a:lvl6pPr lvl="5" algn="r" rtl="0">
              <a:spcBef>
                <a:spcPts val="0"/>
              </a:spcBef>
              <a:spcAft>
                <a:spcPts val="0"/>
              </a:spcAft>
              <a:buSzPts val="1200"/>
              <a:buNone/>
              <a:defRPr sz="1200"/>
            </a:lvl6pPr>
            <a:lvl7pPr lvl="6" algn="r" rtl="0">
              <a:spcBef>
                <a:spcPts val="0"/>
              </a:spcBef>
              <a:spcAft>
                <a:spcPts val="0"/>
              </a:spcAft>
              <a:buSzPts val="1200"/>
              <a:buNone/>
              <a:defRPr sz="1200"/>
            </a:lvl7pPr>
            <a:lvl8pPr lvl="7" algn="r" rtl="0">
              <a:spcBef>
                <a:spcPts val="0"/>
              </a:spcBef>
              <a:spcAft>
                <a:spcPts val="0"/>
              </a:spcAft>
              <a:buSzPts val="1200"/>
              <a:buNone/>
              <a:defRPr sz="1200"/>
            </a:lvl8pPr>
            <a:lvl9pPr lvl="8" algn="r" rtl="0">
              <a:spcBef>
                <a:spcPts val="0"/>
              </a:spcBef>
              <a:spcAft>
                <a:spcPts val="0"/>
              </a:spcAft>
              <a:buSzPts val="1200"/>
              <a:buNone/>
              <a:defRPr sz="1200"/>
            </a:lvl9pPr>
          </a:lstStyle>
          <a:p>
            <a:endParaRPr/>
          </a:p>
        </p:txBody>
      </p:sp>
      <p:sp>
        <p:nvSpPr>
          <p:cNvPr id="47" name="Google Shape;47;p13"/>
          <p:cNvSpPr txBox="1">
            <a:spLocks noGrp="1"/>
          </p:cNvSpPr>
          <p:nvPr>
            <p:ph type="subTitle" idx="8"/>
          </p:nvPr>
        </p:nvSpPr>
        <p:spPr>
          <a:xfrm>
            <a:off x="6512506" y="2612198"/>
            <a:ext cx="19065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Font typeface="Open Sans Light"/>
              <a:buNone/>
              <a:defRPr sz="1000"/>
            </a:lvl1pPr>
            <a:lvl2pPr lvl="1"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2pPr>
            <a:lvl3pPr lvl="2"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3pPr>
            <a:lvl4pPr lvl="3"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4pPr>
            <a:lvl5pPr lvl="4"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5pPr>
            <a:lvl6pPr lvl="5"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6pPr>
            <a:lvl7pPr lvl="6"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7pPr>
            <a:lvl8pPr lvl="7"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8pPr>
            <a:lvl9pPr lvl="8" algn="r"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9pPr>
          </a:lstStyle>
          <a:p>
            <a:endParaRPr/>
          </a:p>
        </p:txBody>
      </p:sp>
      <p:sp>
        <p:nvSpPr>
          <p:cNvPr id="48" name="Google Shape;48;p13">
            <a:hlinkClick r:id="rId4" action="ppaction://hlinksldjump"/>
          </p:cNvPr>
          <p:cNvSpPr txBox="1">
            <a:spLocks noGrp="1"/>
          </p:cNvSpPr>
          <p:nvPr>
            <p:ph type="title" idx="9" hasCustomPrompt="1"/>
          </p:nvPr>
        </p:nvSpPr>
        <p:spPr>
          <a:xfrm>
            <a:off x="6665206" y="1620947"/>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5200"/>
            </a:lvl1pPr>
            <a:lvl2pPr lvl="1"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49" name="Google Shape;49;p13">
            <a:hlinkClick r:id="rId5" action="ppaction://hlinksldjump"/>
          </p:cNvPr>
          <p:cNvSpPr txBox="1">
            <a:spLocks noGrp="1"/>
          </p:cNvSpPr>
          <p:nvPr>
            <p:ph type="ctrTitle" idx="13"/>
          </p:nvPr>
        </p:nvSpPr>
        <p:spPr>
          <a:xfrm>
            <a:off x="725626" y="3784901"/>
            <a:ext cx="11700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0" name="Google Shape;50;p13"/>
          <p:cNvSpPr txBox="1">
            <a:spLocks noGrp="1"/>
          </p:cNvSpPr>
          <p:nvPr>
            <p:ph type="subTitle" idx="14"/>
          </p:nvPr>
        </p:nvSpPr>
        <p:spPr>
          <a:xfrm>
            <a:off x="725625" y="4199959"/>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Open Sans Light"/>
              <a:buNone/>
              <a:defRPr sz="1000"/>
            </a:lvl1pPr>
            <a:lvl2pPr lvl="1"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2pPr>
            <a:lvl3pPr lvl="2"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3pPr>
            <a:lvl4pPr lvl="3"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4pPr>
            <a:lvl5pPr lvl="4"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5pPr>
            <a:lvl6pPr lvl="5"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6pPr>
            <a:lvl7pPr lvl="6"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7pPr>
            <a:lvl8pPr lvl="7"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8pPr>
            <a:lvl9pPr lvl="8"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9pPr>
          </a:lstStyle>
          <a:p>
            <a:endParaRPr/>
          </a:p>
        </p:txBody>
      </p:sp>
      <p:sp>
        <p:nvSpPr>
          <p:cNvPr id="51" name="Google Shape;51;p13">
            <a:hlinkClick r:id="rId5" action="ppaction://hlinksldjump"/>
          </p:cNvPr>
          <p:cNvSpPr txBox="1">
            <a:spLocks noGrp="1"/>
          </p:cNvSpPr>
          <p:nvPr>
            <p:ph type="title" idx="15" hasCustomPrompt="1"/>
          </p:nvPr>
        </p:nvSpPr>
        <p:spPr>
          <a:xfrm>
            <a:off x="725637" y="3219993"/>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2" name="Google Shape;52;p13">
            <a:hlinkClick r:id="rId6" action="ppaction://hlinksldjump"/>
          </p:cNvPr>
          <p:cNvSpPr txBox="1">
            <a:spLocks noGrp="1"/>
          </p:cNvSpPr>
          <p:nvPr>
            <p:ph type="ctrTitle" idx="16"/>
          </p:nvPr>
        </p:nvSpPr>
        <p:spPr>
          <a:xfrm>
            <a:off x="2870600" y="3781501"/>
            <a:ext cx="11286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3" name="Google Shape;53;p13"/>
          <p:cNvSpPr txBox="1">
            <a:spLocks noGrp="1"/>
          </p:cNvSpPr>
          <p:nvPr>
            <p:ph type="subTitle" idx="17"/>
          </p:nvPr>
        </p:nvSpPr>
        <p:spPr>
          <a:xfrm>
            <a:off x="2870596" y="4194668"/>
            <a:ext cx="19767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Open Sans Light"/>
              <a:buNone/>
              <a:defRPr sz="1000"/>
            </a:lvl1pPr>
            <a:lvl2pPr lvl="1"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2pPr>
            <a:lvl3pPr lvl="2"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3pPr>
            <a:lvl4pPr lvl="3"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4pPr>
            <a:lvl5pPr lvl="4"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5pPr>
            <a:lvl6pPr lvl="5"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6pPr>
            <a:lvl7pPr lvl="6"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7pPr>
            <a:lvl8pPr lvl="7"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8pPr>
            <a:lvl9pPr lvl="8"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9pPr>
          </a:lstStyle>
          <a:p>
            <a:endParaRPr/>
          </a:p>
        </p:txBody>
      </p:sp>
      <p:sp>
        <p:nvSpPr>
          <p:cNvPr id="54" name="Google Shape;54;p13">
            <a:hlinkClick r:id="rId6" action="ppaction://hlinksldjump"/>
          </p:cNvPr>
          <p:cNvSpPr txBox="1">
            <a:spLocks noGrp="1"/>
          </p:cNvSpPr>
          <p:nvPr>
            <p:ph type="title" idx="18" hasCustomPrompt="1"/>
          </p:nvPr>
        </p:nvSpPr>
        <p:spPr>
          <a:xfrm>
            <a:off x="2870612" y="3216594"/>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13">
            <a:hlinkClick r:id="" action="ppaction://noaction"/>
          </p:cNvPr>
          <p:cNvSpPr txBox="1">
            <a:spLocks noGrp="1"/>
          </p:cNvSpPr>
          <p:nvPr>
            <p:ph type="ctrTitle" idx="19"/>
          </p:nvPr>
        </p:nvSpPr>
        <p:spPr>
          <a:xfrm>
            <a:off x="5015575" y="3781526"/>
            <a:ext cx="9165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a:endParaRPr/>
          </a:p>
        </p:txBody>
      </p:sp>
      <p:sp>
        <p:nvSpPr>
          <p:cNvPr id="56" name="Google Shape;56;p13"/>
          <p:cNvSpPr txBox="1">
            <a:spLocks noGrp="1"/>
          </p:cNvSpPr>
          <p:nvPr>
            <p:ph type="subTitle" idx="20"/>
          </p:nvPr>
        </p:nvSpPr>
        <p:spPr>
          <a:xfrm>
            <a:off x="5015575" y="4194684"/>
            <a:ext cx="19065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Open Sans Light"/>
              <a:buNone/>
              <a:defRPr sz="1000"/>
            </a:lvl1pPr>
            <a:lvl2pPr lvl="1"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2pPr>
            <a:lvl3pPr lvl="2"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3pPr>
            <a:lvl4pPr lvl="3"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4pPr>
            <a:lvl5pPr lvl="4"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5pPr>
            <a:lvl6pPr lvl="5"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6pPr>
            <a:lvl7pPr lvl="6"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7pPr>
            <a:lvl8pPr lvl="7"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8pPr>
            <a:lvl9pPr lvl="8" rtl="0">
              <a:lnSpc>
                <a:spcPct val="100000"/>
              </a:lnSpc>
              <a:spcBef>
                <a:spcPts val="0"/>
              </a:spcBef>
              <a:spcAft>
                <a:spcPts val="0"/>
              </a:spcAft>
              <a:buSzPts val="1000"/>
              <a:buFont typeface="Open Sans Light"/>
              <a:buNone/>
              <a:defRPr sz="1000">
                <a:latin typeface="Open Sans Light"/>
                <a:ea typeface="Open Sans Light"/>
                <a:cs typeface="Open Sans Light"/>
                <a:sym typeface="Open Sans Light"/>
              </a:defRPr>
            </a:lvl9pPr>
          </a:lstStyle>
          <a:p>
            <a:endParaRPr/>
          </a:p>
        </p:txBody>
      </p:sp>
      <p:sp>
        <p:nvSpPr>
          <p:cNvPr id="57" name="Google Shape;57;p13">
            <a:hlinkClick r:id="" action="ppaction://noaction"/>
          </p:cNvPr>
          <p:cNvSpPr txBox="1">
            <a:spLocks noGrp="1"/>
          </p:cNvSpPr>
          <p:nvPr>
            <p:ph type="title" idx="21" hasCustomPrompt="1"/>
          </p:nvPr>
        </p:nvSpPr>
        <p:spPr>
          <a:xfrm>
            <a:off x="5015587" y="3216604"/>
            <a:ext cx="17538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pic>
        <p:nvPicPr>
          <p:cNvPr id="3" name="Picture 6" descr="Dollar Tree - Discover Brookfield">
            <a:extLst>
              <a:ext uri="{FF2B5EF4-FFF2-40B4-BE49-F238E27FC236}">
                <a16:creationId xmlns:a16="http://schemas.microsoft.com/office/drawing/2014/main" id="{1007467A-BD9F-A365-B70C-32365E7D2EEF}"/>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29079" r="28261" b="28261"/>
          <a:stretch/>
        </p:blipFill>
        <p:spPr bwMode="auto">
          <a:xfrm>
            <a:off x="19128" y="4238588"/>
            <a:ext cx="854452" cy="808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41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11"/>
        <p:cNvGrpSpPr/>
        <p:nvPr/>
      </p:nvGrpSpPr>
      <p:grpSpPr>
        <a:xfrm>
          <a:off x="0" y="0"/>
          <a:ext cx="0" cy="0"/>
          <a:chOff x="0" y="0"/>
          <a:chExt cx="0" cy="0"/>
        </a:xfrm>
      </p:grpSpPr>
      <p:sp>
        <p:nvSpPr>
          <p:cNvPr id="112" name="Google Shape;112;p28"/>
          <p:cNvSpPr txBox="1">
            <a:spLocks noGrp="1"/>
          </p:cNvSpPr>
          <p:nvPr>
            <p:ph type="ctrTitle"/>
          </p:nvPr>
        </p:nvSpPr>
        <p:spPr>
          <a:xfrm>
            <a:off x="723600" y="470625"/>
            <a:ext cx="18783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13" name="Google Shape;113;p28"/>
          <p:cNvSpPr txBox="1">
            <a:spLocks noGrp="1"/>
          </p:cNvSpPr>
          <p:nvPr>
            <p:ph type="ctrTitle" idx="2"/>
          </p:nvPr>
        </p:nvSpPr>
        <p:spPr>
          <a:xfrm>
            <a:off x="126315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4" name="Google Shape;114;p28"/>
          <p:cNvSpPr txBox="1">
            <a:spLocks noGrp="1"/>
          </p:cNvSpPr>
          <p:nvPr>
            <p:ph type="subTitle" idx="1"/>
          </p:nvPr>
        </p:nvSpPr>
        <p:spPr>
          <a:xfrm>
            <a:off x="131010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28"/>
          <p:cNvSpPr txBox="1">
            <a:spLocks noGrp="1"/>
          </p:cNvSpPr>
          <p:nvPr>
            <p:ph type="ctrTitle" idx="3"/>
          </p:nvPr>
        </p:nvSpPr>
        <p:spPr>
          <a:xfrm>
            <a:off x="390270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6" name="Google Shape;116;p28"/>
          <p:cNvSpPr txBox="1">
            <a:spLocks noGrp="1"/>
          </p:cNvSpPr>
          <p:nvPr>
            <p:ph type="subTitle" idx="4"/>
          </p:nvPr>
        </p:nvSpPr>
        <p:spPr>
          <a:xfrm>
            <a:off x="394965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28"/>
          <p:cNvSpPr txBox="1">
            <a:spLocks noGrp="1"/>
          </p:cNvSpPr>
          <p:nvPr>
            <p:ph type="ctrTitle" idx="5"/>
          </p:nvPr>
        </p:nvSpPr>
        <p:spPr>
          <a:xfrm>
            <a:off x="6589500" y="1910650"/>
            <a:ext cx="13386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endParaRPr/>
          </a:p>
        </p:txBody>
      </p:sp>
      <p:sp>
        <p:nvSpPr>
          <p:cNvPr id="118" name="Google Shape;118;p28"/>
          <p:cNvSpPr txBox="1">
            <a:spLocks noGrp="1"/>
          </p:cNvSpPr>
          <p:nvPr>
            <p:ph type="subTitle" idx="6"/>
          </p:nvPr>
        </p:nvSpPr>
        <p:spPr>
          <a:xfrm>
            <a:off x="6636450" y="2426522"/>
            <a:ext cx="1244400" cy="77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28"/>
          <p:cNvSpPr txBox="1">
            <a:spLocks noGrp="1"/>
          </p:cNvSpPr>
          <p:nvPr>
            <p:ph type="title" idx="7" hasCustomPrompt="1"/>
          </p:nvPr>
        </p:nvSpPr>
        <p:spPr>
          <a:xfrm>
            <a:off x="1422605"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20" name="Google Shape;120;p28"/>
          <p:cNvSpPr txBox="1">
            <a:spLocks noGrp="1"/>
          </p:cNvSpPr>
          <p:nvPr>
            <p:ph type="title" idx="8" hasCustomPrompt="1"/>
          </p:nvPr>
        </p:nvSpPr>
        <p:spPr>
          <a:xfrm>
            <a:off x="4038680"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21" name="Google Shape;121;p28"/>
          <p:cNvSpPr txBox="1">
            <a:spLocks noGrp="1"/>
          </p:cNvSpPr>
          <p:nvPr>
            <p:ph type="title" idx="9" hasCustomPrompt="1"/>
          </p:nvPr>
        </p:nvSpPr>
        <p:spPr>
          <a:xfrm>
            <a:off x="6749255" y="3223975"/>
            <a:ext cx="10194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220029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dk1"/>
        </a:solidFill>
        <a:effectLst/>
      </p:bgPr>
    </p:bg>
    <p:spTree>
      <p:nvGrpSpPr>
        <p:cNvPr id="1" name="Shape 127"/>
        <p:cNvGrpSpPr/>
        <p:nvPr/>
      </p:nvGrpSpPr>
      <p:grpSpPr>
        <a:xfrm>
          <a:off x="0" y="0"/>
          <a:ext cx="0" cy="0"/>
          <a:chOff x="0" y="0"/>
          <a:chExt cx="0" cy="0"/>
        </a:xfrm>
      </p:grpSpPr>
      <p:sp>
        <p:nvSpPr>
          <p:cNvPr id="128" name="Google Shape;128;p30"/>
          <p:cNvSpPr txBox="1">
            <a:spLocks noGrp="1"/>
          </p:cNvSpPr>
          <p:nvPr>
            <p:ph type="ctrTitle"/>
          </p:nvPr>
        </p:nvSpPr>
        <p:spPr>
          <a:xfrm>
            <a:off x="723600" y="470625"/>
            <a:ext cx="19458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solidFill>
                  <a:schemeClr val="dk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29" name="Google Shape;129;p30"/>
          <p:cNvSpPr txBox="1">
            <a:spLocks noGrp="1"/>
          </p:cNvSpPr>
          <p:nvPr>
            <p:ph type="subTitle" idx="1"/>
          </p:nvPr>
        </p:nvSpPr>
        <p:spPr>
          <a:xfrm>
            <a:off x="4240075" y="1504450"/>
            <a:ext cx="2888400" cy="7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latin typeface="Open Sans Light"/>
                <a:ea typeface="Open Sans Light"/>
                <a:cs typeface="Open Sans Light"/>
                <a:sym typeface="Open Sans Light"/>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30" name="Google Shape;130;p30"/>
          <p:cNvSpPr txBox="1">
            <a:spLocks noGrp="1"/>
          </p:cNvSpPr>
          <p:nvPr>
            <p:ph type="subTitle" idx="2"/>
          </p:nvPr>
        </p:nvSpPr>
        <p:spPr>
          <a:xfrm>
            <a:off x="4240075" y="2675938"/>
            <a:ext cx="2888400" cy="7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latin typeface="Open Sans Light"/>
                <a:ea typeface="Open Sans Light"/>
                <a:cs typeface="Open Sans Light"/>
                <a:sym typeface="Open Sans Light"/>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31" name="Google Shape;131;p30"/>
          <p:cNvSpPr txBox="1">
            <a:spLocks noGrp="1"/>
          </p:cNvSpPr>
          <p:nvPr>
            <p:ph type="ctrTitle" idx="3"/>
          </p:nvPr>
        </p:nvSpPr>
        <p:spPr>
          <a:xfrm>
            <a:off x="4240075" y="1198100"/>
            <a:ext cx="26193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600"/>
              <a:buNone/>
              <a:defRPr sz="16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32" name="Google Shape;132;p30"/>
          <p:cNvSpPr txBox="1">
            <a:spLocks noGrp="1"/>
          </p:cNvSpPr>
          <p:nvPr>
            <p:ph type="ctrTitle" idx="4"/>
          </p:nvPr>
        </p:nvSpPr>
        <p:spPr>
          <a:xfrm>
            <a:off x="4240075" y="2362488"/>
            <a:ext cx="26193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600"/>
              <a:buNone/>
              <a:defRPr sz="16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
        <p:nvSpPr>
          <p:cNvPr id="133" name="Google Shape;133;p30"/>
          <p:cNvSpPr txBox="1">
            <a:spLocks noGrp="1"/>
          </p:cNvSpPr>
          <p:nvPr>
            <p:ph type="subTitle" idx="5"/>
          </p:nvPr>
        </p:nvSpPr>
        <p:spPr>
          <a:xfrm>
            <a:off x="4240075" y="3844975"/>
            <a:ext cx="2888400" cy="7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000">
                <a:latin typeface="Open Sans Light"/>
                <a:ea typeface="Open Sans Light"/>
                <a:cs typeface="Open Sans Light"/>
                <a:sym typeface="Open Sans Light"/>
              </a:defRPr>
            </a:lvl1pPr>
            <a:lvl2pPr lvl="1" algn="ctr" rtl="0">
              <a:lnSpc>
                <a:spcPct val="100000"/>
              </a:lnSpc>
              <a:spcBef>
                <a:spcPts val="0"/>
              </a:spcBef>
              <a:spcAft>
                <a:spcPts val="0"/>
              </a:spcAft>
              <a:buClr>
                <a:srgbClr val="000000"/>
              </a:buClr>
              <a:buSzPts val="1000"/>
              <a:buNone/>
              <a:defRPr sz="1000">
                <a:solidFill>
                  <a:srgbClr val="000000"/>
                </a:solidFill>
              </a:defRPr>
            </a:lvl2pPr>
            <a:lvl3pPr lvl="2" algn="ctr" rtl="0">
              <a:lnSpc>
                <a:spcPct val="100000"/>
              </a:lnSpc>
              <a:spcBef>
                <a:spcPts val="0"/>
              </a:spcBef>
              <a:spcAft>
                <a:spcPts val="0"/>
              </a:spcAft>
              <a:buClr>
                <a:srgbClr val="000000"/>
              </a:buClr>
              <a:buSzPts val="1000"/>
              <a:buNone/>
              <a:defRPr sz="1000">
                <a:solidFill>
                  <a:srgbClr val="000000"/>
                </a:solidFill>
              </a:defRPr>
            </a:lvl3pPr>
            <a:lvl4pPr lvl="3" algn="ctr" rtl="0">
              <a:lnSpc>
                <a:spcPct val="100000"/>
              </a:lnSpc>
              <a:spcBef>
                <a:spcPts val="0"/>
              </a:spcBef>
              <a:spcAft>
                <a:spcPts val="0"/>
              </a:spcAft>
              <a:buClr>
                <a:srgbClr val="000000"/>
              </a:buClr>
              <a:buSzPts val="1000"/>
              <a:buNone/>
              <a:defRPr sz="1000">
                <a:solidFill>
                  <a:srgbClr val="000000"/>
                </a:solidFill>
              </a:defRPr>
            </a:lvl4pPr>
            <a:lvl5pPr lvl="4" algn="ctr" rtl="0">
              <a:lnSpc>
                <a:spcPct val="100000"/>
              </a:lnSpc>
              <a:spcBef>
                <a:spcPts val="0"/>
              </a:spcBef>
              <a:spcAft>
                <a:spcPts val="0"/>
              </a:spcAft>
              <a:buClr>
                <a:srgbClr val="000000"/>
              </a:buClr>
              <a:buSzPts val="1000"/>
              <a:buNone/>
              <a:defRPr sz="1000">
                <a:solidFill>
                  <a:srgbClr val="000000"/>
                </a:solidFill>
              </a:defRPr>
            </a:lvl5pPr>
            <a:lvl6pPr lvl="5" algn="ctr" rtl="0">
              <a:lnSpc>
                <a:spcPct val="100000"/>
              </a:lnSpc>
              <a:spcBef>
                <a:spcPts val="0"/>
              </a:spcBef>
              <a:spcAft>
                <a:spcPts val="0"/>
              </a:spcAft>
              <a:buClr>
                <a:srgbClr val="000000"/>
              </a:buClr>
              <a:buSzPts val="1000"/>
              <a:buNone/>
              <a:defRPr sz="1000">
                <a:solidFill>
                  <a:srgbClr val="000000"/>
                </a:solidFill>
              </a:defRPr>
            </a:lvl6pPr>
            <a:lvl7pPr lvl="6" algn="ctr" rtl="0">
              <a:lnSpc>
                <a:spcPct val="100000"/>
              </a:lnSpc>
              <a:spcBef>
                <a:spcPts val="0"/>
              </a:spcBef>
              <a:spcAft>
                <a:spcPts val="0"/>
              </a:spcAft>
              <a:buClr>
                <a:srgbClr val="000000"/>
              </a:buClr>
              <a:buSzPts val="1000"/>
              <a:buNone/>
              <a:defRPr sz="1000">
                <a:solidFill>
                  <a:srgbClr val="000000"/>
                </a:solidFill>
              </a:defRPr>
            </a:lvl7pPr>
            <a:lvl8pPr lvl="7" algn="ctr" rtl="0">
              <a:lnSpc>
                <a:spcPct val="100000"/>
              </a:lnSpc>
              <a:spcBef>
                <a:spcPts val="0"/>
              </a:spcBef>
              <a:spcAft>
                <a:spcPts val="0"/>
              </a:spcAft>
              <a:buClr>
                <a:srgbClr val="000000"/>
              </a:buClr>
              <a:buSzPts val="1000"/>
              <a:buNone/>
              <a:defRPr sz="1000">
                <a:solidFill>
                  <a:srgbClr val="000000"/>
                </a:solidFill>
              </a:defRPr>
            </a:lvl8pPr>
            <a:lvl9pPr lvl="8" algn="ctr" rtl="0">
              <a:lnSpc>
                <a:spcPct val="100000"/>
              </a:lnSpc>
              <a:spcBef>
                <a:spcPts val="0"/>
              </a:spcBef>
              <a:spcAft>
                <a:spcPts val="0"/>
              </a:spcAft>
              <a:buClr>
                <a:srgbClr val="000000"/>
              </a:buClr>
              <a:buSzPts val="1000"/>
              <a:buNone/>
              <a:defRPr sz="1000">
                <a:solidFill>
                  <a:srgbClr val="000000"/>
                </a:solidFill>
              </a:defRPr>
            </a:lvl9pPr>
          </a:lstStyle>
          <a:p>
            <a:endParaRPr/>
          </a:p>
        </p:txBody>
      </p:sp>
      <p:sp>
        <p:nvSpPr>
          <p:cNvPr id="134" name="Google Shape;134;p30"/>
          <p:cNvSpPr txBox="1">
            <a:spLocks noGrp="1"/>
          </p:cNvSpPr>
          <p:nvPr>
            <p:ph type="ctrTitle" idx="6"/>
          </p:nvPr>
        </p:nvSpPr>
        <p:spPr>
          <a:xfrm>
            <a:off x="4240075" y="3537472"/>
            <a:ext cx="2619300" cy="3849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rgbClr val="000000"/>
              </a:buClr>
              <a:buSzPts val="1600"/>
              <a:buNone/>
              <a:defRPr sz="1600"/>
            </a:lvl1pPr>
            <a:lvl2pPr lvl="1" algn="ctr" rtl="0">
              <a:spcBef>
                <a:spcPts val="0"/>
              </a:spcBef>
              <a:spcAft>
                <a:spcPts val="0"/>
              </a:spcAft>
              <a:buClr>
                <a:srgbClr val="000000"/>
              </a:buClr>
              <a:buSzPts val="1600"/>
              <a:buNone/>
              <a:defRPr sz="1600">
                <a:solidFill>
                  <a:srgbClr val="000000"/>
                </a:solidFill>
              </a:defRPr>
            </a:lvl2pPr>
            <a:lvl3pPr lvl="2" algn="ctr" rtl="0">
              <a:spcBef>
                <a:spcPts val="0"/>
              </a:spcBef>
              <a:spcAft>
                <a:spcPts val="0"/>
              </a:spcAft>
              <a:buClr>
                <a:srgbClr val="000000"/>
              </a:buClr>
              <a:buSzPts val="1600"/>
              <a:buNone/>
              <a:defRPr sz="1600">
                <a:solidFill>
                  <a:srgbClr val="000000"/>
                </a:solidFill>
              </a:defRPr>
            </a:lvl3pPr>
            <a:lvl4pPr lvl="3" algn="ctr" rtl="0">
              <a:spcBef>
                <a:spcPts val="0"/>
              </a:spcBef>
              <a:spcAft>
                <a:spcPts val="0"/>
              </a:spcAft>
              <a:buClr>
                <a:srgbClr val="000000"/>
              </a:buClr>
              <a:buSzPts val="1600"/>
              <a:buNone/>
              <a:defRPr sz="1600">
                <a:solidFill>
                  <a:srgbClr val="000000"/>
                </a:solidFill>
              </a:defRPr>
            </a:lvl4pPr>
            <a:lvl5pPr lvl="4" algn="ctr" rtl="0">
              <a:spcBef>
                <a:spcPts val="0"/>
              </a:spcBef>
              <a:spcAft>
                <a:spcPts val="0"/>
              </a:spcAft>
              <a:buClr>
                <a:srgbClr val="000000"/>
              </a:buClr>
              <a:buSzPts val="1600"/>
              <a:buNone/>
              <a:defRPr sz="1600">
                <a:solidFill>
                  <a:srgbClr val="000000"/>
                </a:solidFill>
              </a:defRPr>
            </a:lvl5pPr>
            <a:lvl6pPr lvl="5" algn="ctr" rtl="0">
              <a:spcBef>
                <a:spcPts val="0"/>
              </a:spcBef>
              <a:spcAft>
                <a:spcPts val="0"/>
              </a:spcAft>
              <a:buClr>
                <a:srgbClr val="000000"/>
              </a:buClr>
              <a:buSzPts val="1600"/>
              <a:buNone/>
              <a:defRPr sz="1600">
                <a:solidFill>
                  <a:srgbClr val="000000"/>
                </a:solidFill>
              </a:defRPr>
            </a:lvl6pPr>
            <a:lvl7pPr lvl="6" algn="ctr" rtl="0">
              <a:spcBef>
                <a:spcPts val="0"/>
              </a:spcBef>
              <a:spcAft>
                <a:spcPts val="0"/>
              </a:spcAft>
              <a:buClr>
                <a:srgbClr val="000000"/>
              </a:buClr>
              <a:buSzPts val="1600"/>
              <a:buNone/>
              <a:defRPr sz="1600">
                <a:solidFill>
                  <a:srgbClr val="000000"/>
                </a:solidFill>
              </a:defRPr>
            </a:lvl7pPr>
            <a:lvl8pPr lvl="7" algn="ctr" rtl="0">
              <a:spcBef>
                <a:spcPts val="0"/>
              </a:spcBef>
              <a:spcAft>
                <a:spcPts val="0"/>
              </a:spcAft>
              <a:buClr>
                <a:srgbClr val="000000"/>
              </a:buClr>
              <a:buSzPts val="1600"/>
              <a:buNone/>
              <a:defRPr sz="1600">
                <a:solidFill>
                  <a:srgbClr val="000000"/>
                </a:solidFill>
              </a:defRPr>
            </a:lvl8pPr>
            <a:lvl9pPr lvl="8" algn="ctr" rtl="0">
              <a:spcBef>
                <a:spcPts val="0"/>
              </a:spcBef>
              <a:spcAft>
                <a:spcPts val="0"/>
              </a:spcAft>
              <a:buClr>
                <a:srgbClr val="000000"/>
              </a:buClr>
              <a:buSzPts val="1600"/>
              <a:buNone/>
              <a:defRPr sz="1600">
                <a:solidFill>
                  <a:srgbClr val="000000"/>
                </a:solidFill>
              </a:defRPr>
            </a:lvl9pPr>
          </a:lstStyle>
          <a:p>
            <a:endParaRPr/>
          </a:p>
        </p:txBody>
      </p:sp>
    </p:spTree>
    <p:extLst>
      <p:ext uri="{BB962C8B-B14F-4D97-AF65-F5344CB8AC3E}">
        <p14:creationId xmlns:p14="http://schemas.microsoft.com/office/powerpoint/2010/main" val="2413068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dk1"/>
        </a:solidFill>
        <a:effectLst/>
      </p:bgPr>
    </p:bg>
    <p:spTree>
      <p:nvGrpSpPr>
        <p:cNvPr id="1" name="Shape 228"/>
        <p:cNvGrpSpPr/>
        <p:nvPr/>
      </p:nvGrpSpPr>
      <p:grpSpPr>
        <a:xfrm>
          <a:off x="0" y="0"/>
          <a:ext cx="0" cy="0"/>
          <a:chOff x="0" y="0"/>
          <a:chExt cx="0" cy="0"/>
        </a:xfrm>
      </p:grpSpPr>
      <p:sp>
        <p:nvSpPr>
          <p:cNvPr id="229" name="Google Shape;229;p40"/>
          <p:cNvSpPr txBox="1">
            <a:spLocks noGrp="1"/>
          </p:cNvSpPr>
          <p:nvPr>
            <p:ph type="ctrTitle"/>
          </p:nvPr>
        </p:nvSpPr>
        <p:spPr>
          <a:xfrm>
            <a:off x="723600" y="470625"/>
            <a:ext cx="17046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extLst>
      <p:ext uri="{BB962C8B-B14F-4D97-AF65-F5344CB8AC3E}">
        <p14:creationId xmlns:p14="http://schemas.microsoft.com/office/powerpoint/2010/main" val="501526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39"/>
        <p:cNvGrpSpPr/>
        <p:nvPr/>
      </p:nvGrpSpPr>
      <p:grpSpPr>
        <a:xfrm>
          <a:off x="0" y="0"/>
          <a:ext cx="0" cy="0"/>
          <a:chOff x="0" y="0"/>
          <a:chExt cx="0" cy="0"/>
        </a:xfrm>
      </p:grpSpPr>
      <p:sp>
        <p:nvSpPr>
          <p:cNvPr id="240" name="Google Shape;240;p44"/>
          <p:cNvSpPr/>
          <p:nvPr/>
        </p:nvSpPr>
        <p:spPr>
          <a:xfrm flipH="1">
            <a:off x="5204100" y="539500"/>
            <a:ext cx="3939900" cy="53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 name="Google Shape;241;p44"/>
          <p:cNvSpPr/>
          <p:nvPr/>
        </p:nvSpPr>
        <p:spPr>
          <a:xfrm rot="5400000" flipH="1">
            <a:off x="105125" y="4670975"/>
            <a:ext cx="679500" cy="53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extLst>
      <p:ext uri="{BB962C8B-B14F-4D97-AF65-F5344CB8AC3E}">
        <p14:creationId xmlns:p14="http://schemas.microsoft.com/office/powerpoint/2010/main" val="2634388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42"/>
        <p:cNvGrpSpPr/>
        <p:nvPr/>
      </p:nvGrpSpPr>
      <p:grpSpPr>
        <a:xfrm>
          <a:off x="0" y="0"/>
          <a:ext cx="0" cy="0"/>
          <a:chOff x="0" y="0"/>
          <a:chExt cx="0" cy="0"/>
        </a:xfrm>
      </p:grpSpPr>
      <p:sp>
        <p:nvSpPr>
          <p:cNvPr id="243" name="Google Shape;243;p45"/>
          <p:cNvSpPr/>
          <p:nvPr/>
        </p:nvSpPr>
        <p:spPr>
          <a:xfrm>
            <a:off x="5344850" y="0"/>
            <a:ext cx="3798900" cy="2233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5"/>
          <p:cNvSpPr/>
          <p:nvPr/>
        </p:nvSpPr>
        <p:spPr>
          <a:xfrm>
            <a:off x="-2066275" y="4599425"/>
            <a:ext cx="2779500" cy="1633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2610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800"/>
              <a:buFont typeface="DM Serif Display"/>
              <a:buNone/>
              <a:defRPr sz="2800">
                <a:solidFill>
                  <a:schemeClr val="lt1"/>
                </a:solidFill>
                <a:latin typeface="DM Serif Display"/>
                <a:ea typeface="DM Serif Display"/>
                <a:cs typeface="DM Serif Display"/>
                <a:sym typeface="DM Serif Display"/>
              </a:defRPr>
            </a:lvl1pPr>
            <a:lvl2pPr lvl="1">
              <a:spcBef>
                <a:spcPts val="0"/>
              </a:spcBef>
              <a:spcAft>
                <a:spcPts val="0"/>
              </a:spcAft>
              <a:buClr>
                <a:schemeClr val="lt1"/>
              </a:buClr>
              <a:buSzPts val="2800"/>
              <a:buNone/>
              <a:defRPr sz="2800">
                <a:solidFill>
                  <a:schemeClr val="lt1"/>
                </a:solidFill>
              </a:defRPr>
            </a:lvl2pPr>
            <a:lvl3pPr lvl="2">
              <a:spcBef>
                <a:spcPts val="0"/>
              </a:spcBef>
              <a:spcAft>
                <a:spcPts val="0"/>
              </a:spcAft>
              <a:buClr>
                <a:schemeClr val="lt1"/>
              </a:buClr>
              <a:buSzPts val="2800"/>
              <a:buNone/>
              <a:defRPr sz="2800">
                <a:solidFill>
                  <a:schemeClr val="lt1"/>
                </a:solidFill>
              </a:defRPr>
            </a:lvl3pPr>
            <a:lvl4pPr lvl="3">
              <a:spcBef>
                <a:spcPts val="0"/>
              </a:spcBef>
              <a:spcAft>
                <a:spcPts val="0"/>
              </a:spcAft>
              <a:buClr>
                <a:schemeClr val="lt1"/>
              </a:buClr>
              <a:buSzPts val="2800"/>
              <a:buNone/>
              <a:defRPr sz="2800">
                <a:solidFill>
                  <a:schemeClr val="lt1"/>
                </a:solidFill>
              </a:defRPr>
            </a:lvl4pPr>
            <a:lvl5pPr lvl="4">
              <a:spcBef>
                <a:spcPts val="0"/>
              </a:spcBef>
              <a:spcAft>
                <a:spcPts val="0"/>
              </a:spcAft>
              <a:buClr>
                <a:schemeClr val="lt1"/>
              </a:buClr>
              <a:buSzPts val="2800"/>
              <a:buNone/>
              <a:defRPr sz="2800">
                <a:solidFill>
                  <a:schemeClr val="lt1"/>
                </a:solidFill>
              </a:defRPr>
            </a:lvl5pPr>
            <a:lvl6pPr lvl="5">
              <a:spcBef>
                <a:spcPts val="0"/>
              </a:spcBef>
              <a:spcAft>
                <a:spcPts val="0"/>
              </a:spcAft>
              <a:buClr>
                <a:schemeClr val="lt1"/>
              </a:buClr>
              <a:buSzPts val="2800"/>
              <a:buNone/>
              <a:defRPr sz="2800">
                <a:solidFill>
                  <a:schemeClr val="lt1"/>
                </a:solidFill>
              </a:defRPr>
            </a:lvl6pPr>
            <a:lvl7pPr lvl="6">
              <a:spcBef>
                <a:spcPts val="0"/>
              </a:spcBef>
              <a:spcAft>
                <a:spcPts val="0"/>
              </a:spcAft>
              <a:buClr>
                <a:schemeClr val="lt1"/>
              </a:buClr>
              <a:buSzPts val="2800"/>
              <a:buNone/>
              <a:defRPr sz="2800">
                <a:solidFill>
                  <a:schemeClr val="lt1"/>
                </a:solidFill>
              </a:defRPr>
            </a:lvl7pPr>
            <a:lvl8pPr lvl="7">
              <a:spcBef>
                <a:spcPts val="0"/>
              </a:spcBef>
              <a:spcAft>
                <a:spcPts val="0"/>
              </a:spcAft>
              <a:buClr>
                <a:schemeClr val="lt1"/>
              </a:buClr>
              <a:buSzPts val="2800"/>
              <a:buNone/>
              <a:defRPr sz="2800">
                <a:solidFill>
                  <a:schemeClr val="lt1"/>
                </a:solidFill>
              </a:defRPr>
            </a:lvl8pPr>
            <a:lvl9pPr lvl="8">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713225" y="1152475"/>
            <a:ext cx="7717500" cy="3447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Open Sans Light"/>
              <a:buChar char="●"/>
              <a:defRPr sz="1800">
                <a:solidFill>
                  <a:schemeClr val="lt1"/>
                </a:solidFill>
                <a:latin typeface="Open Sans Light"/>
                <a:ea typeface="Open Sans Light"/>
                <a:cs typeface="Open Sans Light"/>
                <a:sym typeface="Open Sans Light"/>
              </a:defRPr>
            </a:lvl1pPr>
            <a:lvl2pPr marL="914400" lvl="1"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2pPr>
            <a:lvl3pPr marL="1371600" lvl="2"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3pPr>
            <a:lvl4pPr marL="1828800" lvl="3" indent="-304800">
              <a:lnSpc>
                <a:spcPct val="115000"/>
              </a:lnSpc>
              <a:spcBef>
                <a:spcPts val="0"/>
              </a:spcBef>
              <a:spcAft>
                <a:spcPts val="0"/>
              </a:spcAft>
              <a:buClr>
                <a:schemeClr val="lt1"/>
              </a:buClr>
              <a:buSzPts val="1200"/>
              <a:buFont typeface="Open Sans Light"/>
              <a:buChar char="●"/>
              <a:defRPr sz="1200">
                <a:solidFill>
                  <a:schemeClr val="lt1"/>
                </a:solidFill>
                <a:latin typeface="Open Sans Light"/>
                <a:ea typeface="Open Sans Light"/>
                <a:cs typeface="Open Sans Light"/>
                <a:sym typeface="Open Sans Light"/>
              </a:defRPr>
            </a:lvl4pPr>
            <a:lvl5pPr marL="2286000" lvl="4"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5pPr>
            <a:lvl6pPr marL="2743200" lvl="5"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6pPr>
            <a:lvl7pPr marL="3200400" lvl="6"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7pPr>
            <a:lvl8pPr marL="3657600" lvl="7"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8pPr>
            <a:lvl9pPr marL="4114800" lvl="8" indent="-317500">
              <a:lnSpc>
                <a:spcPct val="115000"/>
              </a:lnSpc>
              <a:spcBef>
                <a:spcPts val="0"/>
              </a:spcBef>
              <a:spcAft>
                <a:spcPts val="0"/>
              </a:spcAft>
              <a:buClr>
                <a:schemeClr val="lt1"/>
              </a:buClr>
              <a:buSzPts val="1400"/>
              <a:buFont typeface="Open Sans Light"/>
              <a:buChar char="■"/>
              <a:defRPr>
                <a:solidFill>
                  <a:schemeClr val="lt1"/>
                </a:solidFill>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685507446"/>
      </p:ext>
    </p:extLst>
  </p:cSld>
  <p:clrMap bg1="lt1" tx1="dk1" bg2="dk2" tx2="lt2" accent1="accent1" accent2="accent2" accent3="accent3" accent4="accent4" accent5="accent5" accent6="accent6" hlink="hlink" folHlink="folHlink"/>
  <p:sldLayoutIdLst>
    <p:sldLayoutId id="2147483697" r:id="rId1"/>
    <p:sldLayoutId id="2147483701" r:id="rId2"/>
    <p:sldLayoutId id="2147483708" r:id="rId3"/>
    <p:sldLayoutId id="2147483723" r:id="rId4"/>
    <p:sldLayoutId id="2147483725" r:id="rId5"/>
    <p:sldLayoutId id="2147483735" r:id="rId6"/>
    <p:sldLayoutId id="2147483739" r:id="rId7"/>
    <p:sldLayoutId id="2147483740"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2897">
          <p15:clr>
            <a:srgbClr val="EA4335"/>
          </p15:clr>
        </p15:guide>
        <p15:guide id="4" orient="horz" pos="34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6.xml"/><Relationship Id="rId7" Type="http://schemas.openxmlformats.org/officeDocument/2006/relationships/slide" Target="slide30.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7.xml"/><Relationship Id="rId5" Type="http://schemas.openxmlformats.org/officeDocument/2006/relationships/slide" Target="slide20.xml"/><Relationship Id="rId4" Type="http://schemas.openxmlformats.org/officeDocument/2006/relationships/slide" Target="slide14.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hart" Target="../charts/char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6.xml"/><Relationship Id="rId7" Type="http://schemas.openxmlformats.org/officeDocument/2006/relationships/slide" Target="slide30.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slide" Target="slide27.xml"/><Relationship Id="rId5" Type="http://schemas.openxmlformats.org/officeDocument/2006/relationships/slide" Target="slide20.xml"/><Relationship Id="rId4" Type="http://schemas.openxmlformats.org/officeDocument/2006/relationships/slide" Target="slide14.xml"/><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png"/><Relationship Id="rId5" Type="http://schemas.microsoft.com/office/2007/relationships/hdphoto" Target="../media/hdphoto1.wdp"/><Relationship Id="rId10" Type="http://schemas.openxmlformats.org/officeDocument/2006/relationships/image" Target="../media/image1.png"/><Relationship Id="rId4" Type="http://schemas.openxmlformats.org/officeDocument/2006/relationships/image" Target="../media/image19.png"/><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6.xml"/><Relationship Id="rId7" Type="http://schemas.openxmlformats.org/officeDocument/2006/relationships/slide" Target="slide30.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slide" Target="slide27.xml"/><Relationship Id="rId5" Type="http://schemas.openxmlformats.org/officeDocument/2006/relationships/slide" Target="slide20.xml"/><Relationship Id="rId4" Type="http://schemas.openxmlformats.org/officeDocument/2006/relationships/slide" Target="slide14.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6.xml"/><Relationship Id="rId7" Type="http://schemas.openxmlformats.org/officeDocument/2006/relationships/slide" Target="slide30.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27.xml"/><Relationship Id="rId5" Type="http://schemas.openxmlformats.org/officeDocument/2006/relationships/slide" Target="slide20.xml"/><Relationship Id="rId4" Type="http://schemas.openxmlformats.org/officeDocument/2006/relationships/slide" Target="slide14.xml"/><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 Target="slide6.xml"/><Relationship Id="rId7" Type="http://schemas.openxmlformats.org/officeDocument/2006/relationships/slide" Target="slide30.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slide" Target="slide28.xml"/><Relationship Id="rId5" Type="http://schemas.openxmlformats.org/officeDocument/2006/relationships/slide" Target="slide20.xml"/><Relationship Id="rId4" Type="http://schemas.openxmlformats.org/officeDocument/2006/relationships/slide" Target="slide14.xml"/><Relationship Id="rId9"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hyperlink" Target="https://www.wsj.com/articles/dollar-tree-cuts-annual-outlook-11574774744" TargetMode="External"/><Relationship Id="rId3" Type="http://schemas.openxmlformats.org/officeDocument/2006/relationships/image" Target="../media/image1.png"/><Relationship Id="rId7" Type="http://schemas.openxmlformats.org/officeDocument/2006/relationships/hyperlink" Target="https://finance.yahoo.com/news/heres-why-dollar-tree-dltr-153603708.html" TargetMode="External"/><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hyperlink" Target="https://finance.yahoo.com/news/dollar-tree-dltr-gains-strategic-154200328.html" TargetMode="External"/><Relationship Id="rId11" Type="http://schemas.openxmlformats.org/officeDocument/2006/relationships/hyperlink" Target="https://www.cnbc.com/2024/09/04/dollar-tree-dltr-earnings-q2-2024.html" TargetMode="External"/><Relationship Id="rId5" Type="http://schemas.openxmlformats.org/officeDocument/2006/relationships/hyperlink" Target="https://my-ibisworld/" TargetMode="External"/><Relationship Id="rId10" Type="http://schemas.openxmlformats.org/officeDocument/2006/relationships/hyperlink" Target="https://news.alphastreet.com/dollar-tree-dltr-key-points-of-note-from-the-q3-2024-earnings-report/" TargetMode="External"/><Relationship Id="rId4" Type="http://schemas.openxmlformats.org/officeDocument/2006/relationships/hyperlink" Target="https://corporate.dollartree.com/about/our-history" TargetMode="External"/><Relationship Id="rId9" Type="http://schemas.openxmlformats.org/officeDocument/2006/relationships/hyperlink" Target="https://www.nasdaq.com/market-activity/stocks/dltr"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49"/>
          <p:cNvSpPr txBox="1">
            <a:spLocks noGrp="1"/>
          </p:cNvSpPr>
          <p:nvPr>
            <p:ph type="ctrTitle"/>
          </p:nvPr>
        </p:nvSpPr>
        <p:spPr>
          <a:xfrm>
            <a:off x="3695075" y="775840"/>
            <a:ext cx="4971058" cy="139485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600">
                <a:solidFill>
                  <a:srgbClr val="0FAA4B"/>
                </a:solidFill>
              </a:rPr>
              <a:t>Dollar Tree</a:t>
            </a:r>
            <a:br>
              <a:rPr lang="en-US" sz="2800">
                <a:solidFill>
                  <a:srgbClr val="0FAA4B"/>
                </a:solidFill>
              </a:rPr>
            </a:br>
            <a:r>
              <a:rPr lang="en-US" sz="2800">
                <a:solidFill>
                  <a:srgbClr val="0FAA4B"/>
                </a:solidFill>
              </a:rPr>
              <a:t>[NASDAQ: DLTR]</a:t>
            </a:r>
            <a:endParaRPr sz="2800">
              <a:solidFill>
                <a:srgbClr val="0FAA4B"/>
              </a:solidFill>
            </a:endParaRPr>
          </a:p>
        </p:txBody>
      </p:sp>
      <p:sp>
        <p:nvSpPr>
          <p:cNvPr id="257" name="Google Shape;257;p49"/>
          <p:cNvSpPr/>
          <p:nvPr/>
        </p:nvSpPr>
        <p:spPr>
          <a:xfrm rot="10800000">
            <a:off x="7782000" y="367900"/>
            <a:ext cx="952500" cy="826275"/>
          </a:xfrm>
          <a:custGeom>
            <a:avLst/>
            <a:gdLst/>
            <a:ahLst/>
            <a:cxnLst/>
            <a:rect l="l" t="t" r="r" b="b"/>
            <a:pathLst>
              <a:path w="38100" h="33051" extrusionOk="0">
                <a:moveTo>
                  <a:pt x="0" y="0"/>
                </a:moveTo>
                <a:lnTo>
                  <a:pt x="0" y="33051"/>
                </a:lnTo>
                <a:lnTo>
                  <a:pt x="38100" y="33051"/>
                </a:lnTo>
              </a:path>
            </a:pathLst>
          </a:custGeom>
          <a:noFill/>
          <a:ln w="9525" cap="flat" cmpd="sng">
            <a:solidFill>
              <a:schemeClr val="dk1"/>
            </a:solidFill>
            <a:prstDash val="solid"/>
            <a:round/>
            <a:headEnd type="none" w="med" len="med"/>
            <a:tailEnd type="none" w="med" len="med"/>
          </a:ln>
        </p:spPr>
        <p:txBody>
          <a:bodyPr/>
          <a:lstStyle/>
          <a:p>
            <a:endParaRPr lang="en-US"/>
          </a:p>
        </p:txBody>
      </p:sp>
      <p:pic>
        <p:nvPicPr>
          <p:cNvPr id="1030" name="Picture 6" descr="Dollar Tree - Discover Brookfield">
            <a:extLst>
              <a:ext uri="{FF2B5EF4-FFF2-40B4-BE49-F238E27FC236}">
                <a16:creationId xmlns:a16="http://schemas.microsoft.com/office/drawing/2014/main" id="{9C75A437-E056-26E4-BCEF-3DB3580D08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79" r="28261" b="28261"/>
          <a:stretch/>
        </p:blipFill>
        <p:spPr bwMode="auto">
          <a:xfrm>
            <a:off x="139370" y="645436"/>
            <a:ext cx="4072867" cy="3852627"/>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56;p49">
            <a:extLst>
              <a:ext uri="{FF2B5EF4-FFF2-40B4-BE49-F238E27FC236}">
                <a16:creationId xmlns:a16="http://schemas.microsoft.com/office/drawing/2014/main" id="{B51E85DA-3185-808D-C64B-329F291FEF35}"/>
              </a:ext>
            </a:extLst>
          </p:cNvPr>
          <p:cNvSpPr txBox="1">
            <a:spLocks/>
          </p:cNvSpPr>
          <p:nvPr/>
        </p:nvSpPr>
        <p:spPr>
          <a:xfrm>
            <a:off x="4416237" y="2578638"/>
            <a:ext cx="3528733" cy="139485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CCCCCC"/>
              </a:buClr>
              <a:buSzPts val="1800"/>
              <a:buFont typeface="Open Sans Light"/>
              <a:buNone/>
              <a:defRPr sz="1200" b="0" i="0" u="none" strike="noStrike" cap="none">
                <a:solidFill>
                  <a:schemeClr val="lt1"/>
                </a:solidFill>
                <a:latin typeface="Open Sans Light"/>
                <a:ea typeface="Open Sans Light"/>
                <a:cs typeface="Open Sans Light"/>
                <a:sym typeface="Open Sans Light"/>
              </a:defRPr>
            </a:lvl1pPr>
            <a:lvl2pPr marL="914400" marR="0" lvl="1"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2pPr>
            <a:lvl3pPr marL="1371600" marR="0" lvl="2"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3pPr>
            <a:lvl4pPr marL="1828800" marR="0" lvl="3" indent="-3048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4pPr>
            <a:lvl5pPr marL="2286000" marR="0" lvl="4"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5pPr>
            <a:lvl6pPr marL="2743200" marR="0" lvl="5"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6pPr>
            <a:lvl7pPr marL="3200400" marR="0" lvl="6"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7pPr>
            <a:lvl8pPr marL="3657600" marR="0" lvl="7"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8pPr>
            <a:lvl9pPr marL="4114800" marR="0" lvl="8"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9pPr>
          </a:lstStyle>
          <a:p>
            <a:r>
              <a:rPr lang="en-US" b="1" dirty="0">
                <a:solidFill>
                  <a:schemeClr val="tx1">
                    <a:lumMod val="25000"/>
                  </a:schemeClr>
                </a:solidFill>
                <a:effectLst>
                  <a:outerShdw blurRad="38100" dist="25400" dir="5400000" algn="ctr">
                    <a:srgbClr val="6E747A">
                      <a:alpha val="43000"/>
                    </a:srgbClr>
                  </a:outerShdw>
                </a:effectLst>
              </a:rPr>
              <a:t>Stock Rating: </a:t>
            </a:r>
            <a:r>
              <a:rPr lang="en-US" b="1" dirty="0">
                <a:solidFill>
                  <a:srgbClr val="168766"/>
                </a:solidFill>
                <a:effectLst>
                  <a:outerShdw blurRad="38100" dist="25400" dir="5400000" algn="ctr">
                    <a:srgbClr val="6E747A">
                      <a:alpha val="43000"/>
                    </a:srgbClr>
                  </a:outerShdw>
                </a:effectLst>
              </a:rPr>
              <a:t>HOLD</a:t>
            </a:r>
            <a:endParaRPr lang="en-US" b="1" dirty="0">
              <a:solidFill>
                <a:srgbClr val="168766"/>
              </a:solidFill>
            </a:endParaRPr>
          </a:p>
          <a:p>
            <a:r>
              <a:rPr lang="en-US" b="1" dirty="0">
                <a:solidFill>
                  <a:schemeClr val="tx1">
                    <a:lumMod val="25000"/>
                  </a:schemeClr>
                </a:solidFill>
                <a:effectLst>
                  <a:outerShdw blurRad="38100" dist="25400" dir="5400000" algn="ctr">
                    <a:srgbClr val="6E747A">
                      <a:alpha val="43000"/>
                    </a:srgbClr>
                  </a:outerShdw>
                </a:effectLst>
              </a:rPr>
              <a:t>Industry View: Retail</a:t>
            </a:r>
            <a:endParaRPr lang="en-US" dirty="0">
              <a:solidFill>
                <a:schemeClr val="tx1">
                  <a:lumMod val="25000"/>
                </a:schemeClr>
              </a:solidFill>
            </a:endParaRPr>
          </a:p>
          <a:p>
            <a:r>
              <a:rPr lang="en-US" b="1" dirty="0">
                <a:solidFill>
                  <a:schemeClr val="tx1">
                    <a:lumMod val="25000"/>
                  </a:schemeClr>
                </a:solidFill>
                <a:effectLst>
                  <a:outerShdw blurRad="38100" dist="25400" dir="5400000" algn="ctr">
                    <a:srgbClr val="6E747A">
                      <a:alpha val="43000"/>
                    </a:srgbClr>
                  </a:outerShdw>
                </a:effectLst>
              </a:rPr>
              <a:t>Price Target: 79.25</a:t>
            </a:r>
            <a:endParaRPr lang="en-US" dirty="0">
              <a:solidFill>
                <a:schemeClr val="tx1">
                  <a:lumMod val="25000"/>
                </a:schemeClr>
              </a:solidFill>
            </a:endParaRPr>
          </a:p>
          <a:p>
            <a:r>
              <a:rPr lang="en-US" b="1" dirty="0">
                <a:solidFill>
                  <a:schemeClr val="tx1">
                    <a:lumMod val="25000"/>
                  </a:schemeClr>
                </a:solidFill>
                <a:effectLst>
                  <a:outerShdw blurRad="38100" dist="25400" dir="5400000" algn="ctr">
                    <a:srgbClr val="6E747A">
                      <a:alpha val="43000"/>
                    </a:srgbClr>
                  </a:outerShdw>
                </a:effectLst>
              </a:rPr>
              <a:t>Price (as of 12/5):</a:t>
            </a:r>
            <a:endParaRPr lang="en-US" dirty="0">
              <a:solidFill>
                <a:schemeClr val="tx1">
                  <a:lumMod val="25000"/>
                </a:schemeClr>
              </a:solidFill>
            </a:endParaRPr>
          </a:p>
          <a:p>
            <a:r>
              <a:rPr lang="en-US" b="1" dirty="0">
                <a:solidFill>
                  <a:schemeClr val="tx1">
                    <a:lumMod val="25000"/>
                  </a:schemeClr>
                </a:solidFill>
                <a:effectLst>
                  <a:outerShdw blurRad="38100" dist="25400" dir="5400000" algn="ctr">
                    <a:srgbClr val="6E747A">
                      <a:alpha val="43000"/>
                    </a:srgbClr>
                  </a:outerShdw>
                </a:effectLst>
              </a:rPr>
              <a:t>Potential Upside: </a:t>
            </a:r>
            <a:r>
              <a:rPr lang="en-US" b="1" dirty="0">
                <a:solidFill>
                  <a:srgbClr val="168766"/>
                </a:solidFill>
                <a:effectLst>
                  <a:outerShdw blurRad="38100" dist="25400" dir="5400000" algn="ctr">
                    <a:srgbClr val="6E747A">
                      <a:alpha val="43000"/>
                    </a:srgbClr>
                  </a:outerShdw>
                </a:effectLst>
              </a:rPr>
              <a:t>8.44%</a:t>
            </a:r>
            <a:endParaRPr lang="en-US" b="1" dirty="0">
              <a:solidFill>
                <a:srgbClr val="168766"/>
              </a:solidFill>
            </a:endParaRPr>
          </a:p>
          <a:p>
            <a:r>
              <a:rPr lang="en-US" b="1" dirty="0">
                <a:solidFill>
                  <a:schemeClr val="tx1">
                    <a:lumMod val="25000"/>
                  </a:schemeClr>
                </a:solidFill>
                <a:effectLst>
                  <a:outerShdw blurRad="38100" dist="25400" dir="5400000" algn="ctr">
                    <a:srgbClr val="6E747A">
                      <a:alpha val="43000"/>
                    </a:srgbClr>
                  </a:outerShdw>
                </a:effectLst>
              </a:rPr>
              <a:t>Market Cap: 15.6B</a:t>
            </a:r>
            <a:endParaRPr lang="en-US" dirty="0">
              <a:solidFill>
                <a:schemeClr val="tx1">
                  <a:lumMod val="25000"/>
                </a:schemeClr>
              </a:solidFill>
            </a:endParaRPr>
          </a:p>
          <a:p>
            <a:r>
              <a:rPr lang="en-US" b="1" dirty="0">
                <a:solidFill>
                  <a:schemeClr val="tx1">
                    <a:lumMod val="25000"/>
                  </a:schemeClr>
                </a:solidFill>
                <a:effectLst>
                  <a:outerShdw blurRad="38100" dist="25400" dir="5400000" algn="ctr">
                    <a:srgbClr val="6E747A">
                      <a:alpha val="43000"/>
                    </a:srgbClr>
                  </a:outerShdw>
                </a:effectLst>
              </a:rPr>
              <a:t>Shares Outstanding: 220M</a:t>
            </a:r>
            <a:endParaRPr lang="en-US" dirty="0">
              <a:solidFill>
                <a:schemeClr val="tx1">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55"/>
                                        </p:tgtEl>
                                        <p:attrNameLst>
                                          <p:attrName>style.visibility</p:attrName>
                                        </p:attrNameLst>
                                      </p:cBhvr>
                                      <p:to>
                                        <p:strVal val="visible"/>
                                      </p:to>
                                    </p:set>
                                    <p:anim calcmode="lin" valueType="num">
                                      <p:cBhvr additive="base">
                                        <p:cTn id="7" dur="1000"/>
                                        <p:tgtEl>
                                          <p:spTgt spid="255"/>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57"/>
                                        </p:tgtEl>
                                        <p:attrNameLst>
                                          <p:attrName>style.visibility</p:attrName>
                                        </p:attrNameLst>
                                      </p:cBhvr>
                                      <p:to>
                                        <p:strVal val="visible"/>
                                      </p:to>
                                    </p:set>
                                    <p:animEffect transition="in" filter="fade">
                                      <p:cBhvr>
                                        <p:cTn id="11" dur="1000"/>
                                        <p:tgtEl>
                                          <p:spTgt spid="257"/>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7151A95C-D0BD-6F92-34E0-9E6EAD94FD78}"/>
            </a:ext>
          </a:extLst>
        </p:cNvPr>
        <p:cNvGrpSpPr/>
        <p:nvPr/>
      </p:nvGrpSpPr>
      <p:grpSpPr>
        <a:xfrm>
          <a:off x="0" y="0"/>
          <a:ext cx="0" cy="0"/>
          <a:chOff x="0" y="0"/>
          <a:chExt cx="0" cy="0"/>
        </a:xfrm>
      </p:grpSpPr>
      <p:sp>
        <p:nvSpPr>
          <p:cNvPr id="278" name="Google Shape;278;p52">
            <a:extLst>
              <a:ext uri="{FF2B5EF4-FFF2-40B4-BE49-F238E27FC236}">
                <a16:creationId xmlns:a16="http://schemas.microsoft.com/office/drawing/2014/main" id="{343B2BD6-8FF0-8411-A244-41B5387F0226}"/>
              </a:ext>
            </a:extLst>
          </p:cNvPr>
          <p:cNvSpPr/>
          <p:nvPr/>
        </p:nvSpPr>
        <p:spPr>
          <a:xfrm>
            <a:off x="1578888" y="1536078"/>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79" name="Google Shape;279;p52">
            <a:extLst>
              <a:ext uri="{FF2B5EF4-FFF2-40B4-BE49-F238E27FC236}">
                <a16:creationId xmlns:a16="http://schemas.microsoft.com/office/drawing/2014/main" id="{062A29D2-CC1C-3ECC-5BED-1B0D15BB65FD}"/>
              </a:ext>
            </a:extLst>
          </p:cNvPr>
          <p:cNvSpPr/>
          <p:nvPr/>
        </p:nvSpPr>
        <p:spPr>
          <a:xfrm>
            <a:off x="-99062" y="3110610"/>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98" name="Google Shape;298;p52">
            <a:extLst>
              <a:ext uri="{FF2B5EF4-FFF2-40B4-BE49-F238E27FC236}">
                <a16:creationId xmlns:a16="http://schemas.microsoft.com/office/drawing/2014/main" id="{ED6F8470-9B26-66B3-E983-12FB1322F49D}"/>
              </a:ext>
            </a:extLst>
          </p:cNvPr>
          <p:cNvSpPr txBox="1">
            <a:spLocks noGrp="1"/>
          </p:cNvSpPr>
          <p:nvPr>
            <p:ph type="ctrTitle"/>
          </p:nvPr>
        </p:nvSpPr>
        <p:spPr>
          <a:xfrm>
            <a:off x="567069" y="472463"/>
            <a:ext cx="2806995"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Table of Contents</a:t>
            </a:r>
            <a:endParaRPr sz="2400">
              <a:solidFill>
                <a:srgbClr val="0FAA4B"/>
              </a:solidFill>
            </a:endParaRPr>
          </a:p>
        </p:txBody>
      </p:sp>
      <p:sp>
        <p:nvSpPr>
          <p:cNvPr id="280" name="Google Shape;280;p52">
            <a:extLst>
              <a:ext uri="{FF2B5EF4-FFF2-40B4-BE49-F238E27FC236}">
                <a16:creationId xmlns:a16="http://schemas.microsoft.com/office/drawing/2014/main" id="{B4CDD15A-D020-6356-5949-014126A6AEEE}"/>
              </a:ext>
            </a:extLst>
          </p:cNvPr>
          <p:cNvSpPr txBox="1">
            <a:spLocks noGrp="1"/>
          </p:cNvSpPr>
          <p:nvPr>
            <p:ph type="ctrTitle" idx="2"/>
          </p:nvPr>
        </p:nvSpPr>
        <p:spPr>
          <a:xfrm>
            <a:off x="2488748" y="2202425"/>
            <a:ext cx="1550744"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bg1"/>
                </a:solidFill>
              </a:rPr>
              <a:t>Business overview</a:t>
            </a:r>
            <a:endParaRPr sz="1600" dirty="0">
              <a:solidFill>
                <a:schemeClr val="bg1"/>
              </a:solidFill>
            </a:endParaRPr>
          </a:p>
        </p:txBody>
      </p:sp>
      <p:sp>
        <p:nvSpPr>
          <p:cNvPr id="282" name="Google Shape;282;p52">
            <a:hlinkClick r:id="rId3" action="ppaction://hlinksldjump"/>
            <a:extLst>
              <a:ext uri="{FF2B5EF4-FFF2-40B4-BE49-F238E27FC236}">
                <a16:creationId xmlns:a16="http://schemas.microsoft.com/office/drawing/2014/main" id="{1DACEA04-E6FC-9652-6C32-70E27BD7A3FD}"/>
              </a:ext>
            </a:extLst>
          </p:cNvPr>
          <p:cNvSpPr txBox="1">
            <a:spLocks noGrp="1"/>
          </p:cNvSpPr>
          <p:nvPr>
            <p:ph type="title" idx="3"/>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bg1"/>
                </a:solidFill>
              </a:rPr>
              <a:t>01</a:t>
            </a:r>
            <a:endParaRPr dirty="0">
              <a:solidFill>
                <a:schemeClr val="bg1"/>
              </a:solidFill>
            </a:endParaRPr>
          </a:p>
        </p:txBody>
      </p:sp>
      <p:sp>
        <p:nvSpPr>
          <p:cNvPr id="283" name="Google Shape;283;p52">
            <a:extLst>
              <a:ext uri="{FF2B5EF4-FFF2-40B4-BE49-F238E27FC236}">
                <a16:creationId xmlns:a16="http://schemas.microsoft.com/office/drawing/2014/main" id="{A62E8997-7C33-169D-3911-717E56ACD2A3}"/>
              </a:ext>
            </a:extLst>
          </p:cNvPr>
          <p:cNvSpPr txBox="1">
            <a:spLocks noGrp="1"/>
          </p:cNvSpPr>
          <p:nvPr>
            <p:ph type="ctrTitle" idx="4"/>
          </p:nvPr>
        </p:nvSpPr>
        <p:spPr>
          <a:xfrm>
            <a:off x="4624412" y="2199025"/>
            <a:ext cx="1593175"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dirty="0">
                <a:solidFill>
                  <a:schemeClr val="tx1">
                    <a:lumMod val="75000"/>
                  </a:schemeClr>
                </a:solidFill>
                <a:effectLst/>
                <a:latin typeface="Times New Roman" panose="02020603050405020304" pitchFamily="18" charset="0"/>
                <a:ea typeface="Trebuchet MS" panose="020B0603020202020204" pitchFamily="34" charset="0"/>
              </a:rPr>
              <a:t>Competitive Analysis </a:t>
            </a:r>
            <a:endParaRPr lang="en-US" sz="1600" dirty="0">
              <a:solidFill>
                <a:schemeClr val="tx1">
                  <a:lumMod val="75000"/>
                </a:schemeClr>
              </a:solidFill>
            </a:endParaRPr>
          </a:p>
        </p:txBody>
      </p:sp>
      <p:sp>
        <p:nvSpPr>
          <p:cNvPr id="285" name="Google Shape;285;p52">
            <a:hlinkClick r:id="rId4" action="ppaction://hlinksldjump"/>
            <a:extLst>
              <a:ext uri="{FF2B5EF4-FFF2-40B4-BE49-F238E27FC236}">
                <a16:creationId xmlns:a16="http://schemas.microsoft.com/office/drawing/2014/main" id="{796F4567-A3B4-DA05-4711-63D8BB955CFC}"/>
              </a:ext>
            </a:extLst>
          </p:cNvPr>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tx1">
                    <a:lumMod val="75000"/>
                  </a:schemeClr>
                </a:solidFill>
              </a:rPr>
              <a:t>02</a:t>
            </a:r>
            <a:endParaRPr dirty="0">
              <a:solidFill>
                <a:schemeClr val="tx1">
                  <a:lumMod val="75000"/>
                </a:schemeClr>
              </a:solidFill>
            </a:endParaRPr>
          </a:p>
        </p:txBody>
      </p:sp>
      <p:sp>
        <p:nvSpPr>
          <p:cNvPr id="286" name="Google Shape;286;p52">
            <a:extLst>
              <a:ext uri="{FF2B5EF4-FFF2-40B4-BE49-F238E27FC236}">
                <a16:creationId xmlns:a16="http://schemas.microsoft.com/office/drawing/2014/main" id="{EDBC35F6-760F-5CD4-8CA5-D8CB5F679A39}"/>
              </a:ext>
            </a:extLst>
          </p:cNvPr>
          <p:cNvSpPr txBox="1">
            <a:spLocks noGrp="1"/>
          </p:cNvSpPr>
          <p:nvPr>
            <p:ph type="ctrTitle" idx="7"/>
          </p:nvPr>
        </p:nvSpPr>
        <p:spPr>
          <a:xfrm>
            <a:off x="6504170" y="2199050"/>
            <a:ext cx="1914970" cy="3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Conclusion</a:t>
            </a:r>
            <a:endParaRPr lang="en-US" sz="1600">
              <a:solidFill>
                <a:schemeClr val="tx1">
                  <a:lumMod val="75000"/>
                </a:schemeClr>
              </a:solidFill>
            </a:endParaRPr>
          </a:p>
        </p:txBody>
      </p:sp>
      <p:sp>
        <p:nvSpPr>
          <p:cNvPr id="288" name="Google Shape;288;p52">
            <a:hlinkClick r:id="rId5" action="ppaction://hlinksldjump"/>
            <a:extLst>
              <a:ext uri="{FF2B5EF4-FFF2-40B4-BE49-F238E27FC236}">
                <a16:creationId xmlns:a16="http://schemas.microsoft.com/office/drawing/2014/main" id="{DBD3FC15-3A7D-80FD-1BD2-69C13C830E82}"/>
              </a:ext>
            </a:extLst>
          </p:cNvPr>
          <p:cNvSpPr txBox="1">
            <a:spLocks noGrp="1"/>
          </p:cNvSpPr>
          <p:nvPr>
            <p:ph type="title" idx="9"/>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03</a:t>
            </a:r>
            <a:endParaRPr>
              <a:solidFill>
                <a:schemeClr val="tx1">
                  <a:lumMod val="75000"/>
                </a:schemeClr>
              </a:solidFill>
            </a:endParaRPr>
          </a:p>
        </p:txBody>
      </p:sp>
      <p:sp>
        <p:nvSpPr>
          <p:cNvPr id="289" name="Google Shape;289;p52">
            <a:extLst>
              <a:ext uri="{FF2B5EF4-FFF2-40B4-BE49-F238E27FC236}">
                <a16:creationId xmlns:a16="http://schemas.microsoft.com/office/drawing/2014/main" id="{821D121C-C35F-5290-7B7E-98C89B017240}"/>
              </a:ext>
            </a:extLst>
          </p:cNvPr>
          <p:cNvSpPr txBox="1">
            <a:spLocks noGrp="1"/>
          </p:cNvSpPr>
          <p:nvPr>
            <p:ph type="ctrTitle" idx="13"/>
          </p:nvPr>
        </p:nvSpPr>
        <p:spPr>
          <a:xfrm>
            <a:off x="1817078" y="3688700"/>
            <a:ext cx="1779728"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Recommendation</a:t>
            </a:r>
            <a:endParaRPr lang="en-US" sz="1600">
              <a:solidFill>
                <a:schemeClr val="tx1">
                  <a:lumMod val="75000"/>
                </a:schemeClr>
              </a:solidFill>
            </a:endParaRPr>
          </a:p>
        </p:txBody>
      </p:sp>
      <p:sp>
        <p:nvSpPr>
          <p:cNvPr id="291" name="Google Shape;291;p52">
            <a:hlinkClick r:id="rId6" action="ppaction://hlinksldjump"/>
            <a:extLst>
              <a:ext uri="{FF2B5EF4-FFF2-40B4-BE49-F238E27FC236}">
                <a16:creationId xmlns:a16="http://schemas.microsoft.com/office/drawing/2014/main" id="{7F56AE0F-DFB6-AD11-888F-48A94108027D}"/>
              </a:ext>
            </a:extLst>
          </p:cNvPr>
          <p:cNvSpPr txBox="1">
            <a:spLocks noGrp="1"/>
          </p:cNvSpPr>
          <p:nvPr>
            <p:ph type="title" idx="15"/>
          </p:nvPr>
        </p:nvSpPr>
        <p:spPr>
          <a:xfrm>
            <a:off x="1843006" y="325574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04</a:t>
            </a:r>
            <a:endParaRPr>
              <a:solidFill>
                <a:schemeClr val="tx1">
                  <a:lumMod val="75000"/>
                </a:schemeClr>
              </a:solidFill>
            </a:endParaRPr>
          </a:p>
        </p:txBody>
      </p:sp>
      <p:sp>
        <p:nvSpPr>
          <p:cNvPr id="292" name="Google Shape;292;p52">
            <a:extLst>
              <a:ext uri="{FF2B5EF4-FFF2-40B4-BE49-F238E27FC236}">
                <a16:creationId xmlns:a16="http://schemas.microsoft.com/office/drawing/2014/main" id="{5CC53315-EE9B-FDE5-109A-2BE7AAF5A452}"/>
              </a:ext>
            </a:extLst>
          </p:cNvPr>
          <p:cNvSpPr txBox="1">
            <a:spLocks noGrp="1"/>
          </p:cNvSpPr>
          <p:nvPr>
            <p:ph type="ctrTitle" idx="16"/>
          </p:nvPr>
        </p:nvSpPr>
        <p:spPr>
          <a:xfrm>
            <a:off x="4173660" y="3829554"/>
            <a:ext cx="1140095" cy="4219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Appendix</a:t>
            </a:r>
            <a:r>
              <a:rPr lang="en-US" sz="1600">
                <a:solidFill>
                  <a:schemeClr val="tx1">
                    <a:lumMod val="75000"/>
                  </a:schemeClr>
                </a:solidFill>
                <a:effectLst/>
                <a:latin typeface="Times New Roman" panose="02020603050405020304" pitchFamily="18" charset="0"/>
                <a:ea typeface="Trebuchet MS" panose="020B0603020202020204" pitchFamily="34" charset="0"/>
              </a:rPr>
              <a:t> </a:t>
            </a:r>
            <a:endParaRPr lang="en-US" sz="1600">
              <a:solidFill>
                <a:schemeClr val="tx1">
                  <a:lumMod val="75000"/>
                </a:schemeClr>
              </a:solidFill>
            </a:endParaRPr>
          </a:p>
        </p:txBody>
      </p:sp>
      <p:sp>
        <p:nvSpPr>
          <p:cNvPr id="294" name="Google Shape;294;p52">
            <a:hlinkClick r:id="rId7" action="ppaction://hlinksldjump"/>
            <a:extLst>
              <a:ext uri="{FF2B5EF4-FFF2-40B4-BE49-F238E27FC236}">
                <a16:creationId xmlns:a16="http://schemas.microsoft.com/office/drawing/2014/main" id="{DBBB9FD3-26DF-DBD1-15F0-92E4AE4148A1}"/>
              </a:ext>
            </a:extLst>
          </p:cNvPr>
          <p:cNvSpPr txBox="1">
            <a:spLocks noGrp="1"/>
          </p:cNvSpPr>
          <p:nvPr>
            <p:ph type="title" idx="18"/>
          </p:nvPr>
        </p:nvSpPr>
        <p:spPr>
          <a:xfrm>
            <a:off x="4160696" y="328665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05</a:t>
            </a:r>
            <a:endParaRPr>
              <a:solidFill>
                <a:schemeClr val="tx1">
                  <a:lumMod val="75000"/>
                </a:schemeClr>
              </a:solidFill>
            </a:endParaRPr>
          </a:p>
        </p:txBody>
      </p:sp>
      <p:pic>
        <p:nvPicPr>
          <p:cNvPr id="4" name="Picture 3">
            <a:extLst>
              <a:ext uri="{FF2B5EF4-FFF2-40B4-BE49-F238E27FC236}">
                <a16:creationId xmlns:a16="http://schemas.microsoft.com/office/drawing/2014/main" id="{4D9AECA9-D3B8-AE81-E741-8709282A758A}"/>
              </a:ext>
            </a:extLst>
          </p:cNvPr>
          <p:cNvPicPr>
            <a:picLocks noChangeAspect="1"/>
          </p:cNvPicPr>
          <p:nvPr/>
        </p:nvPicPr>
        <p:blipFill>
          <a:blip r:embed="rId8"/>
          <a:stretch>
            <a:fillRect/>
          </a:stretch>
        </p:blipFill>
        <p:spPr>
          <a:xfrm>
            <a:off x="76147" y="4270931"/>
            <a:ext cx="762106" cy="800212"/>
          </a:xfrm>
          <a:prstGeom prst="rect">
            <a:avLst/>
          </a:prstGeom>
        </p:spPr>
      </p:pic>
      <p:pic>
        <p:nvPicPr>
          <p:cNvPr id="2" name="Picture 6" descr="Dollar Tree - Discover Brookfield">
            <a:extLst>
              <a:ext uri="{FF2B5EF4-FFF2-40B4-BE49-F238E27FC236}">
                <a16:creationId xmlns:a16="http://schemas.microsoft.com/office/drawing/2014/main" id="{BC0ABB74-EB08-E578-348A-C919CBECB39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80;p52">
            <a:extLst>
              <a:ext uri="{FF2B5EF4-FFF2-40B4-BE49-F238E27FC236}">
                <a16:creationId xmlns:a16="http://schemas.microsoft.com/office/drawing/2014/main" id="{9D6F5875-DC24-62C0-7582-AF7F2425E73B}"/>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98406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Oval 55">
            <a:extLst>
              <a:ext uri="{FF2B5EF4-FFF2-40B4-BE49-F238E27FC236}">
                <a16:creationId xmlns:a16="http://schemas.microsoft.com/office/drawing/2014/main" id="{24A06624-225F-FCC7-7C2E-443F1759F5CC}"/>
              </a:ext>
            </a:extLst>
          </p:cNvPr>
          <p:cNvSpPr/>
          <p:nvPr/>
        </p:nvSpPr>
        <p:spPr>
          <a:xfrm>
            <a:off x="6549478" y="2739774"/>
            <a:ext cx="744801" cy="6445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pic>
        <p:nvPicPr>
          <p:cNvPr id="1026" name="Picture 2">
            <a:extLst>
              <a:ext uri="{FF2B5EF4-FFF2-40B4-BE49-F238E27FC236}">
                <a16:creationId xmlns:a16="http://schemas.microsoft.com/office/drawing/2014/main" id="{8C056B68-6E40-FB9E-E5ED-C941662DFC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539"/>
          <a:stretch/>
        </p:blipFill>
        <p:spPr bwMode="auto">
          <a:xfrm rot="16200000">
            <a:off x="-1459371" y="1448881"/>
            <a:ext cx="5164473" cy="22457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91CA585-37AE-B75C-45EE-7EB991F39961}"/>
              </a:ext>
            </a:extLst>
          </p:cNvPr>
          <p:cNvSpPr>
            <a:spLocks noGrp="1"/>
          </p:cNvSpPr>
          <p:nvPr>
            <p:ph type="ctrTitle"/>
          </p:nvPr>
        </p:nvSpPr>
        <p:spPr>
          <a:xfrm>
            <a:off x="2875453" y="379205"/>
            <a:ext cx="5224573" cy="660647"/>
          </a:xfrm>
        </p:spPr>
        <p:txBody>
          <a:bodyPr/>
          <a:lstStyle/>
          <a:p>
            <a:r>
              <a:rPr lang="en-US" sz="2400" b="1" dirty="0">
                <a:solidFill>
                  <a:srgbClr val="0FAA4B"/>
                </a:solidFill>
                <a:latin typeface="DM Serif Display" pitchFamily="2" charset="0"/>
                <a:cs typeface="Times New Roman" panose="02020603050405020304" pitchFamily="18" charset="0"/>
              </a:rPr>
              <a:t>Company History</a:t>
            </a:r>
          </a:p>
        </p:txBody>
      </p:sp>
      <p:sp>
        <p:nvSpPr>
          <p:cNvPr id="3" name="Subtitle 2">
            <a:extLst>
              <a:ext uri="{FF2B5EF4-FFF2-40B4-BE49-F238E27FC236}">
                <a16:creationId xmlns:a16="http://schemas.microsoft.com/office/drawing/2014/main" id="{7CF91753-187B-CE9A-1131-1D3451DE398C}"/>
              </a:ext>
            </a:extLst>
          </p:cNvPr>
          <p:cNvSpPr>
            <a:spLocks noGrp="1"/>
          </p:cNvSpPr>
          <p:nvPr>
            <p:ph type="subTitle" idx="1"/>
          </p:nvPr>
        </p:nvSpPr>
        <p:spPr>
          <a:xfrm>
            <a:off x="5396976" y="1100495"/>
            <a:ext cx="2885266" cy="490186"/>
          </a:xfrm>
        </p:spPr>
        <p:txBody>
          <a:bodyPr/>
          <a:lstStyle/>
          <a:p>
            <a:r>
              <a:rPr lang="en-US">
                <a:solidFill>
                  <a:schemeClr val="bg2">
                    <a:lumMod val="50000"/>
                  </a:schemeClr>
                </a:solidFill>
                <a:latin typeface="DM Serif Display" pitchFamily="2" charset="0"/>
                <a:cs typeface="Times New Roman" panose="02020603050405020304" pitchFamily="18" charset="0"/>
              </a:rPr>
              <a:t>Discount Variety Store</a:t>
            </a:r>
          </a:p>
        </p:txBody>
      </p:sp>
      <p:sp>
        <p:nvSpPr>
          <p:cNvPr id="6" name="Google Shape;1359;p91">
            <a:extLst>
              <a:ext uri="{FF2B5EF4-FFF2-40B4-BE49-F238E27FC236}">
                <a16:creationId xmlns:a16="http://schemas.microsoft.com/office/drawing/2014/main" id="{3531AB20-BF59-F4EF-E0C0-67980320E80F}"/>
              </a:ext>
            </a:extLst>
          </p:cNvPr>
          <p:cNvSpPr>
            <a:spLocks/>
          </p:cNvSpPr>
          <p:nvPr/>
        </p:nvSpPr>
        <p:spPr>
          <a:xfrm>
            <a:off x="-6500" y="-68547"/>
            <a:ext cx="2252231" cy="5222529"/>
          </a:xfrm>
          <a:prstGeom prst="rect">
            <a:avLst/>
          </a:prstGeom>
          <a:gradFill flip="none" rotWithShape="1">
            <a:gsLst>
              <a:gs pos="39000">
                <a:schemeClr val="lt1">
                  <a:shade val="30000"/>
                  <a:satMod val="115000"/>
                  <a:alpha val="51000"/>
                </a:schemeClr>
              </a:gs>
              <a:gs pos="83000">
                <a:schemeClr val="lt1">
                  <a:shade val="67500"/>
                  <a:satMod val="115000"/>
                </a:schemeClr>
              </a:gs>
              <a:gs pos="24000">
                <a:schemeClr val="lt1">
                  <a:shade val="100000"/>
                  <a:satMod val="115000"/>
                </a:schemeClr>
              </a:gs>
            </a:gsLst>
            <a:lin ang="27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9" name="Straight Connector 8">
            <a:extLst>
              <a:ext uri="{FF2B5EF4-FFF2-40B4-BE49-F238E27FC236}">
                <a16:creationId xmlns:a16="http://schemas.microsoft.com/office/drawing/2014/main" id="{65E131DD-B02C-0CC8-AC7F-4D5E9FB9AC93}"/>
              </a:ext>
            </a:extLst>
          </p:cNvPr>
          <p:cNvCxnSpPr>
            <a:cxnSpLocks/>
          </p:cNvCxnSpPr>
          <p:nvPr/>
        </p:nvCxnSpPr>
        <p:spPr>
          <a:xfrm>
            <a:off x="3767655" y="1686377"/>
            <a:ext cx="0" cy="2830624"/>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215A5E-E823-EA99-9528-994FE51C1437}"/>
              </a:ext>
            </a:extLst>
          </p:cNvPr>
          <p:cNvCxnSpPr/>
          <p:nvPr/>
        </p:nvCxnSpPr>
        <p:spPr>
          <a:xfrm>
            <a:off x="3278526" y="1705050"/>
            <a:ext cx="512421" cy="0"/>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EA3093-45AA-2867-B836-A392A258CF85}"/>
              </a:ext>
            </a:extLst>
          </p:cNvPr>
          <p:cNvCxnSpPr/>
          <p:nvPr/>
        </p:nvCxnSpPr>
        <p:spPr>
          <a:xfrm>
            <a:off x="3769644" y="2348808"/>
            <a:ext cx="512421" cy="0"/>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249D953-9488-81DF-D1D2-C1411F4CC849}"/>
              </a:ext>
            </a:extLst>
          </p:cNvPr>
          <p:cNvCxnSpPr/>
          <p:nvPr/>
        </p:nvCxnSpPr>
        <p:spPr>
          <a:xfrm>
            <a:off x="3278526" y="3063497"/>
            <a:ext cx="512421" cy="0"/>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781346-74E1-1C0A-C4E1-BB9AB17BDFFF}"/>
              </a:ext>
            </a:extLst>
          </p:cNvPr>
          <p:cNvCxnSpPr/>
          <p:nvPr/>
        </p:nvCxnSpPr>
        <p:spPr>
          <a:xfrm>
            <a:off x="3278526" y="4498889"/>
            <a:ext cx="512421" cy="0"/>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86C989-FF43-8533-F663-2FCD44B8DE6F}"/>
              </a:ext>
            </a:extLst>
          </p:cNvPr>
          <p:cNvCxnSpPr/>
          <p:nvPr/>
        </p:nvCxnSpPr>
        <p:spPr>
          <a:xfrm>
            <a:off x="3769643" y="3910975"/>
            <a:ext cx="512421" cy="0"/>
          </a:xfrm>
          <a:prstGeom prst="line">
            <a:avLst/>
          </a:prstGeom>
          <a:ln w="41275">
            <a:solidFill>
              <a:srgbClr val="0FAA4B"/>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B2E97858-136A-D73E-81D4-2815C0C6EFBD}"/>
              </a:ext>
            </a:extLst>
          </p:cNvPr>
          <p:cNvSpPr/>
          <p:nvPr/>
        </p:nvSpPr>
        <p:spPr>
          <a:xfrm>
            <a:off x="2646903" y="1528127"/>
            <a:ext cx="741389" cy="363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1956</a:t>
            </a:r>
          </a:p>
        </p:txBody>
      </p:sp>
      <p:sp>
        <p:nvSpPr>
          <p:cNvPr id="26" name="Oval 25">
            <a:extLst>
              <a:ext uri="{FF2B5EF4-FFF2-40B4-BE49-F238E27FC236}">
                <a16:creationId xmlns:a16="http://schemas.microsoft.com/office/drawing/2014/main" id="{396A9C11-8948-C58A-7191-EAFD380E2981}"/>
              </a:ext>
            </a:extLst>
          </p:cNvPr>
          <p:cNvSpPr/>
          <p:nvPr/>
        </p:nvSpPr>
        <p:spPr>
          <a:xfrm>
            <a:off x="4227778" y="2167010"/>
            <a:ext cx="681921" cy="363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sp>
        <p:nvSpPr>
          <p:cNvPr id="27" name="Oval 26">
            <a:extLst>
              <a:ext uri="{FF2B5EF4-FFF2-40B4-BE49-F238E27FC236}">
                <a16:creationId xmlns:a16="http://schemas.microsoft.com/office/drawing/2014/main" id="{7ECDDAF1-FE46-1521-7C61-9F12D7D0ACF3}"/>
              </a:ext>
            </a:extLst>
          </p:cNvPr>
          <p:cNvSpPr/>
          <p:nvPr/>
        </p:nvSpPr>
        <p:spPr>
          <a:xfrm>
            <a:off x="2649606" y="2880498"/>
            <a:ext cx="681921" cy="363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sp>
        <p:nvSpPr>
          <p:cNvPr id="28" name="Oval 27">
            <a:extLst>
              <a:ext uri="{FF2B5EF4-FFF2-40B4-BE49-F238E27FC236}">
                <a16:creationId xmlns:a16="http://schemas.microsoft.com/office/drawing/2014/main" id="{4DB424B6-FA44-A184-EC72-712F8B348386}"/>
              </a:ext>
            </a:extLst>
          </p:cNvPr>
          <p:cNvSpPr/>
          <p:nvPr/>
        </p:nvSpPr>
        <p:spPr>
          <a:xfrm>
            <a:off x="2649606" y="4317090"/>
            <a:ext cx="681921" cy="363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sp>
        <p:nvSpPr>
          <p:cNvPr id="29" name="Oval 28">
            <a:extLst>
              <a:ext uri="{FF2B5EF4-FFF2-40B4-BE49-F238E27FC236}">
                <a16:creationId xmlns:a16="http://schemas.microsoft.com/office/drawing/2014/main" id="{4FB196BA-DE3D-94CB-DA7E-C82C19AB44D2}"/>
              </a:ext>
            </a:extLst>
          </p:cNvPr>
          <p:cNvSpPr/>
          <p:nvPr/>
        </p:nvSpPr>
        <p:spPr>
          <a:xfrm>
            <a:off x="4231101" y="3729177"/>
            <a:ext cx="681921" cy="363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sp>
        <p:nvSpPr>
          <p:cNvPr id="30" name="TextBox 29">
            <a:extLst>
              <a:ext uri="{FF2B5EF4-FFF2-40B4-BE49-F238E27FC236}">
                <a16:creationId xmlns:a16="http://schemas.microsoft.com/office/drawing/2014/main" id="{8546C7F0-52AB-F7ED-45C4-34531DC44265}"/>
              </a:ext>
            </a:extLst>
          </p:cNvPr>
          <p:cNvSpPr txBox="1"/>
          <p:nvPr/>
        </p:nvSpPr>
        <p:spPr>
          <a:xfrm>
            <a:off x="3747381" y="1641086"/>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K&amp;K 5&amp;10</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1" name="TextBox 30">
            <a:extLst>
              <a:ext uri="{FF2B5EF4-FFF2-40B4-BE49-F238E27FC236}">
                <a16:creationId xmlns:a16="http://schemas.microsoft.com/office/drawing/2014/main" id="{035E4AD9-F241-0AAD-EE94-519BD5154663}"/>
              </a:ext>
            </a:extLst>
          </p:cNvPr>
          <p:cNvSpPr txBox="1"/>
          <p:nvPr/>
        </p:nvSpPr>
        <p:spPr>
          <a:xfrm>
            <a:off x="2810891" y="2254567"/>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“Only $1.00”</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2" name="TextBox 31">
            <a:extLst>
              <a:ext uri="{FF2B5EF4-FFF2-40B4-BE49-F238E27FC236}">
                <a16:creationId xmlns:a16="http://schemas.microsoft.com/office/drawing/2014/main" id="{6858945B-D4F4-391A-8F77-732FB92BDECF}"/>
              </a:ext>
            </a:extLst>
          </p:cNvPr>
          <p:cNvSpPr txBox="1"/>
          <p:nvPr/>
        </p:nvSpPr>
        <p:spPr>
          <a:xfrm>
            <a:off x="3735028" y="2935775"/>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First Store</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3" name="TextBox 32">
            <a:extLst>
              <a:ext uri="{FF2B5EF4-FFF2-40B4-BE49-F238E27FC236}">
                <a16:creationId xmlns:a16="http://schemas.microsoft.com/office/drawing/2014/main" id="{218F89A6-798C-6639-A287-FC763C4477A8}"/>
              </a:ext>
            </a:extLst>
          </p:cNvPr>
          <p:cNvSpPr txBox="1"/>
          <p:nvPr/>
        </p:nvSpPr>
        <p:spPr>
          <a:xfrm>
            <a:off x="4338826" y="2236226"/>
            <a:ext cx="819284" cy="246221"/>
          </a:xfrm>
          <a:prstGeom prst="rect">
            <a:avLst/>
          </a:prstGeom>
          <a:noFill/>
        </p:spPr>
        <p:txBody>
          <a:bodyPr wrap="square" rtlCol="0">
            <a:spAutoFit/>
          </a:bodyPr>
          <a:lstStyle/>
          <a:p>
            <a:r>
              <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1986</a:t>
            </a:r>
          </a:p>
        </p:txBody>
      </p:sp>
      <p:sp>
        <p:nvSpPr>
          <p:cNvPr id="34" name="TextBox 33">
            <a:extLst>
              <a:ext uri="{FF2B5EF4-FFF2-40B4-BE49-F238E27FC236}">
                <a16:creationId xmlns:a16="http://schemas.microsoft.com/office/drawing/2014/main" id="{C643F46E-BF73-B38E-740E-C1BBC1330BE2}"/>
              </a:ext>
            </a:extLst>
          </p:cNvPr>
          <p:cNvSpPr txBox="1"/>
          <p:nvPr/>
        </p:nvSpPr>
        <p:spPr>
          <a:xfrm>
            <a:off x="2753048" y="2942214"/>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1989</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8" name="TextBox 37">
            <a:extLst>
              <a:ext uri="{FF2B5EF4-FFF2-40B4-BE49-F238E27FC236}">
                <a16:creationId xmlns:a16="http://schemas.microsoft.com/office/drawing/2014/main" id="{A7D0B069-C6F0-A3E3-CB56-F4EDE9204823}"/>
              </a:ext>
            </a:extLst>
          </p:cNvPr>
          <p:cNvSpPr txBox="1"/>
          <p:nvPr/>
        </p:nvSpPr>
        <p:spPr>
          <a:xfrm>
            <a:off x="4310691" y="3812194"/>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1995</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9" name="TextBox 38">
            <a:extLst>
              <a:ext uri="{FF2B5EF4-FFF2-40B4-BE49-F238E27FC236}">
                <a16:creationId xmlns:a16="http://schemas.microsoft.com/office/drawing/2014/main" id="{029E3266-C768-ADCF-6679-48E0FD2F98CB}"/>
              </a:ext>
            </a:extLst>
          </p:cNvPr>
          <p:cNvSpPr txBox="1"/>
          <p:nvPr/>
        </p:nvSpPr>
        <p:spPr>
          <a:xfrm>
            <a:off x="2753049" y="4382667"/>
            <a:ext cx="1589739" cy="246221"/>
          </a:xfrm>
          <a:prstGeom prst="rect">
            <a:avLst/>
          </a:prstGeom>
          <a:noFill/>
        </p:spPr>
        <p:txBody>
          <a:bodyPr wrap="square" rtlCol="0">
            <a:spAutoFit/>
          </a:bodyPr>
          <a:lstStyle/>
          <a:p>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2015</a:t>
            </a:r>
            <a:endPar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0" name="TextBox 39">
            <a:extLst>
              <a:ext uri="{FF2B5EF4-FFF2-40B4-BE49-F238E27FC236}">
                <a16:creationId xmlns:a16="http://schemas.microsoft.com/office/drawing/2014/main" id="{86616329-BE93-C985-6CA4-F48BD432FACB}"/>
              </a:ext>
            </a:extLst>
          </p:cNvPr>
          <p:cNvSpPr txBox="1"/>
          <p:nvPr/>
        </p:nvSpPr>
        <p:spPr>
          <a:xfrm>
            <a:off x="2523253" y="3747713"/>
            <a:ext cx="1589739" cy="400110"/>
          </a:xfrm>
          <a:prstGeom prst="rect">
            <a:avLst/>
          </a:prstGeom>
          <a:noFill/>
        </p:spPr>
        <p:txBody>
          <a:bodyPr wrap="square" rtlCol="0">
            <a:spAutoFit/>
          </a:bodyPr>
          <a:lstStyle/>
          <a:p>
            <a:pPr algn="ctr"/>
            <a:r>
              <a:rPr lang="en-US" sz="1000" b="1">
                <a:solidFill>
                  <a:schemeClr val="bg2">
                    <a:lumMod val="50000"/>
                  </a:schemeClr>
                </a:solidFill>
                <a:effectLst/>
                <a:latin typeface="Open Sans Light" panose="020B0306030504020204" pitchFamily="34" charset="0"/>
                <a:ea typeface="Open Sans Light" panose="020B0306030504020204" pitchFamily="34" charset="0"/>
                <a:cs typeface="Open Sans Light" panose="020B0306030504020204" pitchFamily="34" charset="0"/>
              </a:rPr>
              <a:t>Went Public </a:t>
            </a:r>
          </a:p>
          <a:p>
            <a:pPr algn="ctr"/>
            <a:r>
              <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On Nasdaq</a:t>
            </a:r>
          </a:p>
        </p:txBody>
      </p:sp>
      <p:sp>
        <p:nvSpPr>
          <p:cNvPr id="41" name="TextBox 40">
            <a:extLst>
              <a:ext uri="{FF2B5EF4-FFF2-40B4-BE49-F238E27FC236}">
                <a16:creationId xmlns:a16="http://schemas.microsoft.com/office/drawing/2014/main" id="{9413549F-4AAB-D698-126C-969A6F3A82F6}"/>
              </a:ext>
            </a:extLst>
          </p:cNvPr>
          <p:cNvSpPr txBox="1"/>
          <p:nvPr/>
        </p:nvSpPr>
        <p:spPr>
          <a:xfrm>
            <a:off x="3764309" y="4406281"/>
            <a:ext cx="1217361" cy="400110"/>
          </a:xfrm>
          <a:prstGeom prst="rect">
            <a:avLst/>
          </a:prstGeom>
          <a:noFill/>
        </p:spPr>
        <p:txBody>
          <a:bodyPr wrap="square" rtlCol="0">
            <a:spAutoFit/>
          </a:bodyPr>
          <a:lstStyle/>
          <a:p>
            <a:pPr algn="ctr"/>
            <a:r>
              <a:rPr lang="en-US" sz="10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Acquired Family Dollar</a:t>
            </a:r>
          </a:p>
        </p:txBody>
      </p:sp>
      <p:sp>
        <p:nvSpPr>
          <p:cNvPr id="42" name="Oval 41">
            <a:extLst>
              <a:ext uri="{FF2B5EF4-FFF2-40B4-BE49-F238E27FC236}">
                <a16:creationId xmlns:a16="http://schemas.microsoft.com/office/drawing/2014/main" id="{614EABFA-E50F-C143-292D-02FCC3DBDA16}"/>
              </a:ext>
            </a:extLst>
          </p:cNvPr>
          <p:cNvSpPr/>
          <p:nvPr/>
        </p:nvSpPr>
        <p:spPr>
          <a:xfrm>
            <a:off x="5529377" y="1615030"/>
            <a:ext cx="744801" cy="6445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Shopping basket outline">
            <a:extLst>
              <a:ext uri="{FF2B5EF4-FFF2-40B4-BE49-F238E27FC236}">
                <a16:creationId xmlns:a16="http://schemas.microsoft.com/office/drawing/2014/main" id="{83BB8CA3-E865-510B-5914-BFB5DD1FC3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9522" y="1598218"/>
            <a:ext cx="644513" cy="644513"/>
          </a:xfrm>
          <a:prstGeom prst="rect">
            <a:avLst/>
          </a:prstGeom>
        </p:spPr>
      </p:pic>
      <p:sp>
        <p:nvSpPr>
          <p:cNvPr id="49" name="Oval 48">
            <a:extLst>
              <a:ext uri="{FF2B5EF4-FFF2-40B4-BE49-F238E27FC236}">
                <a16:creationId xmlns:a16="http://schemas.microsoft.com/office/drawing/2014/main" id="{C8BAA745-6E94-7D4C-B4DE-DA20DBC92CD7}"/>
              </a:ext>
            </a:extLst>
          </p:cNvPr>
          <p:cNvSpPr/>
          <p:nvPr/>
        </p:nvSpPr>
        <p:spPr>
          <a:xfrm>
            <a:off x="6527166" y="1646498"/>
            <a:ext cx="744801" cy="6445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BA12D1FF-5B42-107A-803D-24123B0C84B0}"/>
              </a:ext>
            </a:extLst>
          </p:cNvPr>
          <p:cNvSpPr/>
          <p:nvPr/>
        </p:nvSpPr>
        <p:spPr>
          <a:xfrm>
            <a:off x="7540142" y="1604697"/>
            <a:ext cx="744801" cy="6445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c 45" descr="Cosmetics with solid fill">
            <a:extLst>
              <a:ext uri="{FF2B5EF4-FFF2-40B4-BE49-F238E27FC236}">
                <a16:creationId xmlns:a16="http://schemas.microsoft.com/office/drawing/2014/main" id="{0ABF8591-6837-DF7C-171C-9548D6A2B9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48739" y="1720849"/>
            <a:ext cx="504877" cy="504877"/>
          </a:xfrm>
          <a:prstGeom prst="rect">
            <a:avLst/>
          </a:prstGeom>
        </p:spPr>
      </p:pic>
      <p:pic>
        <p:nvPicPr>
          <p:cNvPr id="48" name="Graphic 47" descr="Mortgage with solid fill">
            <a:extLst>
              <a:ext uri="{FF2B5EF4-FFF2-40B4-BE49-F238E27FC236}">
                <a16:creationId xmlns:a16="http://schemas.microsoft.com/office/drawing/2014/main" id="{A2D119EF-C2D2-75DE-05F8-1C1F1E84D34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05362" y="1599551"/>
            <a:ext cx="614211" cy="614211"/>
          </a:xfrm>
          <a:prstGeom prst="rect">
            <a:avLst/>
          </a:prstGeom>
        </p:spPr>
      </p:pic>
      <p:sp>
        <p:nvSpPr>
          <p:cNvPr id="53" name="TextBox 52">
            <a:extLst>
              <a:ext uri="{FF2B5EF4-FFF2-40B4-BE49-F238E27FC236}">
                <a16:creationId xmlns:a16="http://schemas.microsoft.com/office/drawing/2014/main" id="{EB72D762-E24C-DAD2-5442-90061154318A}"/>
              </a:ext>
            </a:extLst>
          </p:cNvPr>
          <p:cNvSpPr txBox="1"/>
          <p:nvPr/>
        </p:nvSpPr>
        <p:spPr>
          <a:xfrm>
            <a:off x="6690780" y="2469905"/>
            <a:ext cx="4603844" cy="276999"/>
          </a:xfrm>
          <a:prstGeom prst="rect">
            <a:avLst/>
          </a:prstGeom>
          <a:noFill/>
        </p:spPr>
        <p:txBody>
          <a:bodyPr wrap="square">
            <a:spAutoFit/>
          </a:bodyPr>
          <a:lstStyle/>
          <a:p>
            <a:r>
              <a:rPr lang="en-US" sz="1200" b="1">
                <a:solidFill>
                  <a:schemeClr val="bg2">
                    <a:lumMod val="50000"/>
                  </a:schemeClr>
                </a:solidFill>
                <a:latin typeface="DM Serif Display" pitchFamily="2" charset="0"/>
                <a:cs typeface="Times New Roman" panose="02020603050405020304" pitchFamily="18" charset="0"/>
              </a:rPr>
              <a:t>CEO</a:t>
            </a:r>
          </a:p>
        </p:txBody>
      </p:sp>
      <p:pic>
        <p:nvPicPr>
          <p:cNvPr id="55" name="Graphic 54" descr="Briefcase outline">
            <a:extLst>
              <a:ext uri="{FF2B5EF4-FFF2-40B4-BE49-F238E27FC236}">
                <a16:creationId xmlns:a16="http://schemas.microsoft.com/office/drawing/2014/main" id="{66094F77-1904-3990-0069-3766C1EFCD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27271" y="2760233"/>
            <a:ext cx="577376" cy="577376"/>
          </a:xfrm>
          <a:prstGeom prst="rect">
            <a:avLst/>
          </a:prstGeom>
        </p:spPr>
      </p:pic>
      <p:sp>
        <p:nvSpPr>
          <p:cNvPr id="8" name="Google Shape;280;p52">
            <a:extLst>
              <a:ext uri="{FF2B5EF4-FFF2-40B4-BE49-F238E27FC236}">
                <a16:creationId xmlns:a16="http://schemas.microsoft.com/office/drawing/2014/main" id="{28254B6F-1533-C06E-0052-D3EE139531B6}"/>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
        <p:nvSpPr>
          <p:cNvPr id="57" name="TextBox 56">
            <a:extLst>
              <a:ext uri="{FF2B5EF4-FFF2-40B4-BE49-F238E27FC236}">
                <a16:creationId xmlns:a16="http://schemas.microsoft.com/office/drawing/2014/main" id="{50E3AA71-C8E2-3063-B801-27DA74478960}"/>
              </a:ext>
            </a:extLst>
          </p:cNvPr>
          <p:cNvSpPr txBox="1"/>
          <p:nvPr/>
        </p:nvSpPr>
        <p:spPr>
          <a:xfrm>
            <a:off x="5445978" y="2902688"/>
            <a:ext cx="1162157" cy="307772"/>
          </a:xfrm>
          <a:prstGeom prst="rect">
            <a:avLst/>
          </a:prstGeom>
          <a:noFill/>
        </p:spPr>
        <p:txBody>
          <a:bodyPr wrap="square" rtlCol="0">
            <a:spAutoFit/>
          </a:bodyPr>
          <a:lstStyle/>
          <a:p>
            <a:endParaRPr lang="en-US"/>
          </a:p>
        </p:txBody>
      </p:sp>
      <p:sp>
        <p:nvSpPr>
          <p:cNvPr id="4" name="TextBox 3">
            <a:extLst>
              <a:ext uri="{FF2B5EF4-FFF2-40B4-BE49-F238E27FC236}">
                <a16:creationId xmlns:a16="http://schemas.microsoft.com/office/drawing/2014/main" id="{60625DB3-DE9B-DCF5-D728-E107280EF1F4}"/>
              </a:ext>
            </a:extLst>
          </p:cNvPr>
          <p:cNvSpPr txBox="1"/>
          <p:nvPr/>
        </p:nvSpPr>
        <p:spPr>
          <a:xfrm>
            <a:off x="7294279" y="2885504"/>
            <a:ext cx="1781531" cy="276999"/>
          </a:xfrm>
          <a:prstGeom prst="rect">
            <a:avLst/>
          </a:prstGeom>
          <a:noFill/>
        </p:spPr>
        <p:txBody>
          <a:bodyPr wrap="square" rtlCol="0">
            <a:spAutoFit/>
          </a:bodyPr>
          <a:lstStyle/>
          <a:p>
            <a:r>
              <a:rPr lang="en-US" sz="12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Michael C. </a:t>
            </a:r>
            <a:r>
              <a:rPr lang="en-US" sz="1200" b="1" err="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Creedon</a:t>
            </a:r>
            <a:r>
              <a:rPr lang="en-US" sz="1200"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 Jr</a:t>
            </a:r>
            <a:r>
              <a:rPr lang="en-US" sz="1200" b="1">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10" name="Oval 9">
            <a:extLst>
              <a:ext uri="{FF2B5EF4-FFF2-40B4-BE49-F238E27FC236}">
                <a16:creationId xmlns:a16="http://schemas.microsoft.com/office/drawing/2014/main" id="{F6C89850-E0F8-FAAA-289D-C1FE8C5B47A7}"/>
              </a:ext>
            </a:extLst>
          </p:cNvPr>
          <p:cNvSpPr/>
          <p:nvPr/>
        </p:nvSpPr>
        <p:spPr>
          <a:xfrm>
            <a:off x="6521448" y="3819399"/>
            <a:ext cx="722190" cy="6445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50000"/>
                </a:schemeClr>
              </a:solidFill>
            </a:endParaRPr>
          </a:p>
        </p:txBody>
      </p:sp>
      <p:sp>
        <p:nvSpPr>
          <p:cNvPr id="14" name="Subtitle 2">
            <a:extLst>
              <a:ext uri="{FF2B5EF4-FFF2-40B4-BE49-F238E27FC236}">
                <a16:creationId xmlns:a16="http://schemas.microsoft.com/office/drawing/2014/main" id="{BA229DC0-06C2-6386-EBB2-7BB665676B22}"/>
              </a:ext>
            </a:extLst>
          </p:cNvPr>
          <p:cNvSpPr txBox="1">
            <a:spLocks/>
          </p:cNvSpPr>
          <p:nvPr/>
        </p:nvSpPr>
        <p:spPr>
          <a:xfrm>
            <a:off x="5399677" y="3398857"/>
            <a:ext cx="2885266" cy="490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CCCCCC"/>
              </a:buClr>
              <a:buSzPts val="1800"/>
              <a:buFont typeface="Open Sans Light"/>
              <a:buNone/>
              <a:defRPr sz="1200" b="0" i="0" u="none" strike="noStrike" cap="none">
                <a:solidFill>
                  <a:schemeClr val="lt1"/>
                </a:solidFill>
                <a:latin typeface="Open Sans Light"/>
                <a:ea typeface="Open Sans Light"/>
                <a:cs typeface="Open Sans Light"/>
                <a:sym typeface="Open Sans Light"/>
              </a:defRPr>
            </a:lvl1pPr>
            <a:lvl2pPr marL="914400" marR="0" lvl="1"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2pPr>
            <a:lvl3pPr marL="1371600" marR="0" lvl="2"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3pPr>
            <a:lvl4pPr marL="1828800" marR="0" lvl="3" indent="-3048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4pPr>
            <a:lvl5pPr marL="2286000" marR="0" lvl="4"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5pPr>
            <a:lvl6pPr marL="2743200" marR="0" lvl="5"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6pPr>
            <a:lvl7pPr marL="3200400" marR="0" lvl="6"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7pPr>
            <a:lvl8pPr marL="3657600" marR="0" lvl="7"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8pPr>
            <a:lvl9pPr marL="4114800" marR="0" lvl="8"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9pPr>
          </a:lstStyle>
          <a:p>
            <a:r>
              <a:rPr lang="en-US" b="1">
                <a:solidFill>
                  <a:schemeClr val="bg2">
                    <a:lumMod val="50000"/>
                  </a:schemeClr>
                </a:solidFill>
                <a:latin typeface="DM Serif Display" pitchFamily="2" charset="0"/>
                <a:cs typeface="Times New Roman" panose="02020603050405020304" pitchFamily="18" charset="0"/>
              </a:rPr>
              <a:t>Stores</a:t>
            </a:r>
          </a:p>
        </p:txBody>
      </p:sp>
      <p:pic>
        <p:nvPicPr>
          <p:cNvPr id="16" name="Graphic 15" descr="Store outline">
            <a:extLst>
              <a:ext uri="{FF2B5EF4-FFF2-40B4-BE49-F238E27FC236}">
                <a16:creationId xmlns:a16="http://schemas.microsoft.com/office/drawing/2014/main" id="{96375F7A-92DC-B865-D8AD-FCBB5AF0EC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82846" y="3844058"/>
            <a:ext cx="599395" cy="599395"/>
          </a:xfrm>
          <a:prstGeom prst="rect">
            <a:avLst/>
          </a:prstGeom>
        </p:spPr>
      </p:pic>
      <p:sp>
        <p:nvSpPr>
          <p:cNvPr id="17" name="Subtitle 2">
            <a:extLst>
              <a:ext uri="{FF2B5EF4-FFF2-40B4-BE49-F238E27FC236}">
                <a16:creationId xmlns:a16="http://schemas.microsoft.com/office/drawing/2014/main" id="{444547E2-CF10-12AB-293E-194C68C90A4B}"/>
              </a:ext>
            </a:extLst>
          </p:cNvPr>
          <p:cNvSpPr txBox="1">
            <a:spLocks/>
          </p:cNvSpPr>
          <p:nvPr/>
        </p:nvSpPr>
        <p:spPr>
          <a:xfrm>
            <a:off x="6107436" y="3843904"/>
            <a:ext cx="2885266" cy="490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CCCCCC"/>
              </a:buClr>
              <a:buSzPts val="1800"/>
              <a:buFont typeface="Open Sans Light"/>
              <a:buNone/>
              <a:defRPr sz="1200" b="0" i="0" u="none" strike="noStrike" cap="none">
                <a:solidFill>
                  <a:schemeClr val="lt1"/>
                </a:solidFill>
                <a:latin typeface="Open Sans Light"/>
                <a:ea typeface="Open Sans Light"/>
                <a:cs typeface="Open Sans Light"/>
                <a:sym typeface="Open Sans Light"/>
              </a:defRPr>
            </a:lvl1pPr>
            <a:lvl2pPr marL="914400" marR="0" lvl="1"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2pPr>
            <a:lvl3pPr marL="1371600" marR="0" lvl="2"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3pPr>
            <a:lvl4pPr marL="1828800" marR="0" lvl="3" indent="-3048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4pPr>
            <a:lvl5pPr marL="2286000" marR="0" lvl="4"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5pPr>
            <a:lvl6pPr marL="2743200" marR="0" lvl="5"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6pPr>
            <a:lvl7pPr marL="3200400" marR="0" lvl="6"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7pPr>
            <a:lvl8pPr marL="3657600" marR="0" lvl="7"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8pPr>
            <a:lvl9pPr marL="4114800" marR="0" lvl="8" indent="-317500" algn="ctr" rtl="0">
              <a:lnSpc>
                <a:spcPct val="100000"/>
              </a:lnSpc>
              <a:spcBef>
                <a:spcPts val="0"/>
              </a:spcBef>
              <a:spcAft>
                <a:spcPts val="0"/>
              </a:spcAft>
              <a:buClr>
                <a:srgbClr val="CCCCCC"/>
              </a:buClr>
              <a:buSzPts val="2800"/>
              <a:buFont typeface="Open Sans Light"/>
              <a:buNone/>
              <a:defRPr sz="2800" b="0" i="0" u="none" strike="noStrike" cap="none">
                <a:solidFill>
                  <a:srgbClr val="CCCCCC"/>
                </a:solidFill>
                <a:latin typeface="Open Sans Light"/>
                <a:ea typeface="Open Sans Light"/>
                <a:cs typeface="Open Sans Light"/>
                <a:sym typeface="Open Sans Light"/>
              </a:defRPr>
            </a:lvl9pPr>
          </a:lstStyle>
          <a:p>
            <a:r>
              <a:rPr lang="en-US" b="1">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rPr>
              <a:t>16,774</a:t>
            </a:r>
          </a:p>
        </p:txBody>
      </p:sp>
      <p:pic>
        <p:nvPicPr>
          <p:cNvPr id="13" name="Picture 6" descr="Dollar Tree - Discover Brookfield">
            <a:extLst>
              <a:ext uri="{FF2B5EF4-FFF2-40B4-BE49-F238E27FC236}">
                <a16:creationId xmlns:a16="http://schemas.microsoft.com/office/drawing/2014/main" id="{7A7178CC-219A-F669-4790-2A12625B1D0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8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6"/>
          <p:cNvSpPr txBox="1">
            <a:spLocks noGrp="1"/>
          </p:cNvSpPr>
          <p:nvPr>
            <p:ph type="ctrTitle"/>
          </p:nvPr>
        </p:nvSpPr>
        <p:spPr>
          <a:xfrm>
            <a:off x="381568" y="198170"/>
            <a:ext cx="1574453"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solidFill>
                  <a:srgbClr val="0FAA4B"/>
                </a:solidFill>
              </a:rPr>
              <a:t>Industry</a:t>
            </a:r>
            <a:endParaRPr sz="2800" dirty="0">
              <a:solidFill>
                <a:srgbClr val="0FAA4B"/>
              </a:solidFill>
            </a:endParaRPr>
          </a:p>
        </p:txBody>
      </p:sp>
      <p:graphicFrame>
        <p:nvGraphicFramePr>
          <p:cNvPr id="13" name="Chart 12">
            <a:extLst>
              <a:ext uri="{FF2B5EF4-FFF2-40B4-BE49-F238E27FC236}">
                <a16:creationId xmlns:a16="http://schemas.microsoft.com/office/drawing/2014/main" id="{9A6BAF17-8091-8EDB-9A95-D3D5F2E4B657}"/>
              </a:ext>
            </a:extLst>
          </p:cNvPr>
          <p:cNvGraphicFramePr>
            <a:graphicFrameLocks/>
          </p:cNvGraphicFramePr>
          <p:nvPr>
            <p:extLst>
              <p:ext uri="{D42A27DB-BD31-4B8C-83A1-F6EECF244321}">
                <p14:modId xmlns:p14="http://schemas.microsoft.com/office/powerpoint/2010/main" val="932226042"/>
              </p:ext>
            </p:extLst>
          </p:nvPr>
        </p:nvGraphicFramePr>
        <p:xfrm>
          <a:off x="187452" y="1144370"/>
          <a:ext cx="4439302" cy="29438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FD92BC72-8E39-D15A-3FB1-0A5FB300A9F3}"/>
              </a:ext>
            </a:extLst>
          </p:cNvPr>
          <p:cNvGraphicFramePr>
            <a:graphicFrameLocks/>
          </p:cNvGraphicFramePr>
          <p:nvPr>
            <p:extLst>
              <p:ext uri="{D42A27DB-BD31-4B8C-83A1-F6EECF244321}">
                <p14:modId xmlns:p14="http://schemas.microsoft.com/office/powerpoint/2010/main" val="3865262561"/>
              </p:ext>
            </p:extLst>
          </p:nvPr>
        </p:nvGraphicFramePr>
        <p:xfrm>
          <a:off x="4714360" y="1137627"/>
          <a:ext cx="4183244" cy="2943898"/>
        </p:xfrm>
        <a:graphic>
          <a:graphicData uri="http://schemas.openxmlformats.org/drawingml/2006/chart">
            <c:chart xmlns:c="http://schemas.openxmlformats.org/drawingml/2006/chart" xmlns:r="http://schemas.openxmlformats.org/officeDocument/2006/relationships" r:id="rId4"/>
          </a:graphicData>
        </a:graphic>
      </p:graphicFrame>
      <p:pic>
        <p:nvPicPr>
          <p:cNvPr id="17" name="Picture 6" descr="Dollar Tree - Discover Brookfield">
            <a:extLst>
              <a:ext uri="{FF2B5EF4-FFF2-40B4-BE49-F238E27FC236}">
                <a16:creationId xmlns:a16="http://schemas.microsoft.com/office/drawing/2014/main" id="{0C409AE5-D94E-F3AF-ECC1-A701D4E0F3E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6A17A38-98DE-4FA8-BDE9-4E8687CC5382}"/>
              </a:ext>
            </a:extLst>
          </p:cNvPr>
          <p:cNvSpPr txBox="1"/>
          <p:nvPr/>
        </p:nvSpPr>
        <p:spPr>
          <a:xfrm>
            <a:off x="8315464" y="4944933"/>
            <a:ext cx="4587610" cy="246221"/>
          </a:xfrm>
          <a:prstGeom prst="rect">
            <a:avLst/>
          </a:prstGeom>
          <a:noFill/>
        </p:spPr>
        <p:txBody>
          <a:bodyPr wrap="square">
            <a:spAutoFit/>
          </a:bodyPr>
          <a:lstStyle/>
          <a:p>
            <a:r>
              <a:rPr lang="en-US" sz="1000">
                <a:solidFill>
                  <a:srgbClr val="0FAA4B"/>
                </a:solidFill>
                <a:latin typeface="DM Serif Display" pitchFamily="2" charset="0"/>
              </a:rPr>
              <a:t>Dollar Tree</a:t>
            </a:r>
          </a:p>
        </p:txBody>
      </p:sp>
    </p:spTree>
    <p:extLst>
      <p:ext uri="{BB962C8B-B14F-4D97-AF65-F5344CB8AC3E}">
        <p14:creationId xmlns:p14="http://schemas.microsoft.com/office/powerpoint/2010/main" val="1956569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6"/>
          <p:cNvSpPr txBox="1">
            <a:spLocks noGrp="1"/>
          </p:cNvSpPr>
          <p:nvPr>
            <p:ph type="ctrTitle"/>
          </p:nvPr>
        </p:nvSpPr>
        <p:spPr>
          <a:xfrm>
            <a:off x="381000" y="470625"/>
            <a:ext cx="4901674"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Life Cycle of Dollar Tree: Mature</a:t>
            </a:r>
            <a:endParaRPr sz="2400">
              <a:solidFill>
                <a:srgbClr val="0FAA4B"/>
              </a:solidFill>
            </a:endParaRPr>
          </a:p>
        </p:txBody>
      </p:sp>
      <p:sp>
        <p:nvSpPr>
          <p:cNvPr id="4" name="Google Shape;280;p52">
            <a:extLst>
              <a:ext uri="{FF2B5EF4-FFF2-40B4-BE49-F238E27FC236}">
                <a16:creationId xmlns:a16="http://schemas.microsoft.com/office/drawing/2014/main" id="{E3CF2733-4BD9-92B3-C89B-A7C6EA21DD6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graphicFrame>
        <p:nvGraphicFramePr>
          <p:cNvPr id="9" name="Chart 8">
            <a:extLst>
              <a:ext uri="{FF2B5EF4-FFF2-40B4-BE49-F238E27FC236}">
                <a16:creationId xmlns:a16="http://schemas.microsoft.com/office/drawing/2014/main" id="{CC5B5B39-0139-AC47-BE75-BF1FB9FCD81F}"/>
              </a:ext>
            </a:extLst>
          </p:cNvPr>
          <p:cNvGraphicFramePr>
            <a:graphicFrameLocks/>
          </p:cNvGraphicFramePr>
          <p:nvPr>
            <p:extLst>
              <p:ext uri="{D42A27DB-BD31-4B8C-83A1-F6EECF244321}">
                <p14:modId xmlns:p14="http://schemas.microsoft.com/office/powerpoint/2010/main" val="1945816138"/>
              </p:ext>
            </p:extLst>
          </p:nvPr>
        </p:nvGraphicFramePr>
        <p:xfrm>
          <a:off x="3952228" y="853986"/>
          <a:ext cx="4261162" cy="4020457"/>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70F09859-897B-74AF-D8C9-6477956C3A37}"/>
              </a:ext>
            </a:extLst>
          </p:cNvPr>
          <p:cNvSpPr txBox="1"/>
          <p:nvPr/>
        </p:nvSpPr>
        <p:spPr>
          <a:xfrm>
            <a:off x="3952228" y="943725"/>
            <a:ext cx="4042881" cy="276999"/>
          </a:xfrm>
          <a:prstGeom prst="rect">
            <a:avLst/>
          </a:prstGeom>
          <a:noFill/>
        </p:spPr>
        <p:txBody>
          <a:bodyPr wrap="square" rtlCol="0">
            <a:spAutoFit/>
          </a:bodyPr>
          <a:lstStyle/>
          <a:p>
            <a:r>
              <a:rPr lang="en-US" sz="1200">
                <a:solidFill>
                  <a:schemeClr val="bg2">
                    <a:lumMod val="50000"/>
                  </a:schemeClr>
                </a:solidFill>
                <a:latin typeface="DM Serif Display" pitchFamily="2" charset="0"/>
                <a:ea typeface="Open Sans Light" panose="020B0306030504020204" pitchFamily="34" charset="0"/>
                <a:cs typeface="Open Sans Light" panose="020B0306030504020204" pitchFamily="34" charset="0"/>
              </a:rPr>
              <a:t>DLTR EBIT, EBITDA, Gross Profit Margin</a:t>
            </a:r>
          </a:p>
        </p:txBody>
      </p:sp>
      <p:pic>
        <p:nvPicPr>
          <p:cNvPr id="2050" name="Picture 2" descr="Product life cycle stages and how to use them">
            <a:extLst>
              <a:ext uri="{FF2B5EF4-FFF2-40B4-BE49-F238E27FC236}">
                <a16:creationId xmlns:a16="http://schemas.microsoft.com/office/drawing/2014/main" id="{0E002BE9-8D17-DC03-5AE1-AB2F138CF87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339" r="17765"/>
          <a:stretch/>
        </p:blipFill>
        <p:spPr bwMode="auto">
          <a:xfrm>
            <a:off x="381000" y="1772436"/>
            <a:ext cx="3296874" cy="195424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4833877-DBFF-2800-78E1-2B912939FEC0}"/>
              </a:ext>
            </a:extLst>
          </p:cNvPr>
          <p:cNvSpPr/>
          <p:nvPr/>
        </p:nvSpPr>
        <p:spPr>
          <a:xfrm>
            <a:off x="2066005" y="2055008"/>
            <a:ext cx="662731" cy="1417740"/>
          </a:xfrm>
          <a:prstGeom prst="rect">
            <a:avLst/>
          </a:prstGeom>
          <a:solidFill>
            <a:srgbClr val="0FAA4B">
              <a:alpha val="41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ollar Tree - Discover Brookfield">
            <a:extLst>
              <a:ext uri="{FF2B5EF4-FFF2-40B4-BE49-F238E27FC236}">
                <a16:creationId xmlns:a16="http://schemas.microsoft.com/office/drawing/2014/main" id="{285F5610-3A02-FABC-2F29-A2C68C38AEE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0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6"/>
          <p:cNvSpPr txBox="1">
            <a:spLocks noGrp="1"/>
          </p:cNvSpPr>
          <p:nvPr>
            <p:ph type="ctrTitle"/>
          </p:nvPr>
        </p:nvSpPr>
        <p:spPr>
          <a:xfrm>
            <a:off x="381000" y="470625"/>
            <a:ext cx="4901674"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Macro Trends</a:t>
            </a:r>
            <a:endParaRPr sz="2400">
              <a:solidFill>
                <a:srgbClr val="0FAA4B"/>
              </a:solidFill>
            </a:endParaRPr>
          </a:p>
        </p:txBody>
      </p:sp>
      <p:sp>
        <p:nvSpPr>
          <p:cNvPr id="4" name="Google Shape;280;p52">
            <a:extLst>
              <a:ext uri="{FF2B5EF4-FFF2-40B4-BE49-F238E27FC236}">
                <a16:creationId xmlns:a16="http://schemas.microsoft.com/office/drawing/2014/main" id="{E3CF2733-4BD9-92B3-C89B-A7C6EA21DD6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
        <p:nvSpPr>
          <p:cNvPr id="5" name="TextBox 4">
            <a:extLst>
              <a:ext uri="{FF2B5EF4-FFF2-40B4-BE49-F238E27FC236}">
                <a16:creationId xmlns:a16="http://schemas.microsoft.com/office/drawing/2014/main" id="{AB41FA25-06B3-5791-4C70-EF26CC035191}"/>
              </a:ext>
            </a:extLst>
          </p:cNvPr>
          <p:cNvSpPr txBox="1"/>
          <p:nvPr/>
        </p:nvSpPr>
        <p:spPr>
          <a:xfrm>
            <a:off x="381000" y="1683208"/>
            <a:ext cx="2009163" cy="369332"/>
          </a:xfrm>
          <a:prstGeom prst="rect">
            <a:avLst/>
          </a:prstGeom>
          <a:noFill/>
        </p:spPr>
        <p:txBody>
          <a:bodyPr wrap="square" rtlCol="0">
            <a:spAutoFit/>
          </a:bodyPr>
          <a:lstStyle/>
          <a:p>
            <a:pPr marL="285750" indent="-285750" algn="ctr">
              <a:buBlip>
                <a:blip r:embed="rId3"/>
              </a:buBlip>
            </a:pPr>
            <a:r>
              <a:rPr lang="en-US" sz="1800">
                <a:solidFill>
                  <a:schemeClr val="bg1"/>
                </a:solidFill>
                <a:latin typeface="DM Serif Display" pitchFamily="2" charset="0"/>
                <a:ea typeface="Open Sans Light" panose="020B0306030504020204" pitchFamily="34" charset="0"/>
                <a:cs typeface="Open Sans Light" panose="020B0306030504020204" pitchFamily="34" charset="0"/>
              </a:rPr>
              <a:t>Inflation</a:t>
            </a:r>
          </a:p>
        </p:txBody>
      </p:sp>
      <p:sp>
        <p:nvSpPr>
          <p:cNvPr id="23" name="TextBox 22">
            <a:extLst>
              <a:ext uri="{FF2B5EF4-FFF2-40B4-BE49-F238E27FC236}">
                <a16:creationId xmlns:a16="http://schemas.microsoft.com/office/drawing/2014/main" id="{F88F4BD7-2168-067B-22D7-D180F53DE5BB}"/>
              </a:ext>
            </a:extLst>
          </p:cNvPr>
          <p:cNvSpPr txBox="1"/>
          <p:nvPr/>
        </p:nvSpPr>
        <p:spPr>
          <a:xfrm>
            <a:off x="3364907" y="1713922"/>
            <a:ext cx="1874533" cy="369332"/>
          </a:xfrm>
          <a:prstGeom prst="rect">
            <a:avLst/>
          </a:prstGeom>
          <a:noFill/>
        </p:spPr>
        <p:txBody>
          <a:bodyPr wrap="square">
            <a:spAutoFit/>
          </a:bodyPr>
          <a:lstStyle/>
          <a:p>
            <a:pPr marL="285750" indent="-285750">
              <a:buBlip>
                <a:blip r:embed="rId3"/>
              </a:buBlip>
            </a:pPr>
            <a:r>
              <a:rPr lang="en-US" sz="1800">
                <a:solidFill>
                  <a:schemeClr val="bg1"/>
                </a:solidFill>
                <a:latin typeface="DM Serif Display" pitchFamily="2" charset="0"/>
                <a:ea typeface="Open Sans Light" panose="020B0306030504020204" pitchFamily="34" charset="0"/>
                <a:cs typeface="Open Sans Light" panose="020B0306030504020204" pitchFamily="34" charset="0"/>
              </a:rPr>
              <a:t>Supply Chain</a:t>
            </a:r>
          </a:p>
        </p:txBody>
      </p:sp>
      <p:sp>
        <p:nvSpPr>
          <p:cNvPr id="24" name="TextBox 23">
            <a:extLst>
              <a:ext uri="{FF2B5EF4-FFF2-40B4-BE49-F238E27FC236}">
                <a16:creationId xmlns:a16="http://schemas.microsoft.com/office/drawing/2014/main" id="{01C3F03E-11F6-930A-8886-25E1CA014EC7}"/>
              </a:ext>
            </a:extLst>
          </p:cNvPr>
          <p:cNvSpPr txBox="1"/>
          <p:nvPr/>
        </p:nvSpPr>
        <p:spPr>
          <a:xfrm>
            <a:off x="6214184" y="1752637"/>
            <a:ext cx="2321378" cy="369332"/>
          </a:xfrm>
          <a:prstGeom prst="rect">
            <a:avLst/>
          </a:prstGeom>
          <a:noFill/>
        </p:spPr>
        <p:txBody>
          <a:bodyPr wrap="square">
            <a:spAutoFit/>
          </a:bodyPr>
          <a:lstStyle/>
          <a:p>
            <a:pPr marL="285750" indent="-285750">
              <a:buBlip>
                <a:blip r:embed="rId3"/>
              </a:buBlip>
            </a:pPr>
            <a:r>
              <a:rPr lang="en-US" sz="1800">
                <a:solidFill>
                  <a:schemeClr val="bg1"/>
                </a:solidFill>
                <a:latin typeface="DM Serif Display" pitchFamily="2" charset="0"/>
                <a:ea typeface="Open Sans Light" panose="020B0306030504020204" pitchFamily="34" charset="0"/>
                <a:cs typeface="Open Sans Light" panose="020B0306030504020204" pitchFamily="34" charset="0"/>
              </a:rPr>
              <a:t>Product Offerings</a:t>
            </a:r>
          </a:p>
        </p:txBody>
      </p:sp>
      <p:pic>
        <p:nvPicPr>
          <p:cNvPr id="28" name="Picture 27" descr="US Inflation and Interest Rates - farmdoc daily">
            <a:extLst>
              <a:ext uri="{FF2B5EF4-FFF2-40B4-BE49-F238E27FC236}">
                <a16:creationId xmlns:a16="http://schemas.microsoft.com/office/drawing/2014/main" id="{8F46FA16-C409-EEA2-6C01-80DA1D2F3FF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390577"/>
            <a:ext cx="2598470" cy="1291571"/>
          </a:xfrm>
          <a:prstGeom prst="rect">
            <a:avLst/>
          </a:prstGeom>
          <a:noFill/>
          <a:ln>
            <a:noFill/>
          </a:ln>
        </p:spPr>
      </p:pic>
      <p:graphicFrame>
        <p:nvGraphicFramePr>
          <p:cNvPr id="30" name="Chart 29">
            <a:extLst>
              <a:ext uri="{FF2B5EF4-FFF2-40B4-BE49-F238E27FC236}">
                <a16:creationId xmlns:a16="http://schemas.microsoft.com/office/drawing/2014/main" id="{F9793B36-726B-7559-A4AB-3644E16C1E91}"/>
              </a:ext>
            </a:extLst>
          </p:cNvPr>
          <p:cNvGraphicFramePr/>
          <p:nvPr>
            <p:extLst>
              <p:ext uri="{D42A27DB-BD31-4B8C-83A1-F6EECF244321}">
                <p14:modId xmlns:p14="http://schemas.microsoft.com/office/powerpoint/2010/main" val="872147002"/>
              </p:ext>
            </p:extLst>
          </p:nvPr>
        </p:nvGraphicFramePr>
        <p:xfrm>
          <a:off x="3121847" y="2089391"/>
          <a:ext cx="2720494" cy="1649016"/>
        </p:xfrm>
        <a:graphic>
          <a:graphicData uri="http://schemas.openxmlformats.org/drawingml/2006/chart">
            <c:chart xmlns:c="http://schemas.openxmlformats.org/drawingml/2006/chart" xmlns:r="http://schemas.openxmlformats.org/officeDocument/2006/relationships" r:id="rId5"/>
          </a:graphicData>
        </a:graphic>
      </p:graphicFrame>
      <p:pic>
        <p:nvPicPr>
          <p:cNvPr id="35" name="Picture 34">
            <a:extLst>
              <a:ext uri="{FF2B5EF4-FFF2-40B4-BE49-F238E27FC236}">
                <a16:creationId xmlns:a16="http://schemas.microsoft.com/office/drawing/2014/main" id="{5198BCE1-6550-601E-F524-E1FD7A59991C}"/>
              </a:ext>
            </a:extLst>
          </p:cNvPr>
          <p:cNvPicPr>
            <a:picLocks noChangeAspect="1"/>
          </p:cNvPicPr>
          <p:nvPr/>
        </p:nvPicPr>
        <p:blipFill>
          <a:blip r:embed="rId6"/>
          <a:srcRect r="5500"/>
          <a:stretch/>
        </p:blipFill>
        <p:spPr>
          <a:xfrm>
            <a:off x="6167706" y="2534161"/>
            <a:ext cx="2452553" cy="1113600"/>
          </a:xfrm>
          <a:prstGeom prst="rect">
            <a:avLst/>
          </a:prstGeom>
        </p:spPr>
      </p:pic>
      <p:sp>
        <p:nvSpPr>
          <p:cNvPr id="36" name="Rectangle 35">
            <a:extLst>
              <a:ext uri="{FF2B5EF4-FFF2-40B4-BE49-F238E27FC236}">
                <a16:creationId xmlns:a16="http://schemas.microsoft.com/office/drawing/2014/main" id="{4ACA7B87-6CBF-A6D8-3ECA-24FAA69FCE54}"/>
              </a:ext>
            </a:extLst>
          </p:cNvPr>
          <p:cNvSpPr/>
          <p:nvPr/>
        </p:nvSpPr>
        <p:spPr>
          <a:xfrm>
            <a:off x="6315740" y="2816109"/>
            <a:ext cx="507324" cy="337204"/>
          </a:xfrm>
          <a:prstGeom prst="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2"/>
                </a:solidFill>
              </a:ln>
            </a:endParaRPr>
          </a:p>
        </p:txBody>
      </p:sp>
      <p:pic>
        <p:nvPicPr>
          <p:cNvPr id="37" name="Picture 6" descr="Dollar Tree - Discover Brookfield">
            <a:extLst>
              <a:ext uri="{FF2B5EF4-FFF2-40B4-BE49-F238E27FC236}">
                <a16:creationId xmlns:a16="http://schemas.microsoft.com/office/drawing/2014/main" id="{BD1600C5-4737-4B8A-5740-12811CCD3B8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269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B781-06EB-A40B-3C05-54B678B0A5C8}"/>
              </a:ext>
            </a:extLst>
          </p:cNvPr>
          <p:cNvSpPr>
            <a:spLocks noGrp="1"/>
          </p:cNvSpPr>
          <p:nvPr>
            <p:ph type="ctrTitle"/>
          </p:nvPr>
        </p:nvSpPr>
        <p:spPr>
          <a:xfrm>
            <a:off x="1709730" y="272956"/>
            <a:ext cx="5926956" cy="946200"/>
          </a:xfrm>
        </p:spPr>
        <p:txBody>
          <a:bodyPr/>
          <a:lstStyle/>
          <a:p>
            <a:r>
              <a:rPr lang="en-US" b="1" dirty="0">
                <a:solidFill>
                  <a:srgbClr val="0FAA4B"/>
                </a:solidFill>
                <a:latin typeface="Open Sans" panose="020B0606030504020204" pitchFamily="34" charset="0"/>
                <a:ea typeface="Open Sans" panose="020B0606030504020204" pitchFamily="34" charset="0"/>
                <a:cs typeface="Open Sans" panose="020B0606030504020204" pitchFamily="34" charset="0"/>
              </a:rPr>
              <a:t>How is Dollar Tree positioned within these trends? </a:t>
            </a:r>
          </a:p>
        </p:txBody>
      </p:sp>
      <p:sp>
        <p:nvSpPr>
          <p:cNvPr id="3" name="Google Shape;1359;p91">
            <a:extLst>
              <a:ext uri="{FF2B5EF4-FFF2-40B4-BE49-F238E27FC236}">
                <a16:creationId xmlns:a16="http://schemas.microsoft.com/office/drawing/2014/main" id="{CE717BDF-7B84-60D4-66B5-83FBD4F8F085}"/>
              </a:ext>
            </a:extLst>
          </p:cNvPr>
          <p:cNvSpPr/>
          <p:nvPr/>
        </p:nvSpPr>
        <p:spPr>
          <a:xfrm>
            <a:off x="581821" y="1460471"/>
            <a:ext cx="2424900" cy="2627400"/>
          </a:xfrm>
          <a:prstGeom prst="rect">
            <a:avLst/>
          </a:prstGeom>
          <a:noFill/>
          <a:ln w="1587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359;p91">
            <a:extLst>
              <a:ext uri="{FF2B5EF4-FFF2-40B4-BE49-F238E27FC236}">
                <a16:creationId xmlns:a16="http://schemas.microsoft.com/office/drawing/2014/main" id="{5868085C-EF0A-FF2C-5883-E52ECD8A9A7B}"/>
              </a:ext>
            </a:extLst>
          </p:cNvPr>
          <p:cNvSpPr/>
          <p:nvPr/>
        </p:nvSpPr>
        <p:spPr>
          <a:xfrm>
            <a:off x="3359550" y="1460471"/>
            <a:ext cx="2424900" cy="2627400"/>
          </a:xfrm>
          <a:prstGeom prst="rect">
            <a:avLst/>
          </a:prstGeom>
          <a:noFill/>
          <a:ln w="1587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1359;p91">
            <a:extLst>
              <a:ext uri="{FF2B5EF4-FFF2-40B4-BE49-F238E27FC236}">
                <a16:creationId xmlns:a16="http://schemas.microsoft.com/office/drawing/2014/main" id="{95BB36AE-3B0F-7F66-FFAF-41C00FE4E266}"/>
              </a:ext>
            </a:extLst>
          </p:cNvPr>
          <p:cNvSpPr/>
          <p:nvPr/>
        </p:nvSpPr>
        <p:spPr>
          <a:xfrm>
            <a:off x="6137279" y="1460471"/>
            <a:ext cx="2424900" cy="2627400"/>
          </a:xfrm>
          <a:prstGeom prst="rect">
            <a:avLst/>
          </a:prstGeom>
          <a:noFill/>
          <a:ln w="1587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TextBox 5">
            <a:extLst>
              <a:ext uri="{FF2B5EF4-FFF2-40B4-BE49-F238E27FC236}">
                <a16:creationId xmlns:a16="http://schemas.microsoft.com/office/drawing/2014/main" id="{4B7E0BBB-E04A-3FDE-7015-7F02C76D0186}"/>
              </a:ext>
            </a:extLst>
          </p:cNvPr>
          <p:cNvSpPr txBox="1"/>
          <p:nvPr/>
        </p:nvSpPr>
        <p:spPr>
          <a:xfrm>
            <a:off x="1242514" y="1153882"/>
            <a:ext cx="1103513" cy="307777"/>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Inflation</a:t>
            </a:r>
          </a:p>
        </p:txBody>
      </p:sp>
      <p:sp>
        <p:nvSpPr>
          <p:cNvPr id="9" name="TextBox 8">
            <a:extLst>
              <a:ext uri="{FF2B5EF4-FFF2-40B4-BE49-F238E27FC236}">
                <a16:creationId xmlns:a16="http://schemas.microsoft.com/office/drawing/2014/main" id="{7ADFBB07-F2A2-5612-2A31-EF0AA0522902}"/>
              </a:ext>
            </a:extLst>
          </p:cNvPr>
          <p:cNvSpPr txBox="1"/>
          <p:nvPr/>
        </p:nvSpPr>
        <p:spPr>
          <a:xfrm>
            <a:off x="563423" y="1665456"/>
            <a:ext cx="2292615" cy="769441"/>
          </a:xfrm>
          <a:prstGeom prst="rect">
            <a:avLst/>
          </a:prstGeom>
          <a:noFill/>
        </p:spPr>
        <p:txBody>
          <a:bodyPr wrap="none" rtlCol="0">
            <a:spAutoFit/>
          </a:bodyPr>
          <a:lstStyle/>
          <a:p>
            <a:pPr marL="91440" indent="-91440">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As mentioned, the price hike </a:t>
            </a:r>
          </a:p>
          <a:p>
            <a:r>
              <a:rPr lang="en-US" sz="1100" dirty="0">
                <a:latin typeface="Open Sans" panose="020B0606030504020204" pitchFamily="34" charset="0"/>
                <a:ea typeface="Open Sans" panose="020B0606030504020204" pitchFamily="34" charset="0"/>
                <a:cs typeface="Open Sans" panose="020B0606030504020204" pitchFamily="34" charset="0"/>
              </a:rPr>
              <a:t>Brought in an  8.6% increase in </a:t>
            </a:r>
          </a:p>
          <a:p>
            <a:r>
              <a:rPr lang="en-US" sz="1100" dirty="0">
                <a:latin typeface="Open Sans" panose="020B0606030504020204" pitchFamily="34" charset="0"/>
                <a:ea typeface="Open Sans" panose="020B0606030504020204" pitchFamily="34" charset="0"/>
                <a:cs typeface="Open Sans" panose="020B0606030504020204" pitchFamily="34" charset="0"/>
              </a:rPr>
              <a:t>revenue, and a 1.3% increase in </a:t>
            </a:r>
          </a:p>
          <a:p>
            <a:r>
              <a:rPr lang="en-US" sz="1100" dirty="0">
                <a:latin typeface="Open Sans" panose="020B0606030504020204" pitchFamily="34" charset="0"/>
                <a:ea typeface="Open Sans" panose="020B0606030504020204" pitchFamily="34" charset="0"/>
                <a:cs typeface="Open Sans" panose="020B0606030504020204" pitchFamily="34" charset="0"/>
              </a:rPr>
              <a:t>gross profit margin</a:t>
            </a:r>
          </a:p>
        </p:txBody>
      </p:sp>
      <p:sp>
        <p:nvSpPr>
          <p:cNvPr id="10" name="TextBox 9">
            <a:extLst>
              <a:ext uri="{FF2B5EF4-FFF2-40B4-BE49-F238E27FC236}">
                <a16:creationId xmlns:a16="http://schemas.microsoft.com/office/drawing/2014/main" id="{BD5FDB34-1FD4-FABB-E7D8-9A78F9403FF5}"/>
              </a:ext>
            </a:extLst>
          </p:cNvPr>
          <p:cNvSpPr txBox="1"/>
          <p:nvPr/>
        </p:nvSpPr>
        <p:spPr>
          <a:xfrm>
            <a:off x="563423" y="2768942"/>
            <a:ext cx="2299745" cy="769441"/>
          </a:xfrm>
          <a:prstGeom prst="rect">
            <a:avLst/>
          </a:prstGeom>
          <a:noFill/>
        </p:spPr>
        <p:txBody>
          <a:bodyPr wrap="square" rtlCol="0">
            <a:spAutoFit/>
          </a:bodyPr>
          <a:lstStyle/>
          <a:p>
            <a:pPr marL="91440" indent="-91440">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Appeal to cost-conscious customers, as prices are still much lower than other retailers</a:t>
            </a:r>
          </a:p>
        </p:txBody>
      </p:sp>
      <p:sp>
        <p:nvSpPr>
          <p:cNvPr id="11" name="TextBox 10">
            <a:extLst>
              <a:ext uri="{FF2B5EF4-FFF2-40B4-BE49-F238E27FC236}">
                <a16:creationId xmlns:a16="http://schemas.microsoft.com/office/drawing/2014/main" id="{89EDA090-9D02-5B38-A4CD-EADAB94DB9ED}"/>
              </a:ext>
            </a:extLst>
          </p:cNvPr>
          <p:cNvSpPr txBox="1"/>
          <p:nvPr/>
        </p:nvSpPr>
        <p:spPr>
          <a:xfrm>
            <a:off x="3934646" y="1153882"/>
            <a:ext cx="1348446" cy="307777"/>
          </a:xfrm>
          <a:prstGeom prst="rect">
            <a:avLst/>
          </a:prstGeom>
          <a:noFill/>
        </p:spPr>
        <p:txBody>
          <a:bodyPr wrap="non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Supply Chain</a:t>
            </a:r>
          </a:p>
        </p:txBody>
      </p:sp>
      <p:sp>
        <p:nvSpPr>
          <p:cNvPr id="12" name="TextBox 11">
            <a:extLst>
              <a:ext uri="{FF2B5EF4-FFF2-40B4-BE49-F238E27FC236}">
                <a16:creationId xmlns:a16="http://schemas.microsoft.com/office/drawing/2014/main" id="{EB55B425-E4D2-E04E-D174-D30711851F6B}"/>
              </a:ext>
            </a:extLst>
          </p:cNvPr>
          <p:cNvSpPr txBox="1"/>
          <p:nvPr/>
        </p:nvSpPr>
        <p:spPr>
          <a:xfrm>
            <a:off x="3429000" y="1583871"/>
            <a:ext cx="2261507" cy="600164"/>
          </a:xfrm>
          <a:prstGeom prst="rect">
            <a:avLst/>
          </a:prstGeom>
          <a:noFill/>
        </p:spPr>
        <p:txBody>
          <a:bodyPr wrap="square" rtlCol="0">
            <a:spAutoFit/>
          </a:bodyPr>
          <a:lstStyle/>
          <a:p>
            <a:pPr marL="91440" indent="-91440">
              <a:buFont typeface="Arial" panose="020B0604020202020204" pitchFamily="34" charset="0"/>
              <a:buChar char="•"/>
            </a:pPr>
            <a:r>
              <a:rPr lang="en-US" sz="1100">
                <a:latin typeface="Open Sans" panose="020B0606030504020204" pitchFamily="34" charset="0"/>
                <a:ea typeface="Open Sans" panose="020B0606030504020204" pitchFamily="34" charset="0"/>
                <a:cs typeface="Open Sans" panose="020B0606030504020204" pitchFamily="34" charset="0"/>
              </a:rPr>
              <a:t>Although hard to mitigate, the supply chain is set to stabilize within the next couple year</a:t>
            </a:r>
          </a:p>
        </p:txBody>
      </p:sp>
      <p:sp>
        <p:nvSpPr>
          <p:cNvPr id="13" name="TextBox 12">
            <a:extLst>
              <a:ext uri="{FF2B5EF4-FFF2-40B4-BE49-F238E27FC236}">
                <a16:creationId xmlns:a16="http://schemas.microsoft.com/office/drawing/2014/main" id="{6AB730E6-D58C-4624-1216-7DA31EE74C84}"/>
              </a:ext>
            </a:extLst>
          </p:cNvPr>
          <p:cNvSpPr txBox="1"/>
          <p:nvPr/>
        </p:nvSpPr>
        <p:spPr>
          <a:xfrm>
            <a:off x="3429001" y="2645229"/>
            <a:ext cx="2261506" cy="1107996"/>
          </a:xfrm>
          <a:prstGeom prst="rect">
            <a:avLst/>
          </a:prstGeom>
          <a:noFill/>
        </p:spPr>
        <p:txBody>
          <a:bodyPr wrap="square" rtlCol="0">
            <a:spAutoFit/>
          </a:bodyPr>
          <a:lstStyle/>
          <a:p>
            <a:pPr marL="171450" indent="-171450">
              <a:buFont typeface="Arial" panose="020B0604020202020204" pitchFamily="34" charset="0"/>
              <a:buChar char="•"/>
            </a:pPr>
            <a:r>
              <a:rPr lang="en-US" sz="1100">
                <a:latin typeface="Open Sans" panose="020B0606030504020204" pitchFamily="34" charset="0"/>
                <a:ea typeface="Open Sans" panose="020B0606030504020204" pitchFamily="34" charset="0"/>
                <a:cs typeface="Open Sans" panose="020B0606030504020204" pitchFamily="34" charset="0"/>
              </a:rPr>
              <a:t>As for Dollar Tree, some proactive measures would negotiate prices with suppliers, strengthen available stock, and even seek new distributors</a:t>
            </a:r>
          </a:p>
        </p:txBody>
      </p:sp>
      <p:sp>
        <p:nvSpPr>
          <p:cNvPr id="14" name="TextBox 13">
            <a:extLst>
              <a:ext uri="{FF2B5EF4-FFF2-40B4-BE49-F238E27FC236}">
                <a16:creationId xmlns:a16="http://schemas.microsoft.com/office/drawing/2014/main" id="{B91524D4-AC75-E0D5-09E3-1C068C4ACF40}"/>
              </a:ext>
            </a:extLst>
          </p:cNvPr>
          <p:cNvSpPr txBox="1"/>
          <p:nvPr/>
        </p:nvSpPr>
        <p:spPr>
          <a:xfrm>
            <a:off x="6604066" y="1153882"/>
            <a:ext cx="1681871" cy="307777"/>
          </a:xfrm>
          <a:prstGeom prst="rect">
            <a:avLst/>
          </a:prstGeom>
          <a:noFill/>
        </p:spPr>
        <p:txBody>
          <a:bodyPr wrap="non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Product Offering</a:t>
            </a:r>
          </a:p>
        </p:txBody>
      </p:sp>
      <p:sp>
        <p:nvSpPr>
          <p:cNvPr id="15" name="TextBox 14">
            <a:extLst>
              <a:ext uri="{FF2B5EF4-FFF2-40B4-BE49-F238E27FC236}">
                <a16:creationId xmlns:a16="http://schemas.microsoft.com/office/drawing/2014/main" id="{601FAA3D-D2DD-0578-AC5F-6B8967477543}"/>
              </a:ext>
            </a:extLst>
          </p:cNvPr>
          <p:cNvSpPr txBox="1"/>
          <p:nvPr/>
        </p:nvSpPr>
        <p:spPr>
          <a:xfrm>
            <a:off x="6253843" y="1665456"/>
            <a:ext cx="2041071" cy="769441"/>
          </a:xfrm>
          <a:prstGeom prst="rect">
            <a:avLst/>
          </a:prstGeom>
          <a:noFill/>
        </p:spPr>
        <p:txBody>
          <a:bodyPr wrap="square" rtlCol="0">
            <a:spAutoFit/>
          </a:bodyPr>
          <a:lstStyle/>
          <a:p>
            <a:pPr marL="171450" indent="-171450">
              <a:buFont typeface="Arial" panose="020B0604020202020204" pitchFamily="34" charset="0"/>
              <a:buChar char="•"/>
            </a:pPr>
            <a:r>
              <a:rPr lang="en-US" sz="1100">
                <a:latin typeface="Open Sans" panose="020B0606030504020204" pitchFamily="34" charset="0"/>
                <a:ea typeface="Open Sans" panose="020B0606030504020204" pitchFamily="34" charset="0"/>
                <a:cs typeface="Open Sans" panose="020B0606030504020204" pitchFamily="34" charset="0"/>
              </a:rPr>
              <a:t>The new pricing allows Dollar Tree to introduce new product to their stores</a:t>
            </a:r>
          </a:p>
        </p:txBody>
      </p:sp>
      <p:sp>
        <p:nvSpPr>
          <p:cNvPr id="16" name="TextBox 15">
            <a:extLst>
              <a:ext uri="{FF2B5EF4-FFF2-40B4-BE49-F238E27FC236}">
                <a16:creationId xmlns:a16="http://schemas.microsoft.com/office/drawing/2014/main" id="{7279F9C8-B182-8BA6-23AF-AD4FF09AAD82}"/>
              </a:ext>
            </a:extLst>
          </p:cNvPr>
          <p:cNvSpPr txBox="1"/>
          <p:nvPr/>
        </p:nvSpPr>
        <p:spPr>
          <a:xfrm>
            <a:off x="6253843" y="2639882"/>
            <a:ext cx="2188028" cy="769441"/>
          </a:xfrm>
          <a:prstGeom prst="rect">
            <a:avLst/>
          </a:prstGeom>
          <a:noFill/>
        </p:spPr>
        <p:txBody>
          <a:bodyPr wrap="square" rtlCol="0">
            <a:spAutoFit/>
          </a:bodyPr>
          <a:lstStyle/>
          <a:p>
            <a:pPr marL="171450" indent="-171450">
              <a:buFont typeface="Arial" panose="020B0604020202020204" pitchFamily="34" charset="0"/>
              <a:buChar char="•"/>
            </a:pPr>
            <a:r>
              <a:rPr lang="en-US" sz="1100">
                <a:latin typeface="Open Sans" panose="020B0606030504020204" pitchFamily="34" charset="0"/>
                <a:ea typeface="Open Sans" panose="020B0606030504020204" pitchFamily="34" charset="0"/>
                <a:cs typeface="Open Sans" panose="020B0606030504020204" pitchFamily="34" charset="0"/>
              </a:rPr>
              <a:t>Having a wider range of products allows for more customers and thus a higher customer loyalty rate</a:t>
            </a:r>
          </a:p>
        </p:txBody>
      </p:sp>
      <p:pic>
        <p:nvPicPr>
          <p:cNvPr id="22" name="Picture 6" descr="Dollar Tree - Discover Brookfield">
            <a:extLst>
              <a:ext uri="{FF2B5EF4-FFF2-40B4-BE49-F238E27FC236}">
                <a16:creationId xmlns:a16="http://schemas.microsoft.com/office/drawing/2014/main" id="{3BEC0B3F-F20C-A210-1461-6A29C21D27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23" name="Google Shape;280;p52">
            <a:extLst>
              <a:ext uri="{FF2B5EF4-FFF2-40B4-BE49-F238E27FC236}">
                <a16:creationId xmlns:a16="http://schemas.microsoft.com/office/drawing/2014/main" id="{B8520F74-3DA6-2C6D-DF9A-3E56D6E61AD8}"/>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79291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30A0-1E77-4FB4-8D48-2C3E06172457}"/>
              </a:ext>
            </a:extLst>
          </p:cNvPr>
          <p:cNvSpPr>
            <a:spLocks noGrp="1"/>
          </p:cNvSpPr>
          <p:nvPr>
            <p:ph type="ctrTitle"/>
          </p:nvPr>
        </p:nvSpPr>
        <p:spPr>
          <a:xfrm>
            <a:off x="1000021" y="621918"/>
            <a:ext cx="3409688" cy="463225"/>
          </a:xfrm>
        </p:spPr>
        <p:txBody>
          <a:bodyPr/>
          <a:lstStyle/>
          <a:p>
            <a:r>
              <a:rPr lang="en-US" sz="2800" b="1" dirty="0">
                <a:latin typeface="Open Sans" panose="020B0606030504020204" pitchFamily="34" charset="0"/>
                <a:ea typeface="Open Sans" panose="020B0606030504020204" pitchFamily="34" charset="0"/>
                <a:cs typeface="Open Sans" panose="020B0606030504020204" pitchFamily="34" charset="0"/>
              </a:rPr>
              <a:t>Historical Growth </a:t>
            </a:r>
          </a:p>
        </p:txBody>
      </p:sp>
      <p:graphicFrame>
        <p:nvGraphicFramePr>
          <p:cNvPr id="4" name="Chart 3">
            <a:extLst>
              <a:ext uri="{FF2B5EF4-FFF2-40B4-BE49-F238E27FC236}">
                <a16:creationId xmlns:a16="http://schemas.microsoft.com/office/drawing/2014/main" id="{B3EB112D-35AA-1699-B4DF-780B5E1767E6}"/>
              </a:ext>
            </a:extLst>
          </p:cNvPr>
          <p:cNvGraphicFramePr/>
          <p:nvPr>
            <p:extLst>
              <p:ext uri="{D42A27DB-BD31-4B8C-83A1-F6EECF244321}">
                <p14:modId xmlns:p14="http://schemas.microsoft.com/office/powerpoint/2010/main" val="2651671673"/>
              </p:ext>
            </p:extLst>
          </p:nvPr>
        </p:nvGraphicFramePr>
        <p:xfrm>
          <a:off x="5409731" y="1421229"/>
          <a:ext cx="3654756" cy="235688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97939AF-D4CB-8712-6929-1C05BE521F5B}"/>
              </a:ext>
            </a:extLst>
          </p:cNvPr>
          <p:cNvSpPr txBox="1"/>
          <p:nvPr/>
        </p:nvSpPr>
        <p:spPr>
          <a:xfrm>
            <a:off x="7290" y="1421229"/>
            <a:ext cx="5402441" cy="830997"/>
          </a:xfrm>
          <a:prstGeom prst="rect">
            <a:avLst/>
          </a:prstGeom>
          <a:noFill/>
        </p:spPr>
        <p:txBody>
          <a:bodyPr wrap="none" rtlCol="0">
            <a:spAutoFit/>
          </a:bodyPr>
          <a:lstStyle/>
          <a:p>
            <a:pPr marL="91440" indent="-91440">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As seen in the chart Dollar Tree has strong Revenue growth </a:t>
            </a:r>
          </a:p>
          <a:p>
            <a:r>
              <a:rPr lang="en-US" sz="1200" dirty="0">
                <a:latin typeface="Open Sans" panose="020B0606030504020204" pitchFamily="34" charset="0"/>
                <a:ea typeface="Open Sans" panose="020B0606030504020204" pitchFamily="34" charset="0"/>
                <a:cs typeface="Open Sans" panose="020B0606030504020204" pitchFamily="34" charset="0"/>
              </a:rPr>
              <a:t>and is expected to keep inhibiting this growth as 2023 numbers suggest. </a:t>
            </a:r>
          </a:p>
          <a:p>
            <a:r>
              <a:rPr lang="en-US" sz="1200" dirty="0">
                <a:latin typeface="Open Sans" panose="020B0606030504020204" pitchFamily="34" charset="0"/>
                <a:ea typeface="Open Sans" panose="020B0606030504020204" pitchFamily="34" charset="0"/>
                <a:cs typeface="Open Sans" panose="020B0606030504020204" pitchFamily="34" charset="0"/>
              </a:rPr>
              <a:t>The growth is fueled by the strong business model, which emphasizes </a:t>
            </a:r>
          </a:p>
          <a:p>
            <a:r>
              <a:rPr lang="en-US" sz="1200" dirty="0">
                <a:latin typeface="Open Sans" panose="020B0606030504020204" pitchFamily="34" charset="0"/>
                <a:ea typeface="Open Sans" panose="020B0606030504020204" pitchFamily="34" charset="0"/>
                <a:cs typeface="Open Sans" panose="020B0606030504020204" pitchFamily="34" charset="0"/>
              </a:rPr>
              <a:t>affordability and a diverse product offering</a:t>
            </a:r>
          </a:p>
        </p:txBody>
      </p:sp>
      <p:sp>
        <p:nvSpPr>
          <p:cNvPr id="6" name="TextBox 5">
            <a:extLst>
              <a:ext uri="{FF2B5EF4-FFF2-40B4-BE49-F238E27FC236}">
                <a16:creationId xmlns:a16="http://schemas.microsoft.com/office/drawing/2014/main" id="{68AE38D7-6C8C-0D09-8220-CA13AEE4804C}"/>
              </a:ext>
            </a:extLst>
          </p:cNvPr>
          <p:cNvSpPr txBox="1"/>
          <p:nvPr/>
        </p:nvSpPr>
        <p:spPr>
          <a:xfrm>
            <a:off x="0" y="2461172"/>
            <a:ext cx="5409731" cy="461665"/>
          </a:xfrm>
          <a:prstGeom prst="rect">
            <a:avLst/>
          </a:prstGeom>
          <a:noFill/>
        </p:spPr>
        <p:txBody>
          <a:bodyPr wrap="square" rtlCol="0">
            <a:spAutoFit/>
          </a:bodyPr>
          <a:lstStyle/>
          <a:p>
            <a:pPr marL="91440" indent="-91440">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And with the 25% price hike, we have seen the jump in revenue from 2022 to 2023 to be stronger than the preceding years</a:t>
            </a:r>
          </a:p>
        </p:txBody>
      </p:sp>
      <p:sp>
        <p:nvSpPr>
          <p:cNvPr id="7" name="TextBox 6">
            <a:extLst>
              <a:ext uri="{FF2B5EF4-FFF2-40B4-BE49-F238E27FC236}">
                <a16:creationId xmlns:a16="http://schemas.microsoft.com/office/drawing/2014/main" id="{0460B70C-7CD2-DA5F-BACF-A99478C2BB43}"/>
              </a:ext>
            </a:extLst>
          </p:cNvPr>
          <p:cNvSpPr txBox="1"/>
          <p:nvPr/>
        </p:nvSpPr>
        <p:spPr>
          <a:xfrm>
            <a:off x="7290" y="3131784"/>
            <a:ext cx="5402441" cy="646331"/>
          </a:xfrm>
          <a:prstGeom prst="rect">
            <a:avLst/>
          </a:prstGeom>
          <a:noFill/>
        </p:spPr>
        <p:txBody>
          <a:bodyPr wrap="square" rtlCol="0">
            <a:spAutoFit/>
          </a:bodyPr>
          <a:lstStyle/>
          <a:p>
            <a:pPr marL="91440" indent="-91440">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With Dollar Tree Plus! being integrated into new stores it provides new products to an already product dense product selection further increases customer traffic and thus revenue</a:t>
            </a:r>
          </a:p>
        </p:txBody>
      </p:sp>
      <p:pic>
        <p:nvPicPr>
          <p:cNvPr id="15" name="Picture 6" descr="Dollar Tree - Discover Brookfield">
            <a:extLst>
              <a:ext uri="{FF2B5EF4-FFF2-40B4-BE49-F238E27FC236}">
                <a16:creationId xmlns:a16="http://schemas.microsoft.com/office/drawing/2014/main" id="{E6702A9F-5713-42E2-903F-9179BA9742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280;p52">
            <a:extLst>
              <a:ext uri="{FF2B5EF4-FFF2-40B4-BE49-F238E27FC236}">
                <a16:creationId xmlns:a16="http://schemas.microsoft.com/office/drawing/2014/main" id="{DEC6D85B-43EB-0120-7CDE-E5CF4360563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1438207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2"/>
          <p:cNvSpPr/>
          <p:nvPr/>
        </p:nvSpPr>
        <p:spPr>
          <a:xfrm>
            <a:off x="1578888" y="1536078"/>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79" name="Google Shape;279;p52"/>
          <p:cNvSpPr/>
          <p:nvPr/>
        </p:nvSpPr>
        <p:spPr>
          <a:xfrm>
            <a:off x="-99062" y="3110610"/>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98" name="Google Shape;298;p52"/>
          <p:cNvSpPr txBox="1">
            <a:spLocks noGrp="1"/>
          </p:cNvSpPr>
          <p:nvPr>
            <p:ph type="ctrTitle"/>
          </p:nvPr>
        </p:nvSpPr>
        <p:spPr>
          <a:xfrm>
            <a:off x="567069" y="472463"/>
            <a:ext cx="2806995"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Table of Contents</a:t>
            </a:r>
            <a:endParaRPr sz="2400">
              <a:solidFill>
                <a:srgbClr val="0FAA4B"/>
              </a:solidFill>
            </a:endParaRPr>
          </a:p>
        </p:txBody>
      </p:sp>
      <p:sp>
        <p:nvSpPr>
          <p:cNvPr id="280" name="Google Shape;280;p52"/>
          <p:cNvSpPr txBox="1">
            <a:spLocks noGrp="1"/>
          </p:cNvSpPr>
          <p:nvPr>
            <p:ph type="ctrTitle" idx="2"/>
          </p:nvPr>
        </p:nvSpPr>
        <p:spPr>
          <a:xfrm>
            <a:off x="2488748" y="2202425"/>
            <a:ext cx="1550744"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600">
                <a:solidFill>
                  <a:schemeClr val="tx1">
                    <a:lumMod val="75000"/>
                  </a:schemeClr>
                </a:solidFill>
              </a:rPr>
              <a:t>Business</a:t>
            </a:r>
            <a:r>
              <a:rPr lang="en" sz="1600"/>
              <a:t> </a:t>
            </a:r>
            <a:r>
              <a:rPr lang="en" sz="1600">
                <a:solidFill>
                  <a:schemeClr val="tx1">
                    <a:lumMod val="75000"/>
                  </a:schemeClr>
                </a:solidFill>
              </a:rPr>
              <a:t>overview</a:t>
            </a:r>
            <a:endParaRPr sz="1600">
              <a:solidFill>
                <a:schemeClr val="tx1">
                  <a:lumMod val="75000"/>
                </a:schemeClr>
              </a:solidFill>
            </a:endParaRPr>
          </a:p>
        </p:txBody>
      </p:sp>
      <p:sp>
        <p:nvSpPr>
          <p:cNvPr id="282" name="Google Shape;282;p52">
            <a:hlinkClick r:id="rId3" action="ppaction://hlinksldjump"/>
          </p:cNvPr>
          <p:cNvSpPr txBox="1">
            <a:spLocks noGrp="1"/>
          </p:cNvSpPr>
          <p:nvPr>
            <p:ph type="title" idx="3"/>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01</a:t>
            </a:r>
            <a:endParaRPr>
              <a:solidFill>
                <a:schemeClr val="tx1">
                  <a:lumMod val="75000"/>
                </a:schemeClr>
              </a:solidFill>
            </a:endParaRPr>
          </a:p>
        </p:txBody>
      </p:sp>
      <p:sp>
        <p:nvSpPr>
          <p:cNvPr id="283" name="Google Shape;283;p52"/>
          <p:cNvSpPr txBox="1">
            <a:spLocks noGrp="1"/>
          </p:cNvSpPr>
          <p:nvPr>
            <p:ph type="ctrTitle" idx="4"/>
          </p:nvPr>
        </p:nvSpPr>
        <p:spPr>
          <a:xfrm>
            <a:off x="4624412" y="2199025"/>
            <a:ext cx="1593175"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bg1"/>
                </a:solidFill>
                <a:effectLst/>
                <a:latin typeface="Times New Roman" panose="02020603050405020304" pitchFamily="18" charset="0"/>
                <a:ea typeface="Trebuchet MS" panose="020B0603020202020204" pitchFamily="34" charset="0"/>
              </a:rPr>
              <a:t>Competitive Analysis </a:t>
            </a:r>
            <a:endParaRPr lang="en-US" sz="1600">
              <a:solidFill>
                <a:schemeClr val="bg1"/>
              </a:solidFill>
            </a:endParaRPr>
          </a:p>
        </p:txBody>
      </p:sp>
      <p:sp>
        <p:nvSpPr>
          <p:cNvPr id="285" name="Google Shape;285;p52">
            <a:hlinkClick r:id="rId4" action="ppaction://hlinksldjump"/>
          </p:cNvPr>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bg1"/>
                </a:solidFill>
              </a:rPr>
              <a:t>02</a:t>
            </a:r>
            <a:endParaRPr dirty="0">
              <a:solidFill>
                <a:schemeClr val="bg1"/>
              </a:solidFill>
            </a:endParaRPr>
          </a:p>
        </p:txBody>
      </p:sp>
      <p:sp>
        <p:nvSpPr>
          <p:cNvPr id="286" name="Google Shape;286;p52"/>
          <p:cNvSpPr txBox="1">
            <a:spLocks noGrp="1"/>
          </p:cNvSpPr>
          <p:nvPr>
            <p:ph type="ctrTitle" idx="7"/>
          </p:nvPr>
        </p:nvSpPr>
        <p:spPr>
          <a:xfrm>
            <a:off x="6504170" y="2199050"/>
            <a:ext cx="1914970" cy="3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Conclusion</a:t>
            </a:r>
            <a:endParaRPr lang="en-US" sz="1600">
              <a:solidFill>
                <a:schemeClr val="tx1">
                  <a:lumMod val="75000"/>
                </a:schemeClr>
              </a:solidFill>
            </a:endParaRPr>
          </a:p>
        </p:txBody>
      </p:sp>
      <p:sp>
        <p:nvSpPr>
          <p:cNvPr id="288" name="Google Shape;288;p52">
            <a:hlinkClick r:id="rId5" action="ppaction://hlinksldjump"/>
          </p:cNvPr>
          <p:cNvSpPr txBox="1">
            <a:spLocks noGrp="1"/>
          </p:cNvSpPr>
          <p:nvPr>
            <p:ph type="title" idx="9"/>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03</a:t>
            </a:r>
            <a:endParaRPr>
              <a:solidFill>
                <a:schemeClr val="tx1">
                  <a:lumMod val="75000"/>
                </a:schemeClr>
              </a:solidFill>
            </a:endParaRPr>
          </a:p>
        </p:txBody>
      </p:sp>
      <p:sp>
        <p:nvSpPr>
          <p:cNvPr id="289" name="Google Shape;289;p52"/>
          <p:cNvSpPr txBox="1">
            <a:spLocks noGrp="1"/>
          </p:cNvSpPr>
          <p:nvPr>
            <p:ph type="ctrTitle" idx="13"/>
          </p:nvPr>
        </p:nvSpPr>
        <p:spPr>
          <a:xfrm>
            <a:off x="1817078" y="3688700"/>
            <a:ext cx="1779728"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Recommendation</a:t>
            </a:r>
            <a:endParaRPr lang="en-US" sz="1600">
              <a:solidFill>
                <a:schemeClr val="tx1">
                  <a:lumMod val="75000"/>
                </a:schemeClr>
              </a:solidFill>
            </a:endParaRPr>
          </a:p>
        </p:txBody>
      </p:sp>
      <p:sp>
        <p:nvSpPr>
          <p:cNvPr id="291" name="Google Shape;291;p52">
            <a:hlinkClick r:id="rId6" action="ppaction://hlinksldjump"/>
          </p:cNvPr>
          <p:cNvSpPr txBox="1">
            <a:spLocks noGrp="1"/>
          </p:cNvSpPr>
          <p:nvPr>
            <p:ph type="title" idx="15"/>
          </p:nvPr>
        </p:nvSpPr>
        <p:spPr>
          <a:xfrm>
            <a:off x="1843006" y="325574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04</a:t>
            </a:r>
            <a:endParaRPr>
              <a:solidFill>
                <a:schemeClr val="tx1">
                  <a:lumMod val="75000"/>
                </a:schemeClr>
              </a:solidFill>
            </a:endParaRPr>
          </a:p>
        </p:txBody>
      </p:sp>
      <p:sp>
        <p:nvSpPr>
          <p:cNvPr id="292" name="Google Shape;292;p52"/>
          <p:cNvSpPr txBox="1">
            <a:spLocks noGrp="1"/>
          </p:cNvSpPr>
          <p:nvPr>
            <p:ph type="ctrTitle" idx="16"/>
          </p:nvPr>
        </p:nvSpPr>
        <p:spPr>
          <a:xfrm>
            <a:off x="4173660" y="3829554"/>
            <a:ext cx="1140095" cy="4219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Appendix</a:t>
            </a:r>
            <a:r>
              <a:rPr lang="en-US" sz="1600">
                <a:solidFill>
                  <a:schemeClr val="tx1">
                    <a:lumMod val="75000"/>
                  </a:schemeClr>
                </a:solidFill>
                <a:effectLst/>
                <a:latin typeface="Times New Roman" panose="02020603050405020304" pitchFamily="18" charset="0"/>
                <a:ea typeface="Trebuchet MS" panose="020B0603020202020204" pitchFamily="34" charset="0"/>
              </a:rPr>
              <a:t> </a:t>
            </a:r>
            <a:endParaRPr lang="en-US" sz="1600">
              <a:solidFill>
                <a:schemeClr val="tx1">
                  <a:lumMod val="75000"/>
                </a:schemeClr>
              </a:solidFill>
            </a:endParaRPr>
          </a:p>
        </p:txBody>
      </p:sp>
      <p:sp>
        <p:nvSpPr>
          <p:cNvPr id="294" name="Google Shape;294;p52">
            <a:hlinkClick r:id="rId7" action="ppaction://hlinksldjump"/>
          </p:cNvPr>
          <p:cNvSpPr txBox="1">
            <a:spLocks noGrp="1"/>
          </p:cNvSpPr>
          <p:nvPr>
            <p:ph type="title" idx="18"/>
          </p:nvPr>
        </p:nvSpPr>
        <p:spPr>
          <a:xfrm>
            <a:off x="4160696" y="328665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05</a:t>
            </a:r>
            <a:endParaRPr>
              <a:solidFill>
                <a:schemeClr val="tx1">
                  <a:lumMod val="75000"/>
                </a:schemeClr>
              </a:solidFill>
            </a:endParaRPr>
          </a:p>
        </p:txBody>
      </p:sp>
      <p:pic>
        <p:nvPicPr>
          <p:cNvPr id="4" name="Picture 3">
            <a:extLst>
              <a:ext uri="{FF2B5EF4-FFF2-40B4-BE49-F238E27FC236}">
                <a16:creationId xmlns:a16="http://schemas.microsoft.com/office/drawing/2014/main" id="{420E7DA3-C96C-605D-F2D3-F6170F524648}"/>
              </a:ext>
            </a:extLst>
          </p:cNvPr>
          <p:cNvPicPr>
            <a:picLocks noChangeAspect="1"/>
          </p:cNvPicPr>
          <p:nvPr/>
        </p:nvPicPr>
        <p:blipFill>
          <a:blip r:embed="rId8"/>
          <a:stretch>
            <a:fillRect/>
          </a:stretch>
        </p:blipFill>
        <p:spPr>
          <a:xfrm>
            <a:off x="76147" y="4270931"/>
            <a:ext cx="762106" cy="800212"/>
          </a:xfrm>
          <a:prstGeom prst="rect">
            <a:avLst/>
          </a:prstGeom>
        </p:spPr>
      </p:pic>
      <p:pic>
        <p:nvPicPr>
          <p:cNvPr id="2" name="Picture 6" descr="Dollar Tree - Discover Brookfield">
            <a:extLst>
              <a:ext uri="{FF2B5EF4-FFF2-40B4-BE49-F238E27FC236}">
                <a16:creationId xmlns:a16="http://schemas.microsoft.com/office/drawing/2014/main" id="{CAFBB6F9-CD7A-5D56-993A-40636D347C2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280;p52">
            <a:extLst>
              <a:ext uri="{FF2B5EF4-FFF2-40B4-BE49-F238E27FC236}">
                <a16:creationId xmlns:a16="http://schemas.microsoft.com/office/drawing/2014/main" id="{91F7769C-F971-1049-9C89-E68A6E6F7D06}"/>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198178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5643-F118-C0FD-2E21-9A6BD450D76D}"/>
              </a:ext>
            </a:extLst>
          </p:cNvPr>
          <p:cNvSpPr>
            <a:spLocks noGrp="1"/>
          </p:cNvSpPr>
          <p:nvPr>
            <p:ph type="ctrTitle"/>
          </p:nvPr>
        </p:nvSpPr>
        <p:spPr>
          <a:xfrm>
            <a:off x="677418" y="343622"/>
            <a:ext cx="2934900" cy="946200"/>
          </a:xfrm>
        </p:spPr>
        <p:txBody>
          <a:bodyPr/>
          <a:lstStyle/>
          <a:p>
            <a:r>
              <a:rPr lang="en-US" sz="2400">
                <a:solidFill>
                  <a:srgbClr val="0FAA4B"/>
                </a:solidFill>
              </a:rPr>
              <a:t>Key Players</a:t>
            </a:r>
            <a:br>
              <a:rPr lang="en-US" sz="2400">
                <a:solidFill>
                  <a:srgbClr val="0FAA4B"/>
                </a:solidFill>
              </a:rPr>
            </a:br>
            <a:endParaRPr lang="en-US" sz="2400">
              <a:solidFill>
                <a:srgbClr val="0FAA4B"/>
              </a:solidFill>
            </a:endParaRPr>
          </a:p>
        </p:txBody>
      </p:sp>
      <p:pic>
        <p:nvPicPr>
          <p:cNvPr id="21" name="Picture 20" descr="A red and black target logo&#10;&#10;Description automatically generated">
            <a:extLst>
              <a:ext uri="{FF2B5EF4-FFF2-40B4-BE49-F238E27FC236}">
                <a16:creationId xmlns:a16="http://schemas.microsoft.com/office/drawing/2014/main" id="{BCFCFC4A-7575-671B-B224-B565D17ADAD4}"/>
              </a:ext>
            </a:extLst>
          </p:cNvPr>
          <p:cNvPicPr>
            <a:picLocks noChangeAspect="1"/>
          </p:cNvPicPr>
          <p:nvPr/>
        </p:nvPicPr>
        <p:blipFill>
          <a:blip r:embed="rId3"/>
          <a:stretch>
            <a:fillRect/>
          </a:stretch>
        </p:blipFill>
        <p:spPr>
          <a:xfrm>
            <a:off x="6099412" y="2571218"/>
            <a:ext cx="2818635" cy="1627984"/>
          </a:xfrm>
          <a:prstGeom prst="rect">
            <a:avLst/>
          </a:prstGeom>
        </p:spPr>
      </p:pic>
      <p:pic>
        <p:nvPicPr>
          <p:cNvPr id="22" name="Picture 21" descr="A logo of a walmart company&#10;&#10;Description automatically generated">
            <a:extLst>
              <a:ext uri="{FF2B5EF4-FFF2-40B4-BE49-F238E27FC236}">
                <a16:creationId xmlns:a16="http://schemas.microsoft.com/office/drawing/2014/main" id="{3EB0B5E8-D595-B392-05B6-6BA180D36DA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t="-590" r="17426" b="16071"/>
          <a:stretch/>
        </p:blipFill>
        <p:spPr>
          <a:xfrm>
            <a:off x="2286841" y="2249789"/>
            <a:ext cx="1852453" cy="2006233"/>
          </a:xfrm>
          <a:prstGeom prst="rect">
            <a:avLst/>
          </a:prstGeom>
        </p:spPr>
      </p:pic>
      <p:pic>
        <p:nvPicPr>
          <p:cNvPr id="23" name="Picture 22" descr="A yellow square with black letters&#10;&#10;Description automatically generated">
            <a:extLst>
              <a:ext uri="{FF2B5EF4-FFF2-40B4-BE49-F238E27FC236}">
                <a16:creationId xmlns:a16="http://schemas.microsoft.com/office/drawing/2014/main" id="{BB19CBC8-8A82-7F1F-2647-EC9D08EF37A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201848" y="1561507"/>
            <a:ext cx="2238245" cy="1695649"/>
          </a:xfrm>
          <a:prstGeom prst="rect">
            <a:avLst/>
          </a:prstGeom>
        </p:spPr>
      </p:pic>
      <p:pic>
        <p:nvPicPr>
          <p:cNvPr id="24" name="Picture 23" descr="A red and blue logo&#10;&#10;Description automatically generated">
            <a:extLst>
              <a:ext uri="{FF2B5EF4-FFF2-40B4-BE49-F238E27FC236}">
                <a16:creationId xmlns:a16="http://schemas.microsoft.com/office/drawing/2014/main" id="{0D27944E-BDDD-DF1B-DF9A-9D65E686EBA2}"/>
              </a:ext>
            </a:extLst>
          </p:cNvPr>
          <p:cNvPicPr>
            <a:picLocks noChangeAspect="1"/>
          </p:cNvPicPr>
          <p:nvPr/>
        </p:nvPicPr>
        <p:blipFill>
          <a:blip r:embed="rId8"/>
          <a:srcRect t="14729" r="1130" b="31615"/>
          <a:stretch/>
        </p:blipFill>
        <p:spPr>
          <a:xfrm>
            <a:off x="4255407" y="1617070"/>
            <a:ext cx="2551723" cy="1267465"/>
          </a:xfrm>
          <a:prstGeom prst="rect">
            <a:avLst/>
          </a:prstGeom>
        </p:spPr>
      </p:pic>
      <p:pic>
        <p:nvPicPr>
          <p:cNvPr id="3" name="Picture 2">
            <a:extLst>
              <a:ext uri="{FF2B5EF4-FFF2-40B4-BE49-F238E27FC236}">
                <a16:creationId xmlns:a16="http://schemas.microsoft.com/office/drawing/2014/main" id="{5D6F4DC6-27C5-4DD4-F63C-61432FA8D430}"/>
              </a:ext>
            </a:extLst>
          </p:cNvPr>
          <p:cNvPicPr>
            <a:picLocks noChangeAspect="1"/>
          </p:cNvPicPr>
          <p:nvPr/>
        </p:nvPicPr>
        <p:blipFill>
          <a:blip r:embed="rId9"/>
          <a:stretch>
            <a:fillRect/>
          </a:stretch>
        </p:blipFill>
        <p:spPr>
          <a:xfrm>
            <a:off x="76147" y="4270931"/>
            <a:ext cx="762106" cy="800212"/>
          </a:xfrm>
          <a:prstGeom prst="rect">
            <a:avLst/>
          </a:prstGeom>
        </p:spPr>
      </p:pic>
      <p:pic>
        <p:nvPicPr>
          <p:cNvPr id="26" name="Picture 6" descr="Dollar Tree - Discover Brookfield">
            <a:extLst>
              <a:ext uri="{FF2B5EF4-FFF2-40B4-BE49-F238E27FC236}">
                <a16:creationId xmlns:a16="http://schemas.microsoft.com/office/drawing/2014/main" id="{C751DAB4-A710-3A26-EF32-EFA0EC0D049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27" name="Google Shape;280;p52">
            <a:extLst>
              <a:ext uri="{FF2B5EF4-FFF2-40B4-BE49-F238E27FC236}">
                <a16:creationId xmlns:a16="http://schemas.microsoft.com/office/drawing/2014/main" id="{4F250F70-7F6A-C8AA-A506-23B336B4CD0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507598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204B-0888-D8C5-E66B-09387D71A3EF}"/>
              </a:ext>
            </a:extLst>
          </p:cNvPr>
          <p:cNvSpPr>
            <a:spLocks noGrp="1"/>
          </p:cNvSpPr>
          <p:nvPr>
            <p:ph type="ctrTitle"/>
          </p:nvPr>
        </p:nvSpPr>
        <p:spPr>
          <a:xfrm>
            <a:off x="692058" y="353233"/>
            <a:ext cx="7717500" cy="478200"/>
          </a:xfrm>
        </p:spPr>
        <p:txBody>
          <a:bodyPr wrap="square" anchor="ctr">
            <a:noAutofit/>
          </a:bodyPr>
          <a:lstStyle/>
          <a:p>
            <a:r>
              <a:rPr lang="en-US" sz="2400">
                <a:solidFill>
                  <a:srgbClr val="0FAA4B"/>
                </a:solidFill>
              </a:rPr>
              <a:t>SWOT Analysis: Internal Factors</a:t>
            </a:r>
          </a:p>
        </p:txBody>
      </p:sp>
      <p:graphicFrame>
        <p:nvGraphicFramePr>
          <p:cNvPr id="66" name="Table 65">
            <a:extLst>
              <a:ext uri="{FF2B5EF4-FFF2-40B4-BE49-F238E27FC236}">
                <a16:creationId xmlns:a16="http://schemas.microsoft.com/office/drawing/2014/main" id="{269F28E6-647C-DC4D-F415-94BA7FAACF9B}"/>
              </a:ext>
            </a:extLst>
          </p:cNvPr>
          <p:cNvGraphicFramePr>
            <a:graphicFrameLocks noGrp="1"/>
          </p:cNvGraphicFramePr>
          <p:nvPr>
            <p:extLst>
              <p:ext uri="{D42A27DB-BD31-4B8C-83A1-F6EECF244321}">
                <p14:modId xmlns:p14="http://schemas.microsoft.com/office/powerpoint/2010/main" val="3101868399"/>
              </p:ext>
            </p:extLst>
          </p:nvPr>
        </p:nvGraphicFramePr>
        <p:xfrm>
          <a:off x="692058" y="833992"/>
          <a:ext cx="7717500" cy="1818647"/>
        </p:xfrm>
        <a:graphic>
          <a:graphicData uri="http://schemas.openxmlformats.org/drawingml/2006/table">
            <a:tbl>
              <a:tblPr firstRow="1" bandRow="1">
                <a:tableStyleId>{F3ECB871-D4C5-4039-ACB0-15ABA0CD83E5}</a:tableStyleId>
              </a:tblPr>
              <a:tblGrid>
                <a:gridCol w="3858750">
                  <a:extLst>
                    <a:ext uri="{9D8B030D-6E8A-4147-A177-3AD203B41FA5}">
                      <a16:colId xmlns:a16="http://schemas.microsoft.com/office/drawing/2014/main" val="1932123117"/>
                    </a:ext>
                  </a:extLst>
                </a:gridCol>
                <a:gridCol w="3858750">
                  <a:extLst>
                    <a:ext uri="{9D8B030D-6E8A-4147-A177-3AD203B41FA5}">
                      <a16:colId xmlns:a16="http://schemas.microsoft.com/office/drawing/2014/main" val="1691982931"/>
                    </a:ext>
                  </a:extLst>
                </a:gridCol>
              </a:tblGrid>
              <a:tr h="606375">
                <a:tc>
                  <a:txBody>
                    <a:bodyPr/>
                    <a:lstStyle/>
                    <a:p>
                      <a:pPr algn="ctr"/>
                      <a:r>
                        <a:rPr lang="en-US" sz="2100" b="1">
                          <a:solidFill>
                            <a:schemeClr val="tx1"/>
                          </a:solidFill>
                          <a:latin typeface="DM Serif Display"/>
                        </a:rPr>
                        <a:t>Strengths</a:t>
                      </a:r>
                    </a:p>
                  </a:txBody>
                  <a:tcPr marL="137812" marR="137812" marT="68906" marB="68906">
                    <a:solidFill>
                      <a:srgbClr val="144600"/>
                    </a:solidFill>
                  </a:tcPr>
                </a:tc>
                <a:tc>
                  <a:txBody>
                    <a:bodyPr/>
                    <a:lstStyle/>
                    <a:p>
                      <a:pPr algn="ctr"/>
                      <a:r>
                        <a:rPr lang="en-US" sz="2100" b="1">
                          <a:solidFill>
                            <a:schemeClr val="tx1"/>
                          </a:solidFill>
                          <a:latin typeface="DM Serif Display"/>
                        </a:rPr>
                        <a:t>Weaknesses</a:t>
                      </a:r>
                    </a:p>
                  </a:txBody>
                  <a:tcPr marL="137812" marR="137812" marT="68906" marB="68906">
                    <a:solidFill>
                      <a:srgbClr val="144600"/>
                    </a:solidFill>
                  </a:tcPr>
                </a:tc>
                <a:extLst>
                  <a:ext uri="{0D108BD9-81ED-4DB2-BD59-A6C34878D82A}">
                    <a16:rowId xmlns:a16="http://schemas.microsoft.com/office/drawing/2014/main" val="1090890594"/>
                  </a:ext>
                </a:extLst>
              </a:tr>
              <a:tr h="1212272">
                <a:tc>
                  <a:txBody>
                    <a:bodyPr/>
                    <a:lstStyle/>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Brand recognition &amp; market access</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Multiple price-point initiative </a:t>
                      </a: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Company growth with 99 Cents Only Stores acquisition</a:t>
                      </a:r>
                      <a:endParaRPr lang="en-US" sz="1400" b="0">
                        <a:solidFill>
                          <a:schemeClr val="bg1"/>
                        </a:solidFill>
                        <a:latin typeface="Open Sans"/>
                        <a:ea typeface="Open Sans"/>
                        <a:cs typeface="Open Sans"/>
                      </a:endParaRPr>
                    </a:p>
                  </a:txBody>
                  <a:tcPr marL="137812" marR="137812" marT="68906" marB="68906"/>
                </a:tc>
                <a:tc>
                  <a:txBody>
                    <a:bodyPr/>
                    <a:lstStyle/>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Decreased operating income margins due to higher expenses</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Underperformance of Family Dollar segment</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Changes in leadership</a:t>
                      </a:r>
                      <a:endParaRPr lang="en-US" sz="1400" b="0">
                        <a:solidFill>
                          <a:schemeClr val="bg1"/>
                        </a:solidFill>
                        <a:latin typeface="Open Sans"/>
                        <a:ea typeface="Open Sans"/>
                        <a:cs typeface="Open Sans"/>
                      </a:endParaRPr>
                    </a:p>
                  </a:txBody>
                  <a:tcPr marL="137812" marR="137812" marT="68906" marB="68906"/>
                </a:tc>
                <a:extLst>
                  <a:ext uri="{0D108BD9-81ED-4DB2-BD59-A6C34878D82A}">
                    <a16:rowId xmlns:a16="http://schemas.microsoft.com/office/drawing/2014/main" val="1214676866"/>
                  </a:ext>
                </a:extLst>
              </a:tr>
            </a:tbl>
          </a:graphicData>
        </a:graphic>
      </p:graphicFrame>
      <p:pic>
        <p:nvPicPr>
          <p:cNvPr id="3" name="Picture 2">
            <a:extLst>
              <a:ext uri="{FF2B5EF4-FFF2-40B4-BE49-F238E27FC236}">
                <a16:creationId xmlns:a16="http://schemas.microsoft.com/office/drawing/2014/main" id="{76CBDAF7-26E3-2093-ED4B-9DDC32165953}"/>
              </a:ext>
            </a:extLst>
          </p:cNvPr>
          <p:cNvPicPr>
            <a:picLocks noChangeAspect="1"/>
          </p:cNvPicPr>
          <p:nvPr/>
        </p:nvPicPr>
        <p:blipFill>
          <a:blip r:embed="rId3"/>
          <a:stretch>
            <a:fillRect/>
          </a:stretch>
        </p:blipFill>
        <p:spPr>
          <a:xfrm>
            <a:off x="76147" y="4270931"/>
            <a:ext cx="762106" cy="800212"/>
          </a:xfrm>
          <a:prstGeom prst="rect">
            <a:avLst/>
          </a:prstGeom>
        </p:spPr>
      </p:pic>
      <p:pic>
        <p:nvPicPr>
          <p:cNvPr id="7" name="Picture 6" descr="A map of the united states&#10;&#10;Description automatically generated">
            <a:extLst>
              <a:ext uri="{FF2B5EF4-FFF2-40B4-BE49-F238E27FC236}">
                <a16:creationId xmlns:a16="http://schemas.microsoft.com/office/drawing/2014/main" id="{5DC23D86-65A3-77D7-F44C-DB122837D6FC}"/>
              </a:ext>
            </a:extLst>
          </p:cNvPr>
          <p:cNvPicPr>
            <a:picLocks noChangeAspect="1"/>
          </p:cNvPicPr>
          <p:nvPr/>
        </p:nvPicPr>
        <p:blipFill>
          <a:blip r:embed="rId4"/>
          <a:stretch>
            <a:fillRect/>
          </a:stretch>
        </p:blipFill>
        <p:spPr>
          <a:xfrm>
            <a:off x="2526941" y="2680595"/>
            <a:ext cx="4047733" cy="2490861"/>
          </a:xfrm>
          <a:prstGeom prst="rect">
            <a:avLst/>
          </a:prstGeom>
        </p:spPr>
      </p:pic>
      <p:pic>
        <p:nvPicPr>
          <p:cNvPr id="8" name="Picture 6" descr="Dollar Tree - Discover Brookfield">
            <a:extLst>
              <a:ext uri="{FF2B5EF4-FFF2-40B4-BE49-F238E27FC236}">
                <a16:creationId xmlns:a16="http://schemas.microsoft.com/office/drawing/2014/main" id="{93DEB7D2-C418-FF20-9AB3-49401F387BB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ollar Tree - Discover Brookfield">
            <a:extLst>
              <a:ext uri="{FF2B5EF4-FFF2-40B4-BE49-F238E27FC236}">
                <a16:creationId xmlns:a16="http://schemas.microsoft.com/office/drawing/2014/main" id="{DCA075AD-1D79-F1FA-F380-C780EAB742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280;p52">
            <a:extLst>
              <a:ext uri="{FF2B5EF4-FFF2-40B4-BE49-F238E27FC236}">
                <a16:creationId xmlns:a16="http://schemas.microsoft.com/office/drawing/2014/main" id="{95EE7707-6EF0-FD70-21ED-613CF47A27F2}"/>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49638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204B-0888-D8C5-E66B-09387D71A3EF}"/>
              </a:ext>
            </a:extLst>
          </p:cNvPr>
          <p:cNvSpPr>
            <a:spLocks noGrp="1"/>
          </p:cNvSpPr>
          <p:nvPr>
            <p:ph type="ctrTitle"/>
          </p:nvPr>
        </p:nvSpPr>
        <p:spPr>
          <a:xfrm>
            <a:off x="713225" y="331682"/>
            <a:ext cx="7717500" cy="478200"/>
          </a:xfrm>
        </p:spPr>
        <p:txBody>
          <a:bodyPr wrap="square" anchor="ctr">
            <a:normAutofit/>
          </a:bodyPr>
          <a:lstStyle/>
          <a:p>
            <a:r>
              <a:rPr lang="en-US">
                <a:solidFill>
                  <a:srgbClr val="0FAA4B"/>
                </a:solidFill>
              </a:rPr>
              <a:t>SWOT Analysis: External Factors</a:t>
            </a:r>
          </a:p>
        </p:txBody>
      </p:sp>
      <p:graphicFrame>
        <p:nvGraphicFramePr>
          <p:cNvPr id="66" name="Table 65">
            <a:extLst>
              <a:ext uri="{FF2B5EF4-FFF2-40B4-BE49-F238E27FC236}">
                <a16:creationId xmlns:a16="http://schemas.microsoft.com/office/drawing/2014/main" id="{269F28E6-647C-DC4D-F415-94BA7FAACF9B}"/>
              </a:ext>
            </a:extLst>
          </p:cNvPr>
          <p:cNvGraphicFramePr>
            <a:graphicFrameLocks noGrp="1"/>
          </p:cNvGraphicFramePr>
          <p:nvPr>
            <p:extLst>
              <p:ext uri="{D42A27DB-BD31-4B8C-83A1-F6EECF244321}">
                <p14:modId xmlns:p14="http://schemas.microsoft.com/office/powerpoint/2010/main" val="2419023945"/>
              </p:ext>
            </p:extLst>
          </p:nvPr>
        </p:nvGraphicFramePr>
        <p:xfrm>
          <a:off x="713225" y="812498"/>
          <a:ext cx="7717500" cy="1576193"/>
        </p:xfrm>
        <a:graphic>
          <a:graphicData uri="http://schemas.openxmlformats.org/drawingml/2006/table">
            <a:tbl>
              <a:tblPr firstRow="1" bandRow="1">
                <a:tableStyleId>{F3ECB871-D4C5-4039-ACB0-15ABA0CD83E5}</a:tableStyleId>
              </a:tblPr>
              <a:tblGrid>
                <a:gridCol w="3858750">
                  <a:extLst>
                    <a:ext uri="{9D8B030D-6E8A-4147-A177-3AD203B41FA5}">
                      <a16:colId xmlns:a16="http://schemas.microsoft.com/office/drawing/2014/main" val="1932123117"/>
                    </a:ext>
                  </a:extLst>
                </a:gridCol>
                <a:gridCol w="3858750">
                  <a:extLst>
                    <a:ext uri="{9D8B030D-6E8A-4147-A177-3AD203B41FA5}">
                      <a16:colId xmlns:a16="http://schemas.microsoft.com/office/drawing/2014/main" val="1691982931"/>
                    </a:ext>
                  </a:extLst>
                </a:gridCol>
              </a:tblGrid>
              <a:tr h="606375">
                <a:tc>
                  <a:txBody>
                    <a:bodyPr/>
                    <a:lstStyle/>
                    <a:p>
                      <a:pPr algn="ctr"/>
                      <a:r>
                        <a:rPr lang="en-US" sz="2100" b="1">
                          <a:solidFill>
                            <a:schemeClr val="tx1"/>
                          </a:solidFill>
                          <a:latin typeface="DM Serif Display"/>
                        </a:rPr>
                        <a:t>Opportunities</a:t>
                      </a:r>
                    </a:p>
                  </a:txBody>
                  <a:tcPr marL="137812" marR="137812" marT="68906" marB="68906">
                    <a:solidFill>
                      <a:srgbClr val="144600"/>
                    </a:solidFill>
                  </a:tcPr>
                </a:tc>
                <a:tc>
                  <a:txBody>
                    <a:bodyPr/>
                    <a:lstStyle/>
                    <a:p>
                      <a:pPr algn="ctr"/>
                      <a:r>
                        <a:rPr lang="en-US" sz="2100" b="1">
                          <a:solidFill>
                            <a:schemeClr val="tx1"/>
                          </a:solidFill>
                          <a:latin typeface="DM Serif Display"/>
                        </a:rPr>
                        <a:t>Threats</a:t>
                      </a:r>
                    </a:p>
                  </a:txBody>
                  <a:tcPr marL="137812" marR="137812" marT="68906" marB="68906">
                    <a:solidFill>
                      <a:srgbClr val="144600"/>
                    </a:solidFill>
                  </a:tcPr>
                </a:tc>
                <a:extLst>
                  <a:ext uri="{0D108BD9-81ED-4DB2-BD59-A6C34878D82A}">
                    <a16:rowId xmlns:a16="http://schemas.microsoft.com/office/drawing/2014/main" val="1090890594"/>
                  </a:ext>
                </a:extLst>
              </a:tr>
              <a:tr h="969818">
                <a:tc>
                  <a:txBody>
                    <a:bodyPr/>
                    <a:lstStyle/>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Portfolio Optimization</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Increased Product Assortment</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International Expansion </a:t>
                      </a:r>
                    </a:p>
                  </a:txBody>
                  <a:tcPr marL="137812" marR="137812" marT="68906" marB="68906"/>
                </a:tc>
                <a:tc>
                  <a:txBody>
                    <a:bodyPr/>
                    <a:lstStyle/>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Highly Competitive Market</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Reduced Consumer Purchasing Power</a:t>
                      </a:r>
                      <a:endParaRPr lang="en-US" sz="1400" b="0">
                        <a:solidFill>
                          <a:schemeClr val="bg1"/>
                        </a:solidFill>
                        <a:latin typeface="Open Sans"/>
                        <a:ea typeface="Open Sans"/>
                        <a:cs typeface="Open Sans"/>
                      </a:endParaRPr>
                    </a:p>
                    <a:p>
                      <a:pPr marL="0" lvl="0" indent="0" algn="l">
                        <a:lnSpc>
                          <a:spcPct val="100000"/>
                        </a:lnSpc>
                        <a:spcBef>
                          <a:spcPts val="0"/>
                        </a:spcBef>
                        <a:spcAft>
                          <a:spcPts val="0"/>
                        </a:spcAft>
                        <a:buFont typeface="Arial"/>
                        <a:buChar char="•"/>
                      </a:pPr>
                      <a:r>
                        <a:rPr lang="en-US" sz="1400" b="0" i="0" u="none" strike="noStrike" noProof="0">
                          <a:solidFill>
                            <a:schemeClr val="bg1"/>
                          </a:solidFill>
                          <a:latin typeface="Open Sans"/>
                          <a:ea typeface="Open Sans"/>
                          <a:cs typeface="Open Sans"/>
                        </a:rPr>
                        <a:t> Supply Chain Vulnerabilities</a:t>
                      </a:r>
                      <a:endParaRPr lang="en-US" sz="1400" b="0">
                        <a:solidFill>
                          <a:schemeClr val="bg1"/>
                        </a:solidFill>
                        <a:latin typeface="Open Sans"/>
                        <a:ea typeface="Open Sans"/>
                        <a:cs typeface="Open Sans"/>
                      </a:endParaRPr>
                    </a:p>
                  </a:txBody>
                  <a:tcPr marL="137812" marR="137812" marT="68906" marB="68906"/>
                </a:tc>
                <a:extLst>
                  <a:ext uri="{0D108BD9-81ED-4DB2-BD59-A6C34878D82A}">
                    <a16:rowId xmlns:a16="http://schemas.microsoft.com/office/drawing/2014/main" val="1214676866"/>
                  </a:ext>
                </a:extLst>
              </a:tr>
            </a:tbl>
          </a:graphicData>
        </a:graphic>
      </p:graphicFrame>
      <p:pic>
        <p:nvPicPr>
          <p:cNvPr id="3" name="Picture 2">
            <a:extLst>
              <a:ext uri="{FF2B5EF4-FFF2-40B4-BE49-F238E27FC236}">
                <a16:creationId xmlns:a16="http://schemas.microsoft.com/office/drawing/2014/main" id="{C0BA67E6-81D6-1EE0-8CD4-020E8A699299}"/>
              </a:ext>
            </a:extLst>
          </p:cNvPr>
          <p:cNvPicPr>
            <a:picLocks noChangeAspect="1"/>
          </p:cNvPicPr>
          <p:nvPr/>
        </p:nvPicPr>
        <p:blipFill>
          <a:blip r:embed="rId3"/>
          <a:stretch>
            <a:fillRect/>
          </a:stretch>
        </p:blipFill>
        <p:spPr>
          <a:xfrm>
            <a:off x="76147" y="4270931"/>
            <a:ext cx="762106" cy="800212"/>
          </a:xfrm>
          <a:prstGeom prst="rect">
            <a:avLst/>
          </a:prstGeom>
        </p:spPr>
      </p:pic>
      <p:pic>
        <p:nvPicPr>
          <p:cNvPr id="8" name="Picture 7" descr="A green pie chart with a few segments&#10;&#10;Description automatically generated">
            <a:extLst>
              <a:ext uri="{FF2B5EF4-FFF2-40B4-BE49-F238E27FC236}">
                <a16:creationId xmlns:a16="http://schemas.microsoft.com/office/drawing/2014/main" id="{05DB8395-AB4E-8893-D51B-9A6BCB7503EA}"/>
              </a:ext>
            </a:extLst>
          </p:cNvPr>
          <p:cNvPicPr>
            <a:picLocks noChangeAspect="1"/>
          </p:cNvPicPr>
          <p:nvPr/>
        </p:nvPicPr>
        <p:blipFill>
          <a:blip r:embed="rId4"/>
          <a:srcRect l="760" t="4425" r="4463" b="4034"/>
          <a:stretch/>
        </p:blipFill>
        <p:spPr>
          <a:xfrm>
            <a:off x="2460617" y="2539990"/>
            <a:ext cx="4222715" cy="2389674"/>
          </a:xfrm>
          <a:prstGeom prst="rect">
            <a:avLst/>
          </a:prstGeom>
        </p:spPr>
      </p:pic>
      <p:pic>
        <p:nvPicPr>
          <p:cNvPr id="10" name="Picture 6" descr="Dollar Tree - Discover Brookfield">
            <a:extLst>
              <a:ext uri="{FF2B5EF4-FFF2-40B4-BE49-F238E27FC236}">
                <a16:creationId xmlns:a16="http://schemas.microsoft.com/office/drawing/2014/main" id="{642CE4BD-66C2-66BB-3FF2-471FE45D7F3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Dollar Tree - Discover Brookfield">
            <a:extLst>
              <a:ext uri="{FF2B5EF4-FFF2-40B4-BE49-F238E27FC236}">
                <a16:creationId xmlns:a16="http://schemas.microsoft.com/office/drawing/2014/main" id="{2D23CA30-9A8D-CF70-A007-1EBD9FAFC7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280;p52">
            <a:extLst>
              <a:ext uri="{FF2B5EF4-FFF2-40B4-BE49-F238E27FC236}">
                <a16:creationId xmlns:a16="http://schemas.microsoft.com/office/drawing/2014/main" id="{F04714C3-D62A-4F89-FC22-69796201131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601772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91"/>
          <p:cNvSpPr/>
          <p:nvPr/>
        </p:nvSpPr>
        <p:spPr>
          <a:xfrm>
            <a:off x="720000" y="1332550"/>
            <a:ext cx="2424900" cy="2627400"/>
          </a:xfrm>
          <a:prstGeom prst="rect">
            <a:avLst/>
          </a:prstGeom>
          <a:noFill/>
          <a:ln w="1587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91"/>
          <p:cNvSpPr/>
          <p:nvPr/>
        </p:nvSpPr>
        <p:spPr>
          <a:xfrm>
            <a:off x="3324853" y="1332550"/>
            <a:ext cx="2424900" cy="2627400"/>
          </a:xfrm>
          <a:prstGeom prst="rect">
            <a:avLst/>
          </a:prstGeom>
          <a:noFill/>
          <a:ln w="1587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91"/>
          <p:cNvSpPr/>
          <p:nvPr/>
        </p:nvSpPr>
        <p:spPr>
          <a:xfrm>
            <a:off x="6027556" y="1332550"/>
            <a:ext cx="2424900" cy="2627400"/>
          </a:xfrm>
          <a:prstGeom prst="rect">
            <a:avLst/>
          </a:prstGeom>
          <a:noFill/>
          <a:ln w="19050">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91"/>
          <p:cNvSpPr txBox="1">
            <a:spLocks noGrp="1"/>
          </p:cNvSpPr>
          <p:nvPr>
            <p:ph type="ctrTitle"/>
          </p:nvPr>
        </p:nvSpPr>
        <p:spPr>
          <a:xfrm>
            <a:off x="723600" y="470625"/>
            <a:ext cx="253395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Porter’s 5 Forces</a:t>
            </a:r>
            <a:endParaRPr sz="2400">
              <a:solidFill>
                <a:srgbClr val="0FAA4B"/>
              </a:solidFill>
            </a:endParaRPr>
          </a:p>
        </p:txBody>
      </p:sp>
      <p:sp>
        <p:nvSpPr>
          <p:cNvPr id="1375" name="Google Shape;1375;p91"/>
          <p:cNvSpPr txBox="1">
            <a:spLocks noGrp="1"/>
          </p:cNvSpPr>
          <p:nvPr>
            <p:ph type="ctrTitle" idx="2"/>
          </p:nvPr>
        </p:nvSpPr>
        <p:spPr>
          <a:xfrm>
            <a:off x="701206" y="1347313"/>
            <a:ext cx="2424900" cy="6937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bg1"/>
                </a:solidFill>
              </a:rPr>
              <a:t>Degree of Rivalry</a:t>
            </a:r>
            <a:br>
              <a:rPr lang="en" sz="1600">
                <a:solidFill>
                  <a:schemeClr val="bg1"/>
                </a:solidFill>
              </a:rPr>
            </a:br>
            <a:r>
              <a:rPr lang="en" sz="1600">
                <a:solidFill>
                  <a:schemeClr val="bg1"/>
                </a:solidFill>
              </a:rPr>
              <a:t>HIGH</a:t>
            </a:r>
            <a:endParaRPr sz="1600">
              <a:solidFill>
                <a:schemeClr val="bg1"/>
              </a:solidFill>
            </a:endParaRPr>
          </a:p>
        </p:txBody>
      </p:sp>
      <p:sp>
        <p:nvSpPr>
          <p:cNvPr id="1376" name="Google Shape;1376;p91"/>
          <p:cNvSpPr txBox="1">
            <a:spLocks noGrp="1"/>
          </p:cNvSpPr>
          <p:nvPr>
            <p:ph type="subTitle" idx="1"/>
          </p:nvPr>
        </p:nvSpPr>
        <p:spPr>
          <a:xfrm>
            <a:off x="720000" y="1959431"/>
            <a:ext cx="2327050" cy="2015282"/>
          </a:xfrm>
          <a:prstGeom prst="rect">
            <a:avLst/>
          </a:prstGeom>
        </p:spPr>
        <p:txBody>
          <a:bodyPr spcFirstLastPara="1" wrap="square" lIns="91425" tIns="91425" rIns="91425" bIns="91425" anchor="t" anchorCtr="0">
            <a:noAutofit/>
          </a:bodyPr>
          <a:lstStyle/>
          <a:p>
            <a:pPr marL="171450" indent="-171450" algn="l">
              <a:buBlip>
                <a:blip r:embed="rId3"/>
              </a:buBlip>
            </a:pPr>
            <a:r>
              <a:rPr lang="en-US" sz="1200" b="1"/>
              <a:t>Competitive discount retail market</a:t>
            </a:r>
          </a:p>
          <a:p>
            <a:pPr marL="171450" indent="-171450" algn="l">
              <a:buBlip>
                <a:blip r:embed="rId3"/>
              </a:buBlip>
            </a:pPr>
            <a:r>
              <a:rPr lang="en-US" sz="1200" b="1"/>
              <a:t>Brand Loyalty and Customer Switching</a:t>
            </a:r>
          </a:p>
          <a:p>
            <a:pPr marL="171450" indent="-171450" algn="l">
              <a:buBlip>
                <a:blip r:embed="rId3"/>
              </a:buBlip>
            </a:pPr>
            <a:endParaRPr sz="1200" b="1">
              <a:solidFill>
                <a:schemeClr val="bg1"/>
              </a:solidFill>
              <a:sym typeface="Open Sans Light"/>
            </a:endParaRPr>
          </a:p>
        </p:txBody>
      </p:sp>
      <p:sp>
        <p:nvSpPr>
          <p:cNvPr id="1377" name="Google Shape;1377;p91"/>
          <p:cNvSpPr txBox="1">
            <a:spLocks noGrp="1"/>
          </p:cNvSpPr>
          <p:nvPr>
            <p:ph type="ctrTitle" idx="3"/>
          </p:nvPr>
        </p:nvSpPr>
        <p:spPr>
          <a:xfrm>
            <a:off x="3340756" y="1347314"/>
            <a:ext cx="2424900" cy="6937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bg1"/>
                </a:solidFill>
              </a:rPr>
              <a:t>Threat of New Entrants</a:t>
            </a:r>
            <a:br>
              <a:rPr lang="en" sz="1600">
                <a:solidFill>
                  <a:schemeClr val="bg1"/>
                </a:solidFill>
              </a:rPr>
            </a:br>
            <a:r>
              <a:rPr lang="en" sz="1600">
                <a:solidFill>
                  <a:schemeClr val="bg1"/>
                </a:solidFill>
              </a:rPr>
              <a:t>MODERATE</a:t>
            </a:r>
            <a:endParaRPr sz="1600">
              <a:solidFill>
                <a:schemeClr val="bg1"/>
              </a:solidFill>
            </a:endParaRPr>
          </a:p>
        </p:txBody>
      </p:sp>
      <p:sp>
        <p:nvSpPr>
          <p:cNvPr id="1378" name="Google Shape;1378;p91"/>
          <p:cNvSpPr txBox="1">
            <a:spLocks noGrp="1"/>
          </p:cNvSpPr>
          <p:nvPr>
            <p:ph type="subTitle" idx="4"/>
          </p:nvPr>
        </p:nvSpPr>
        <p:spPr>
          <a:xfrm>
            <a:off x="3340756" y="2055833"/>
            <a:ext cx="2424900" cy="1918880"/>
          </a:xfrm>
          <a:prstGeom prst="rect">
            <a:avLst/>
          </a:prstGeom>
        </p:spPr>
        <p:txBody>
          <a:bodyPr spcFirstLastPara="1" wrap="square" lIns="91425" tIns="91425" rIns="91425" bIns="91425" anchor="t" anchorCtr="0">
            <a:noAutofit/>
          </a:bodyPr>
          <a:lstStyle/>
          <a:p>
            <a:pPr marL="171450" lvl="0" indent="-171450" algn="l">
              <a:buBlip>
                <a:blip r:embed="rId3"/>
              </a:buBlip>
            </a:pPr>
            <a:r>
              <a:rPr lang="en-US" sz="1200" b="1"/>
              <a:t>Low Barriers to Entry in Discount Retail</a:t>
            </a:r>
          </a:p>
          <a:p>
            <a:pPr marL="171450" lvl="0" indent="-171450" algn="l">
              <a:buBlip>
                <a:blip r:embed="rId3"/>
              </a:buBlip>
            </a:pPr>
            <a:r>
              <a:rPr lang="en-US" sz="1200" b="1"/>
              <a:t>Regulatory Hurdles as Protective Barriers</a:t>
            </a:r>
          </a:p>
        </p:txBody>
      </p:sp>
      <p:sp>
        <p:nvSpPr>
          <p:cNvPr id="1379" name="Google Shape;1379;p91"/>
          <p:cNvSpPr txBox="1">
            <a:spLocks noGrp="1"/>
          </p:cNvSpPr>
          <p:nvPr>
            <p:ph type="ctrTitle" idx="5"/>
          </p:nvPr>
        </p:nvSpPr>
        <p:spPr>
          <a:xfrm>
            <a:off x="6027556" y="1347314"/>
            <a:ext cx="2424900" cy="693756"/>
          </a:xfrm>
          <a:prstGeom prst="rect">
            <a:avLst/>
          </a:prstGeom>
        </p:spPr>
        <p:txBody>
          <a:bodyPr spcFirstLastPara="1" wrap="square" lIns="91425" tIns="91425" rIns="91425" bIns="91425" anchor="b" anchorCtr="0">
            <a:noAutofit/>
          </a:bodyPr>
          <a:lstStyle/>
          <a:p>
            <a:pPr lvl="0"/>
            <a:r>
              <a:rPr lang="en-US" sz="1600">
                <a:solidFill>
                  <a:schemeClr val="bg1"/>
                </a:solidFill>
              </a:rPr>
              <a:t>Threat of Substitutes</a:t>
            </a:r>
            <a:br>
              <a:rPr lang="en-US" sz="1600">
                <a:solidFill>
                  <a:schemeClr val="bg1"/>
                </a:solidFill>
              </a:rPr>
            </a:br>
            <a:r>
              <a:rPr lang="en-US" sz="1600">
                <a:solidFill>
                  <a:schemeClr val="bg1"/>
                </a:solidFill>
              </a:rPr>
              <a:t>MODERATE</a:t>
            </a:r>
          </a:p>
        </p:txBody>
      </p:sp>
      <p:sp>
        <p:nvSpPr>
          <p:cNvPr id="1380" name="Google Shape;1380;p91"/>
          <p:cNvSpPr txBox="1">
            <a:spLocks noGrp="1"/>
          </p:cNvSpPr>
          <p:nvPr>
            <p:ph type="subTitle" idx="6"/>
          </p:nvPr>
        </p:nvSpPr>
        <p:spPr>
          <a:xfrm>
            <a:off x="6046350" y="2055833"/>
            <a:ext cx="2424900" cy="1918880"/>
          </a:xfrm>
          <a:prstGeom prst="rect">
            <a:avLst/>
          </a:prstGeom>
        </p:spPr>
        <p:txBody>
          <a:bodyPr spcFirstLastPara="1" wrap="square" lIns="91425" tIns="91425" rIns="91425" bIns="91425" anchor="t" anchorCtr="0">
            <a:noAutofit/>
          </a:bodyPr>
          <a:lstStyle/>
          <a:p>
            <a:pPr marL="171450" lvl="0" indent="-171450" algn="l">
              <a:buClr>
                <a:srgbClr val="434343"/>
              </a:buClr>
              <a:buBlip>
                <a:blip r:embed="rId3"/>
              </a:buBlip>
            </a:pPr>
            <a:r>
              <a:rPr lang="en-US" sz="1200" b="1"/>
              <a:t>35k+ Competing Discount Store</a:t>
            </a:r>
          </a:p>
          <a:p>
            <a:pPr marL="171450" lvl="0" indent="-171450" algn="l">
              <a:buClr>
                <a:srgbClr val="434343"/>
              </a:buClr>
              <a:buBlip>
                <a:blip r:embed="rId3"/>
              </a:buBlip>
            </a:pPr>
            <a:r>
              <a:rPr lang="en-US" sz="1200" b="1"/>
              <a:t>Local Low-Cost Alternatives</a:t>
            </a:r>
            <a:endParaRPr lang="en-US" sz="1200">
              <a:solidFill>
                <a:srgbClr val="434343"/>
              </a:solidFill>
            </a:endParaRPr>
          </a:p>
          <a:p>
            <a:endParaRPr lang="en-US" sz="1200"/>
          </a:p>
        </p:txBody>
      </p:sp>
      <p:pic>
        <p:nvPicPr>
          <p:cNvPr id="3" name="Picture 6" descr="Dollar Tree - Discover Brookfield">
            <a:extLst>
              <a:ext uri="{FF2B5EF4-FFF2-40B4-BE49-F238E27FC236}">
                <a16:creationId xmlns:a16="http://schemas.microsoft.com/office/drawing/2014/main" id="{56FD5515-79F9-6CBA-AA49-F9578F3E84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Dollar Tree - Discover Brookfield">
            <a:extLst>
              <a:ext uri="{FF2B5EF4-FFF2-40B4-BE49-F238E27FC236}">
                <a16:creationId xmlns:a16="http://schemas.microsoft.com/office/drawing/2014/main" id="{1A91ED28-B07A-4B1C-86BD-41E079F5F5B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280;p52">
            <a:extLst>
              <a:ext uri="{FF2B5EF4-FFF2-40B4-BE49-F238E27FC236}">
                <a16:creationId xmlns:a16="http://schemas.microsoft.com/office/drawing/2014/main" id="{5C919D8C-A42D-2AE8-1ACE-A53CC9249349}"/>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74"/>
                                        </p:tgtEl>
                                        <p:attrNameLst>
                                          <p:attrName>style.visibility</p:attrName>
                                        </p:attrNameLst>
                                      </p:cBhvr>
                                      <p:to>
                                        <p:strVal val="visible"/>
                                      </p:to>
                                    </p:set>
                                    <p:animEffect transition="in" filter="fade">
                                      <p:cBhvr>
                                        <p:cTn id="7" dur="1000"/>
                                        <p:tgtEl>
                                          <p:spTgt spid="137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59"/>
                                        </p:tgtEl>
                                        <p:attrNameLst>
                                          <p:attrName>style.visibility</p:attrName>
                                        </p:attrNameLst>
                                      </p:cBhvr>
                                      <p:to>
                                        <p:strVal val="visible"/>
                                      </p:to>
                                    </p:set>
                                    <p:animEffect transition="in" filter="fade">
                                      <p:cBhvr>
                                        <p:cTn id="11" dur="1000"/>
                                        <p:tgtEl>
                                          <p:spTgt spid="135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60"/>
                                        </p:tgtEl>
                                        <p:attrNameLst>
                                          <p:attrName>style.visibility</p:attrName>
                                        </p:attrNameLst>
                                      </p:cBhvr>
                                      <p:to>
                                        <p:strVal val="visible"/>
                                      </p:to>
                                    </p:set>
                                    <p:animEffect transition="in" filter="fade">
                                      <p:cBhvr>
                                        <p:cTn id="15" dur="1000"/>
                                        <p:tgtEl>
                                          <p:spTgt spid="1360"/>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361"/>
                                        </p:tgtEl>
                                        <p:attrNameLst>
                                          <p:attrName>style.visibility</p:attrName>
                                        </p:attrNameLst>
                                      </p:cBhvr>
                                      <p:to>
                                        <p:strVal val="visible"/>
                                      </p:to>
                                    </p:set>
                                    <p:animEffect transition="in" filter="fade">
                                      <p:cBhvr>
                                        <p:cTn id="19" dur="1000"/>
                                        <p:tgtEl>
                                          <p:spTgt spid="1361"/>
                                        </p:tgtEl>
                                      </p:cBhvr>
                                    </p:animEffect>
                                  </p:childTnLst>
                                </p:cTn>
                              </p:par>
                            </p:childTnLst>
                          </p:cTn>
                        </p:par>
                        <p:par>
                          <p:cTn id="20" fill="hold">
                            <p:stCondLst>
                              <p:cond delay="4000"/>
                            </p:stCondLst>
                            <p:childTnLst>
                              <p:par>
                                <p:cTn id="21" presetID="2" presetClass="entr" presetSubtype="8" fill="hold" nodeType="afterEffect">
                                  <p:stCondLst>
                                    <p:cond delay="0"/>
                                  </p:stCondLst>
                                  <p:childTnLst>
                                    <p:set>
                                      <p:cBhvr>
                                        <p:cTn id="22" dur="1" fill="hold">
                                          <p:stCondLst>
                                            <p:cond delay="0"/>
                                          </p:stCondLst>
                                        </p:cTn>
                                        <p:tgtEl>
                                          <p:spTgt spid="1375"/>
                                        </p:tgtEl>
                                        <p:attrNameLst>
                                          <p:attrName>style.visibility</p:attrName>
                                        </p:attrNameLst>
                                      </p:cBhvr>
                                      <p:to>
                                        <p:strVal val="visible"/>
                                      </p:to>
                                    </p:set>
                                    <p:anim calcmode="lin" valueType="num">
                                      <p:cBhvr additive="base">
                                        <p:cTn id="23" dur="1000"/>
                                        <p:tgtEl>
                                          <p:spTgt spid="1375"/>
                                        </p:tgtEl>
                                        <p:attrNameLst>
                                          <p:attrName>ppt_x</p:attrName>
                                        </p:attrNameLst>
                                      </p:cBhvr>
                                      <p:tavLst>
                                        <p:tav tm="0">
                                          <p:val>
                                            <p:strVal val="#ppt_x-1"/>
                                          </p:val>
                                        </p:tav>
                                        <p:tav tm="100000">
                                          <p:val>
                                            <p:strVal val="#ppt_x"/>
                                          </p:val>
                                        </p:tav>
                                      </p:tavLst>
                                    </p:anim>
                                  </p:childTnLst>
                                </p:cTn>
                              </p:par>
                            </p:childTnLst>
                          </p:cTn>
                        </p:par>
                        <p:par>
                          <p:cTn id="24" fill="hold">
                            <p:stCondLst>
                              <p:cond delay="5000"/>
                            </p:stCondLst>
                            <p:childTnLst>
                              <p:par>
                                <p:cTn id="25" presetID="2" presetClass="entr" presetSubtype="8" fill="hold" nodeType="afterEffect">
                                  <p:stCondLst>
                                    <p:cond delay="0"/>
                                  </p:stCondLst>
                                  <p:childTnLst>
                                    <p:set>
                                      <p:cBhvr>
                                        <p:cTn id="26" dur="1" fill="hold">
                                          <p:stCondLst>
                                            <p:cond delay="0"/>
                                          </p:stCondLst>
                                        </p:cTn>
                                        <p:tgtEl>
                                          <p:spTgt spid="1376"/>
                                        </p:tgtEl>
                                        <p:attrNameLst>
                                          <p:attrName>style.visibility</p:attrName>
                                        </p:attrNameLst>
                                      </p:cBhvr>
                                      <p:to>
                                        <p:strVal val="visible"/>
                                      </p:to>
                                    </p:set>
                                    <p:anim calcmode="lin" valueType="num">
                                      <p:cBhvr additive="base">
                                        <p:cTn id="27" dur="1000"/>
                                        <p:tgtEl>
                                          <p:spTgt spid="1376"/>
                                        </p:tgtEl>
                                        <p:attrNameLst>
                                          <p:attrName>ppt_x</p:attrName>
                                        </p:attrNameLst>
                                      </p:cBhvr>
                                      <p:tavLst>
                                        <p:tav tm="0">
                                          <p:val>
                                            <p:strVal val="#ppt_x-1"/>
                                          </p:val>
                                        </p:tav>
                                        <p:tav tm="100000">
                                          <p:val>
                                            <p:strVal val="#ppt_x"/>
                                          </p:val>
                                        </p:tav>
                                      </p:tavLst>
                                    </p:anim>
                                  </p:childTnLst>
                                </p:cTn>
                              </p:par>
                            </p:childTnLst>
                          </p:cTn>
                        </p:par>
                        <p:par>
                          <p:cTn id="28" fill="hold">
                            <p:stCondLst>
                              <p:cond delay="6000"/>
                            </p:stCondLst>
                            <p:childTnLst>
                              <p:par>
                                <p:cTn id="29" presetID="2" presetClass="entr" presetSubtype="1" fill="hold" nodeType="afterEffect">
                                  <p:stCondLst>
                                    <p:cond delay="0"/>
                                  </p:stCondLst>
                                  <p:childTnLst>
                                    <p:set>
                                      <p:cBhvr>
                                        <p:cTn id="30" dur="1" fill="hold">
                                          <p:stCondLst>
                                            <p:cond delay="0"/>
                                          </p:stCondLst>
                                        </p:cTn>
                                        <p:tgtEl>
                                          <p:spTgt spid="1378"/>
                                        </p:tgtEl>
                                        <p:attrNameLst>
                                          <p:attrName>style.visibility</p:attrName>
                                        </p:attrNameLst>
                                      </p:cBhvr>
                                      <p:to>
                                        <p:strVal val="visible"/>
                                      </p:to>
                                    </p:set>
                                    <p:anim calcmode="lin" valueType="num">
                                      <p:cBhvr additive="base">
                                        <p:cTn id="31" dur="1000"/>
                                        <p:tgtEl>
                                          <p:spTgt spid="1378"/>
                                        </p:tgtEl>
                                        <p:attrNameLst>
                                          <p:attrName>ppt_y</p:attrName>
                                        </p:attrNameLst>
                                      </p:cBhvr>
                                      <p:tavLst>
                                        <p:tav tm="0">
                                          <p:val>
                                            <p:strVal val="#ppt_y-1"/>
                                          </p:val>
                                        </p:tav>
                                        <p:tav tm="100000">
                                          <p:val>
                                            <p:strVal val="#ppt_y"/>
                                          </p:val>
                                        </p:tav>
                                      </p:tavLst>
                                    </p:anim>
                                  </p:childTnLst>
                                </p:cTn>
                              </p:par>
                            </p:childTnLst>
                          </p:cTn>
                        </p:par>
                        <p:par>
                          <p:cTn id="32" fill="hold">
                            <p:stCondLst>
                              <p:cond delay="7000"/>
                            </p:stCondLst>
                            <p:childTnLst>
                              <p:par>
                                <p:cTn id="33" presetID="2" presetClass="entr" presetSubtype="1" fill="hold" nodeType="afterEffect">
                                  <p:stCondLst>
                                    <p:cond delay="0"/>
                                  </p:stCondLst>
                                  <p:childTnLst>
                                    <p:set>
                                      <p:cBhvr>
                                        <p:cTn id="34" dur="1" fill="hold">
                                          <p:stCondLst>
                                            <p:cond delay="0"/>
                                          </p:stCondLst>
                                        </p:cTn>
                                        <p:tgtEl>
                                          <p:spTgt spid="1377"/>
                                        </p:tgtEl>
                                        <p:attrNameLst>
                                          <p:attrName>style.visibility</p:attrName>
                                        </p:attrNameLst>
                                      </p:cBhvr>
                                      <p:to>
                                        <p:strVal val="visible"/>
                                      </p:to>
                                    </p:set>
                                    <p:anim calcmode="lin" valueType="num">
                                      <p:cBhvr additive="base">
                                        <p:cTn id="35" dur="1000"/>
                                        <p:tgtEl>
                                          <p:spTgt spid="1377"/>
                                        </p:tgtEl>
                                        <p:attrNameLst>
                                          <p:attrName>ppt_y</p:attrName>
                                        </p:attrNameLst>
                                      </p:cBhvr>
                                      <p:tavLst>
                                        <p:tav tm="0">
                                          <p:val>
                                            <p:strVal val="#ppt_y-1"/>
                                          </p:val>
                                        </p:tav>
                                        <p:tav tm="100000">
                                          <p:val>
                                            <p:strVal val="#ppt_y"/>
                                          </p:val>
                                        </p:tav>
                                      </p:tavLst>
                                    </p:anim>
                                  </p:childTnLst>
                                </p:cTn>
                              </p:par>
                            </p:childTnLst>
                          </p:cTn>
                        </p:par>
                        <p:par>
                          <p:cTn id="36" fill="hold">
                            <p:stCondLst>
                              <p:cond delay="8000"/>
                            </p:stCondLst>
                            <p:childTnLst>
                              <p:par>
                                <p:cTn id="37" presetID="2" presetClass="entr" presetSubtype="2" fill="hold" nodeType="afterEffect">
                                  <p:stCondLst>
                                    <p:cond delay="0"/>
                                  </p:stCondLst>
                                  <p:childTnLst>
                                    <p:set>
                                      <p:cBhvr>
                                        <p:cTn id="38" dur="1" fill="hold">
                                          <p:stCondLst>
                                            <p:cond delay="0"/>
                                          </p:stCondLst>
                                        </p:cTn>
                                        <p:tgtEl>
                                          <p:spTgt spid="1379"/>
                                        </p:tgtEl>
                                        <p:attrNameLst>
                                          <p:attrName>style.visibility</p:attrName>
                                        </p:attrNameLst>
                                      </p:cBhvr>
                                      <p:to>
                                        <p:strVal val="visible"/>
                                      </p:to>
                                    </p:set>
                                    <p:anim calcmode="lin" valueType="num">
                                      <p:cBhvr additive="base">
                                        <p:cTn id="39" dur="1000"/>
                                        <p:tgtEl>
                                          <p:spTgt spid="1379"/>
                                        </p:tgtEl>
                                        <p:attrNameLst>
                                          <p:attrName>ppt_x</p:attrName>
                                        </p:attrNameLst>
                                      </p:cBhvr>
                                      <p:tavLst>
                                        <p:tav tm="0">
                                          <p:val>
                                            <p:strVal val="#ppt_x+1"/>
                                          </p:val>
                                        </p:tav>
                                        <p:tav tm="100000">
                                          <p:val>
                                            <p:strVal val="#ppt_x"/>
                                          </p:val>
                                        </p:tav>
                                      </p:tavLst>
                                    </p:anim>
                                  </p:childTnLst>
                                </p:cTn>
                              </p:par>
                            </p:childTnLst>
                          </p:cTn>
                        </p:par>
                        <p:par>
                          <p:cTn id="40" fill="hold">
                            <p:stCondLst>
                              <p:cond delay="9000"/>
                            </p:stCondLst>
                            <p:childTnLst>
                              <p:par>
                                <p:cTn id="41" presetID="2" presetClass="entr" presetSubtype="2" fill="hold" nodeType="afterEffect">
                                  <p:stCondLst>
                                    <p:cond delay="0"/>
                                  </p:stCondLst>
                                  <p:childTnLst>
                                    <p:set>
                                      <p:cBhvr>
                                        <p:cTn id="42" dur="1" fill="hold">
                                          <p:stCondLst>
                                            <p:cond delay="0"/>
                                          </p:stCondLst>
                                        </p:cTn>
                                        <p:tgtEl>
                                          <p:spTgt spid="1380"/>
                                        </p:tgtEl>
                                        <p:attrNameLst>
                                          <p:attrName>style.visibility</p:attrName>
                                        </p:attrNameLst>
                                      </p:cBhvr>
                                      <p:to>
                                        <p:strVal val="visible"/>
                                      </p:to>
                                    </p:set>
                                    <p:anim calcmode="lin" valueType="num">
                                      <p:cBhvr additive="base">
                                        <p:cTn id="43" dur="1000"/>
                                        <p:tgtEl>
                                          <p:spTgt spid="138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91"/>
          <p:cNvSpPr/>
          <p:nvPr/>
        </p:nvSpPr>
        <p:spPr>
          <a:xfrm>
            <a:off x="1967147" y="1416825"/>
            <a:ext cx="2424900" cy="2627400"/>
          </a:xfrm>
          <a:prstGeom prst="rect">
            <a:avLst/>
          </a:prstGeom>
          <a:noFill/>
          <a:ln w="2222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91"/>
          <p:cNvSpPr/>
          <p:nvPr/>
        </p:nvSpPr>
        <p:spPr>
          <a:xfrm>
            <a:off x="4572000" y="1416825"/>
            <a:ext cx="2424900" cy="2627400"/>
          </a:xfrm>
          <a:prstGeom prst="rect">
            <a:avLst/>
          </a:prstGeom>
          <a:noFill/>
          <a:ln w="22225">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91"/>
          <p:cNvSpPr txBox="1">
            <a:spLocks noGrp="1"/>
          </p:cNvSpPr>
          <p:nvPr>
            <p:ph type="ctrTitle"/>
          </p:nvPr>
        </p:nvSpPr>
        <p:spPr>
          <a:xfrm>
            <a:off x="723600" y="470625"/>
            <a:ext cx="253395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Porter’s 5 Forces</a:t>
            </a:r>
            <a:endParaRPr sz="2400">
              <a:solidFill>
                <a:srgbClr val="0FAA4B"/>
              </a:solidFill>
            </a:endParaRPr>
          </a:p>
        </p:txBody>
      </p:sp>
      <p:sp>
        <p:nvSpPr>
          <p:cNvPr id="1375" name="Google Shape;1375;p91"/>
          <p:cNvSpPr txBox="1">
            <a:spLocks noGrp="1"/>
          </p:cNvSpPr>
          <p:nvPr>
            <p:ph type="ctrTitle" idx="2"/>
          </p:nvPr>
        </p:nvSpPr>
        <p:spPr>
          <a:xfrm>
            <a:off x="1948353" y="1431588"/>
            <a:ext cx="2424900" cy="6937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bg1"/>
                </a:solidFill>
              </a:rPr>
              <a:t>Suppliers Power</a:t>
            </a:r>
            <a:br>
              <a:rPr lang="en" sz="1600">
                <a:solidFill>
                  <a:schemeClr val="bg1"/>
                </a:solidFill>
              </a:rPr>
            </a:br>
            <a:r>
              <a:rPr lang="en" sz="1600">
                <a:solidFill>
                  <a:schemeClr val="bg1"/>
                </a:solidFill>
              </a:rPr>
              <a:t>HIGH</a:t>
            </a:r>
            <a:endParaRPr sz="1600">
              <a:solidFill>
                <a:schemeClr val="bg1"/>
              </a:solidFill>
            </a:endParaRPr>
          </a:p>
        </p:txBody>
      </p:sp>
      <p:sp>
        <p:nvSpPr>
          <p:cNvPr id="1376" name="Google Shape;1376;p91"/>
          <p:cNvSpPr txBox="1">
            <a:spLocks noGrp="1"/>
          </p:cNvSpPr>
          <p:nvPr>
            <p:ph type="subTitle" idx="1"/>
          </p:nvPr>
        </p:nvSpPr>
        <p:spPr>
          <a:xfrm>
            <a:off x="1967147" y="2140108"/>
            <a:ext cx="2424900" cy="1918880"/>
          </a:xfrm>
          <a:prstGeom prst="rect">
            <a:avLst/>
          </a:prstGeom>
        </p:spPr>
        <p:txBody>
          <a:bodyPr spcFirstLastPara="1" wrap="square" lIns="91425" tIns="91425" rIns="91425" bIns="91425" anchor="t" anchorCtr="0">
            <a:noAutofit/>
          </a:bodyPr>
          <a:lstStyle/>
          <a:p>
            <a:pPr marL="171450" lvl="0" indent="-171450" algn="l">
              <a:buBlip>
                <a:blip r:embed="rId3"/>
              </a:buBlip>
            </a:pPr>
            <a:r>
              <a:rPr lang="en-US" sz="1200" b="1"/>
              <a:t>Limited Supplier Base Increases Bargaining Power</a:t>
            </a:r>
          </a:p>
          <a:p>
            <a:pPr marL="171450" lvl="0" indent="-171450" algn="l">
              <a:buBlip>
                <a:blip r:embed="rId3"/>
              </a:buBlip>
            </a:pPr>
            <a:r>
              <a:rPr lang="en-US" sz="1200" b="1"/>
              <a:t>Challenges from Supplier Consolidation</a:t>
            </a:r>
          </a:p>
          <a:p>
            <a:pPr marL="171450" lvl="0" indent="-171450" algn="l">
              <a:buBlip>
                <a:blip r:embed="rId3"/>
              </a:buBlip>
            </a:pPr>
            <a:endParaRPr lang="en-US" sz="1200" b="1">
              <a:solidFill>
                <a:schemeClr val="bg1"/>
              </a:solidFill>
              <a:sym typeface="Open Sans Light"/>
            </a:endParaRPr>
          </a:p>
        </p:txBody>
      </p:sp>
      <p:sp>
        <p:nvSpPr>
          <p:cNvPr id="1377" name="Google Shape;1377;p91"/>
          <p:cNvSpPr txBox="1">
            <a:spLocks noGrp="1"/>
          </p:cNvSpPr>
          <p:nvPr>
            <p:ph type="ctrTitle" idx="3"/>
          </p:nvPr>
        </p:nvSpPr>
        <p:spPr>
          <a:xfrm>
            <a:off x="4587903" y="1431589"/>
            <a:ext cx="2424900" cy="6937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600">
                <a:solidFill>
                  <a:schemeClr val="bg1"/>
                </a:solidFill>
              </a:rPr>
              <a:t>Customers Power</a:t>
            </a:r>
            <a:br>
              <a:rPr lang="en" sz="1600">
                <a:solidFill>
                  <a:schemeClr val="bg1"/>
                </a:solidFill>
              </a:rPr>
            </a:br>
            <a:r>
              <a:rPr lang="en" sz="1600">
                <a:solidFill>
                  <a:schemeClr val="bg1"/>
                </a:solidFill>
              </a:rPr>
              <a:t>HIGH</a:t>
            </a:r>
            <a:endParaRPr sz="1600">
              <a:solidFill>
                <a:schemeClr val="bg1"/>
              </a:solidFill>
            </a:endParaRPr>
          </a:p>
        </p:txBody>
      </p:sp>
      <p:sp>
        <p:nvSpPr>
          <p:cNvPr id="1378" name="Google Shape;1378;p91"/>
          <p:cNvSpPr txBox="1">
            <a:spLocks noGrp="1"/>
          </p:cNvSpPr>
          <p:nvPr>
            <p:ph type="subTitle" idx="4"/>
          </p:nvPr>
        </p:nvSpPr>
        <p:spPr>
          <a:xfrm>
            <a:off x="4587903" y="2125345"/>
            <a:ext cx="2424900" cy="191888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Blip>
                <a:blip r:embed="rId3"/>
              </a:buBlip>
            </a:pPr>
            <a:r>
              <a:rPr lang="en-US" sz="1200" b="1" dirty="0">
                <a:solidFill>
                  <a:schemeClr val="bg1"/>
                </a:solidFill>
              </a:rPr>
              <a:t>Intense</a:t>
            </a:r>
            <a:r>
              <a:rPr lang="en-US" sz="1200" b="1" dirty="0">
                <a:solidFill>
                  <a:schemeClr val="bg1"/>
                </a:solidFill>
                <a:sym typeface="Open Sans Light"/>
              </a:rPr>
              <a:t> competition in the retail market</a:t>
            </a:r>
          </a:p>
          <a:p>
            <a:pPr marL="171450" lvl="0" indent="-171450" algn="l" rtl="0">
              <a:spcBef>
                <a:spcPts val="0"/>
              </a:spcBef>
              <a:spcAft>
                <a:spcPts val="0"/>
              </a:spcAft>
              <a:buBlip>
                <a:blip r:embed="rId3"/>
              </a:buBlip>
            </a:pPr>
            <a:r>
              <a:rPr lang="en-US" sz="1200" b="1" dirty="0">
                <a:solidFill>
                  <a:schemeClr val="bg1"/>
                </a:solidFill>
                <a:sym typeface="Open Sans Light"/>
              </a:rPr>
              <a:t>Price Sensitivity of Core Demographic</a:t>
            </a:r>
          </a:p>
          <a:p>
            <a:pPr marL="171450" lvl="0" indent="-171450" algn="l" rtl="0">
              <a:spcBef>
                <a:spcPts val="0"/>
              </a:spcBef>
              <a:spcAft>
                <a:spcPts val="0"/>
              </a:spcAft>
              <a:buBlip>
                <a:blip r:embed="rId3"/>
              </a:buBlip>
            </a:pPr>
            <a:r>
              <a:rPr lang="en-US" sz="1200" b="1" dirty="0">
                <a:solidFill>
                  <a:schemeClr val="bg1"/>
                </a:solidFill>
                <a:sym typeface="Open Sans Light"/>
              </a:rPr>
              <a:t>Shift towards online shopping</a:t>
            </a:r>
          </a:p>
        </p:txBody>
      </p:sp>
      <p:pic>
        <p:nvPicPr>
          <p:cNvPr id="3" name="Picture 6" descr="Dollar Tree - Discover Brookfield">
            <a:extLst>
              <a:ext uri="{FF2B5EF4-FFF2-40B4-BE49-F238E27FC236}">
                <a16:creationId xmlns:a16="http://schemas.microsoft.com/office/drawing/2014/main" id="{FC0F91AC-9D2E-0FE0-8F55-1A13E2E471C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Dollar Tree - Discover Brookfield">
            <a:extLst>
              <a:ext uri="{FF2B5EF4-FFF2-40B4-BE49-F238E27FC236}">
                <a16:creationId xmlns:a16="http://schemas.microsoft.com/office/drawing/2014/main" id="{D09C2CE5-1E31-5406-D36B-2F36633FC7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80;p52">
            <a:extLst>
              <a:ext uri="{FF2B5EF4-FFF2-40B4-BE49-F238E27FC236}">
                <a16:creationId xmlns:a16="http://schemas.microsoft.com/office/drawing/2014/main" id="{5B7580A3-650E-42B4-698B-6AE82ABE681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142686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74"/>
                                        </p:tgtEl>
                                        <p:attrNameLst>
                                          <p:attrName>style.visibility</p:attrName>
                                        </p:attrNameLst>
                                      </p:cBhvr>
                                      <p:to>
                                        <p:strVal val="visible"/>
                                      </p:to>
                                    </p:set>
                                    <p:animEffect transition="in" filter="fade">
                                      <p:cBhvr>
                                        <p:cTn id="7" dur="1000"/>
                                        <p:tgtEl>
                                          <p:spTgt spid="137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59"/>
                                        </p:tgtEl>
                                        <p:attrNameLst>
                                          <p:attrName>style.visibility</p:attrName>
                                        </p:attrNameLst>
                                      </p:cBhvr>
                                      <p:to>
                                        <p:strVal val="visible"/>
                                      </p:to>
                                    </p:set>
                                    <p:animEffect transition="in" filter="fade">
                                      <p:cBhvr>
                                        <p:cTn id="11" dur="1000"/>
                                        <p:tgtEl>
                                          <p:spTgt spid="135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60"/>
                                        </p:tgtEl>
                                        <p:attrNameLst>
                                          <p:attrName>style.visibility</p:attrName>
                                        </p:attrNameLst>
                                      </p:cBhvr>
                                      <p:to>
                                        <p:strVal val="visible"/>
                                      </p:to>
                                    </p:set>
                                    <p:animEffect transition="in" filter="fade">
                                      <p:cBhvr>
                                        <p:cTn id="15" dur="1000"/>
                                        <p:tgtEl>
                                          <p:spTgt spid="1360"/>
                                        </p:tgtEl>
                                      </p:cBhvr>
                                    </p:animEffect>
                                  </p:childTnLst>
                                </p:cTn>
                              </p:par>
                            </p:childTnLst>
                          </p:cTn>
                        </p:par>
                        <p:par>
                          <p:cTn id="16" fill="hold">
                            <p:stCondLst>
                              <p:cond delay="3000"/>
                            </p:stCondLst>
                            <p:childTnLst>
                              <p:par>
                                <p:cTn id="17" presetID="2" presetClass="entr" presetSubtype="8" fill="hold" nodeType="afterEffect">
                                  <p:stCondLst>
                                    <p:cond delay="0"/>
                                  </p:stCondLst>
                                  <p:childTnLst>
                                    <p:set>
                                      <p:cBhvr>
                                        <p:cTn id="18" dur="1" fill="hold">
                                          <p:stCondLst>
                                            <p:cond delay="0"/>
                                          </p:stCondLst>
                                        </p:cTn>
                                        <p:tgtEl>
                                          <p:spTgt spid="1375"/>
                                        </p:tgtEl>
                                        <p:attrNameLst>
                                          <p:attrName>style.visibility</p:attrName>
                                        </p:attrNameLst>
                                      </p:cBhvr>
                                      <p:to>
                                        <p:strVal val="visible"/>
                                      </p:to>
                                    </p:set>
                                    <p:anim calcmode="lin" valueType="num">
                                      <p:cBhvr additive="base">
                                        <p:cTn id="19" dur="1000"/>
                                        <p:tgtEl>
                                          <p:spTgt spid="1375"/>
                                        </p:tgtEl>
                                        <p:attrNameLst>
                                          <p:attrName>ppt_x</p:attrName>
                                        </p:attrNameLst>
                                      </p:cBhvr>
                                      <p:tavLst>
                                        <p:tav tm="0">
                                          <p:val>
                                            <p:strVal val="#ppt_x-1"/>
                                          </p:val>
                                        </p:tav>
                                        <p:tav tm="100000">
                                          <p:val>
                                            <p:strVal val="#ppt_x"/>
                                          </p:val>
                                        </p:tav>
                                      </p:tavLst>
                                    </p:anim>
                                  </p:childTnLst>
                                </p:cTn>
                              </p:par>
                            </p:childTnLst>
                          </p:cTn>
                        </p:par>
                        <p:par>
                          <p:cTn id="20" fill="hold">
                            <p:stCondLst>
                              <p:cond delay="4000"/>
                            </p:stCondLst>
                            <p:childTnLst>
                              <p:par>
                                <p:cTn id="21" presetID="2" presetClass="entr" presetSubtype="8" fill="hold" nodeType="afterEffect">
                                  <p:stCondLst>
                                    <p:cond delay="0"/>
                                  </p:stCondLst>
                                  <p:childTnLst>
                                    <p:set>
                                      <p:cBhvr>
                                        <p:cTn id="22" dur="1" fill="hold">
                                          <p:stCondLst>
                                            <p:cond delay="0"/>
                                          </p:stCondLst>
                                        </p:cTn>
                                        <p:tgtEl>
                                          <p:spTgt spid="1376"/>
                                        </p:tgtEl>
                                        <p:attrNameLst>
                                          <p:attrName>style.visibility</p:attrName>
                                        </p:attrNameLst>
                                      </p:cBhvr>
                                      <p:to>
                                        <p:strVal val="visible"/>
                                      </p:to>
                                    </p:set>
                                    <p:anim calcmode="lin" valueType="num">
                                      <p:cBhvr additive="base">
                                        <p:cTn id="23" dur="1000"/>
                                        <p:tgtEl>
                                          <p:spTgt spid="1376"/>
                                        </p:tgtEl>
                                        <p:attrNameLst>
                                          <p:attrName>ppt_x</p:attrName>
                                        </p:attrNameLst>
                                      </p:cBhvr>
                                      <p:tavLst>
                                        <p:tav tm="0">
                                          <p:val>
                                            <p:strVal val="#ppt_x-1"/>
                                          </p:val>
                                        </p:tav>
                                        <p:tav tm="100000">
                                          <p:val>
                                            <p:strVal val="#ppt_x"/>
                                          </p:val>
                                        </p:tav>
                                      </p:tavLst>
                                    </p:anim>
                                  </p:childTnLst>
                                </p:cTn>
                              </p:par>
                            </p:childTnLst>
                          </p:cTn>
                        </p:par>
                        <p:par>
                          <p:cTn id="24" fill="hold">
                            <p:stCondLst>
                              <p:cond delay="5000"/>
                            </p:stCondLst>
                            <p:childTnLst>
                              <p:par>
                                <p:cTn id="25" presetID="2" presetClass="entr" presetSubtype="1" fill="hold" nodeType="afterEffect">
                                  <p:stCondLst>
                                    <p:cond delay="0"/>
                                  </p:stCondLst>
                                  <p:childTnLst>
                                    <p:set>
                                      <p:cBhvr>
                                        <p:cTn id="26" dur="1" fill="hold">
                                          <p:stCondLst>
                                            <p:cond delay="0"/>
                                          </p:stCondLst>
                                        </p:cTn>
                                        <p:tgtEl>
                                          <p:spTgt spid="1378"/>
                                        </p:tgtEl>
                                        <p:attrNameLst>
                                          <p:attrName>style.visibility</p:attrName>
                                        </p:attrNameLst>
                                      </p:cBhvr>
                                      <p:to>
                                        <p:strVal val="visible"/>
                                      </p:to>
                                    </p:set>
                                    <p:anim calcmode="lin" valueType="num">
                                      <p:cBhvr additive="base">
                                        <p:cTn id="27" dur="1000"/>
                                        <p:tgtEl>
                                          <p:spTgt spid="1378"/>
                                        </p:tgtEl>
                                        <p:attrNameLst>
                                          <p:attrName>ppt_y</p:attrName>
                                        </p:attrNameLst>
                                      </p:cBhvr>
                                      <p:tavLst>
                                        <p:tav tm="0">
                                          <p:val>
                                            <p:strVal val="#ppt_y-1"/>
                                          </p:val>
                                        </p:tav>
                                        <p:tav tm="100000">
                                          <p:val>
                                            <p:strVal val="#ppt_y"/>
                                          </p:val>
                                        </p:tav>
                                      </p:tavLst>
                                    </p:anim>
                                  </p:childTnLst>
                                </p:cTn>
                              </p:par>
                            </p:childTnLst>
                          </p:cTn>
                        </p:par>
                        <p:par>
                          <p:cTn id="28" fill="hold">
                            <p:stCondLst>
                              <p:cond delay="6000"/>
                            </p:stCondLst>
                            <p:childTnLst>
                              <p:par>
                                <p:cTn id="29" presetID="2" presetClass="entr" presetSubtype="1" fill="hold" nodeType="afterEffect">
                                  <p:stCondLst>
                                    <p:cond delay="0"/>
                                  </p:stCondLst>
                                  <p:childTnLst>
                                    <p:set>
                                      <p:cBhvr>
                                        <p:cTn id="30" dur="1" fill="hold">
                                          <p:stCondLst>
                                            <p:cond delay="0"/>
                                          </p:stCondLst>
                                        </p:cTn>
                                        <p:tgtEl>
                                          <p:spTgt spid="1377"/>
                                        </p:tgtEl>
                                        <p:attrNameLst>
                                          <p:attrName>style.visibility</p:attrName>
                                        </p:attrNameLst>
                                      </p:cBhvr>
                                      <p:to>
                                        <p:strVal val="visible"/>
                                      </p:to>
                                    </p:set>
                                    <p:anim calcmode="lin" valueType="num">
                                      <p:cBhvr additive="base">
                                        <p:cTn id="31" dur="1000"/>
                                        <p:tgtEl>
                                          <p:spTgt spid="13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pic>
        <p:nvPicPr>
          <p:cNvPr id="4" name="Picture 2" descr="The Difference Between Dollar Tree and Dollar General - sacas.ac.in">
            <a:extLst>
              <a:ext uri="{FF2B5EF4-FFF2-40B4-BE49-F238E27FC236}">
                <a16:creationId xmlns:a16="http://schemas.microsoft.com/office/drawing/2014/main" id="{1D84C250-727E-1498-2323-D1E5F6E7D2B7}"/>
              </a:ext>
            </a:extLst>
          </p:cNvPr>
          <p:cNvPicPr>
            <a:picLocks noChangeAspect="1" noChangeArrowheads="1"/>
          </p:cNvPicPr>
          <p:nvPr/>
        </p:nvPicPr>
        <p:blipFill rotWithShape="1">
          <a:blip r:embed="rId3">
            <a:alphaModFix amt="46000"/>
            <a:extLst>
              <a:ext uri="{BEBA8EAE-BF5A-486C-A8C5-ECC9F3942E4B}">
                <a14:imgProps xmlns:a14="http://schemas.microsoft.com/office/drawing/2010/main">
                  <a14:imgLayer r:embed="rId4">
                    <a14:imgEffect>
                      <a14:brightnessContrast bright="-45000"/>
                    </a14:imgEffect>
                  </a14:imgLayer>
                </a14:imgProps>
              </a:ext>
              <a:ext uri="{28A0092B-C50C-407E-A947-70E740481C1C}">
                <a14:useLocalDpi xmlns:a14="http://schemas.microsoft.com/office/drawing/2010/main" val="0"/>
              </a:ext>
            </a:extLst>
          </a:blip>
          <a:srcRect l="11304" t="9448" r="54904" b="35305"/>
          <a:stretch/>
        </p:blipFill>
        <p:spPr bwMode="auto">
          <a:xfrm rot="16200000">
            <a:off x="132321" y="3011152"/>
            <a:ext cx="2000027" cy="22646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he Difference Between Dollar Tree and Dollar General - sacas.ac.in">
            <a:extLst>
              <a:ext uri="{FF2B5EF4-FFF2-40B4-BE49-F238E27FC236}">
                <a16:creationId xmlns:a16="http://schemas.microsoft.com/office/drawing/2014/main" id="{D9860060-4A5B-0E2C-E144-E68487BD77CE}"/>
              </a:ext>
            </a:extLst>
          </p:cNvPr>
          <p:cNvPicPr>
            <a:picLocks noChangeAspect="1" noChangeArrowheads="1"/>
          </p:cNvPicPr>
          <p:nvPr/>
        </p:nvPicPr>
        <p:blipFill rotWithShape="1">
          <a:blip r:embed="rId5">
            <a:alphaModFix amt="46000"/>
            <a:extLst>
              <a:ext uri="{BEBA8EAE-BF5A-486C-A8C5-ECC9F3942E4B}">
                <a14:imgProps xmlns:a14="http://schemas.microsoft.com/office/drawing/2010/main">
                  <a14:imgLayer r:embed="rId4">
                    <a14:imgEffect>
                      <a14:brightnessContrast bright="-57000"/>
                    </a14:imgEffect>
                  </a14:imgLayer>
                </a14:imgProps>
              </a:ext>
              <a:ext uri="{28A0092B-C50C-407E-A947-70E740481C1C}">
                <a14:useLocalDpi xmlns:a14="http://schemas.microsoft.com/office/drawing/2010/main" val="0"/>
              </a:ext>
            </a:extLst>
          </a:blip>
          <a:srcRect l="51234" t="9448" r="1659" b="24761"/>
          <a:stretch/>
        </p:blipFill>
        <p:spPr bwMode="auto">
          <a:xfrm rot="16200000">
            <a:off x="-452650" y="400964"/>
            <a:ext cx="2788113" cy="2696899"/>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359;p91">
            <a:extLst>
              <a:ext uri="{FF2B5EF4-FFF2-40B4-BE49-F238E27FC236}">
                <a16:creationId xmlns:a16="http://schemas.microsoft.com/office/drawing/2014/main" id="{6FADE6EF-1345-9035-D354-E90F0499CF6A}"/>
              </a:ext>
            </a:extLst>
          </p:cNvPr>
          <p:cNvSpPr>
            <a:spLocks/>
          </p:cNvSpPr>
          <p:nvPr/>
        </p:nvSpPr>
        <p:spPr>
          <a:xfrm>
            <a:off x="-5144" y="0"/>
            <a:ext cx="2295000" cy="5151464"/>
          </a:xfrm>
          <a:prstGeom prst="rect">
            <a:avLst/>
          </a:prstGeom>
          <a:gradFill flip="none" rotWithShape="1">
            <a:gsLst>
              <a:gs pos="39000">
                <a:schemeClr val="lt1">
                  <a:shade val="30000"/>
                  <a:satMod val="115000"/>
                  <a:alpha val="51000"/>
                </a:schemeClr>
              </a:gs>
              <a:gs pos="83000">
                <a:schemeClr val="lt1">
                  <a:shade val="67500"/>
                  <a:satMod val="115000"/>
                </a:schemeClr>
              </a:gs>
              <a:gs pos="24000">
                <a:schemeClr val="lt1">
                  <a:shade val="100000"/>
                  <a:satMod val="115000"/>
                </a:schemeClr>
              </a:gs>
            </a:gsLst>
            <a:lin ang="27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896" name="Google Shape;896;p76"/>
          <p:cNvGrpSpPr/>
          <p:nvPr/>
        </p:nvGrpSpPr>
        <p:grpSpPr>
          <a:xfrm>
            <a:off x="3052581" y="2473070"/>
            <a:ext cx="375817" cy="327170"/>
            <a:chOff x="2679525" y="4080150"/>
            <a:chExt cx="221525" cy="192850"/>
          </a:xfrm>
        </p:grpSpPr>
        <p:sp>
          <p:nvSpPr>
            <p:cNvPr id="897" name="Google Shape;897;p76"/>
            <p:cNvSpPr/>
            <p:nvPr/>
          </p:nvSpPr>
          <p:spPr>
            <a:xfrm>
              <a:off x="2710850" y="4142575"/>
              <a:ext cx="141550" cy="6500"/>
            </a:xfrm>
            <a:custGeom>
              <a:avLst/>
              <a:gdLst/>
              <a:ahLst/>
              <a:cxnLst/>
              <a:rect l="l" t="t" r="r" b="b"/>
              <a:pathLst>
                <a:path w="5662" h="260" extrusionOk="0">
                  <a:moveTo>
                    <a:pt x="126" y="0"/>
                  </a:moveTo>
                  <a:cubicBezTo>
                    <a:pt x="56" y="3"/>
                    <a:pt x="1" y="59"/>
                    <a:pt x="1" y="129"/>
                  </a:cubicBezTo>
                  <a:cubicBezTo>
                    <a:pt x="1" y="199"/>
                    <a:pt x="56" y="257"/>
                    <a:pt x="126" y="260"/>
                  </a:cubicBezTo>
                  <a:lnTo>
                    <a:pt x="5536" y="260"/>
                  </a:lnTo>
                  <a:cubicBezTo>
                    <a:pt x="5606" y="257"/>
                    <a:pt x="5661" y="199"/>
                    <a:pt x="5661" y="129"/>
                  </a:cubicBezTo>
                  <a:cubicBezTo>
                    <a:pt x="5661" y="59"/>
                    <a:pt x="5606" y="3"/>
                    <a:pt x="55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8" name="Google Shape;898;p76"/>
            <p:cNvSpPr/>
            <p:nvPr/>
          </p:nvSpPr>
          <p:spPr>
            <a:xfrm>
              <a:off x="2710850" y="4125225"/>
              <a:ext cx="92975" cy="6500"/>
            </a:xfrm>
            <a:custGeom>
              <a:avLst/>
              <a:gdLst/>
              <a:ahLst/>
              <a:cxnLst/>
              <a:rect l="l" t="t" r="r" b="b"/>
              <a:pathLst>
                <a:path w="3719" h="260" extrusionOk="0">
                  <a:moveTo>
                    <a:pt x="126" y="1"/>
                  </a:moveTo>
                  <a:cubicBezTo>
                    <a:pt x="56" y="2"/>
                    <a:pt x="1" y="60"/>
                    <a:pt x="1" y="130"/>
                  </a:cubicBezTo>
                  <a:cubicBezTo>
                    <a:pt x="1" y="200"/>
                    <a:pt x="56" y="258"/>
                    <a:pt x="126" y="259"/>
                  </a:cubicBezTo>
                  <a:lnTo>
                    <a:pt x="3593" y="259"/>
                  </a:lnTo>
                  <a:cubicBezTo>
                    <a:pt x="3663" y="258"/>
                    <a:pt x="3719" y="200"/>
                    <a:pt x="3719" y="130"/>
                  </a:cubicBezTo>
                  <a:cubicBezTo>
                    <a:pt x="3719" y="60"/>
                    <a:pt x="3663" y="2"/>
                    <a:pt x="35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9" name="Google Shape;899;p76"/>
            <p:cNvSpPr/>
            <p:nvPr/>
          </p:nvSpPr>
          <p:spPr>
            <a:xfrm>
              <a:off x="2811200" y="4125225"/>
              <a:ext cx="41200" cy="6500"/>
            </a:xfrm>
            <a:custGeom>
              <a:avLst/>
              <a:gdLst/>
              <a:ahLst/>
              <a:cxnLst/>
              <a:rect l="l" t="t" r="r" b="b"/>
              <a:pathLst>
                <a:path w="1648" h="260" extrusionOk="0">
                  <a:moveTo>
                    <a:pt x="130" y="1"/>
                  </a:moveTo>
                  <a:cubicBezTo>
                    <a:pt x="59" y="1"/>
                    <a:pt x="1" y="58"/>
                    <a:pt x="1" y="130"/>
                  </a:cubicBezTo>
                  <a:cubicBezTo>
                    <a:pt x="1" y="202"/>
                    <a:pt x="59" y="259"/>
                    <a:pt x="130" y="259"/>
                  </a:cubicBezTo>
                  <a:cubicBezTo>
                    <a:pt x="132" y="259"/>
                    <a:pt x="134" y="259"/>
                    <a:pt x="135" y="259"/>
                  </a:cubicBezTo>
                  <a:lnTo>
                    <a:pt x="1522" y="259"/>
                  </a:lnTo>
                  <a:cubicBezTo>
                    <a:pt x="1592" y="258"/>
                    <a:pt x="1647" y="200"/>
                    <a:pt x="1647" y="130"/>
                  </a:cubicBezTo>
                  <a:cubicBezTo>
                    <a:pt x="1647" y="60"/>
                    <a:pt x="1592" y="2"/>
                    <a:pt x="1522" y="1"/>
                  </a:cubicBezTo>
                  <a:lnTo>
                    <a:pt x="135" y="1"/>
                  </a:lnTo>
                  <a:cubicBezTo>
                    <a:pt x="134" y="1"/>
                    <a:pt x="132" y="1"/>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0" name="Google Shape;900;p76"/>
            <p:cNvSpPr/>
            <p:nvPr/>
          </p:nvSpPr>
          <p:spPr>
            <a:xfrm>
              <a:off x="2710850" y="4159900"/>
              <a:ext cx="51350" cy="6525"/>
            </a:xfrm>
            <a:custGeom>
              <a:avLst/>
              <a:gdLst/>
              <a:ahLst/>
              <a:cxnLst/>
              <a:rect l="l" t="t" r="r" b="b"/>
              <a:pathLst>
                <a:path w="2054" h="261" extrusionOk="0">
                  <a:moveTo>
                    <a:pt x="126" y="0"/>
                  </a:moveTo>
                  <a:cubicBezTo>
                    <a:pt x="56" y="3"/>
                    <a:pt x="1" y="60"/>
                    <a:pt x="1" y="130"/>
                  </a:cubicBezTo>
                  <a:cubicBezTo>
                    <a:pt x="1" y="200"/>
                    <a:pt x="56" y="258"/>
                    <a:pt x="126" y="260"/>
                  </a:cubicBezTo>
                  <a:lnTo>
                    <a:pt x="1928" y="260"/>
                  </a:lnTo>
                  <a:cubicBezTo>
                    <a:pt x="1998" y="258"/>
                    <a:pt x="2053" y="200"/>
                    <a:pt x="2053" y="130"/>
                  </a:cubicBezTo>
                  <a:cubicBezTo>
                    <a:pt x="2053" y="60"/>
                    <a:pt x="1998" y="3"/>
                    <a:pt x="19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1" name="Google Shape;901;p76"/>
            <p:cNvSpPr/>
            <p:nvPr/>
          </p:nvSpPr>
          <p:spPr>
            <a:xfrm>
              <a:off x="2776750" y="4159900"/>
              <a:ext cx="75650" cy="6525"/>
            </a:xfrm>
            <a:custGeom>
              <a:avLst/>
              <a:gdLst/>
              <a:ahLst/>
              <a:cxnLst/>
              <a:rect l="l" t="t" r="r" b="b"/>
              <a:pathLst>
                <a:path w="3026" h="261" extrusionOk="0">
                  <a:moveTo>
                    <a:pt x="125" y="0"/>
                  </a:moveTo>
                  <a:cubicBezTo>
                    <a:pt x="55" y="3"/>
                    <a:pt x="0" y="60"/>
                    <a:pt x="0" y="130"/>
                  </a:cubicBezTo>
                  <a:cubicBezTo>
                    <a:pt x="0" y="200"/>
                    <a:pt x="55" y="258"/>
                    <a:pt x="125" y="260"/>
                  </a:cubicBezTo>
                  <a:lnTo>
                    <a:pt x="2900" y="260"/>
                  </a:lnTo>
                  <a:cubicBezTo>
                    <a:pt x="2970" y="258"/>
                    <a:pt x="3025" y="200"/>
                    <a:pt x="3025" y="130"/>
                  </a:cubicBezTo>
                  <a:cubicBezTo>
                    <a:pt x="3025" y="60"/>
                    <a:pt x="2970" y="3"/>
                    <a:pt x="29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2" name="Google Shape;902;p76"/>
            <p:cNvSpPr/>
            <p:nvPr/>
          </p:nvSpPr>
          <p:spPr>
            <a:xfrm>
              <a:off x="2710725" y="4107875"/>
              <a:ext cx="23850" cy="6525"/>
            </a:xfrm>
            <a:custGeom>
              <a:avLst/>
              <a:gdLst/>
              <a:ahLst/>
              <a:cxnLst/>
              <a:rect l="l" t="t" r="r" b="b"/>
              <a:pathLst>
                <a:path w="954" h="261" extrusionOk="0">
                  <a:moveTo>
                    <a:pt x="131" y="0"/>
                  </a:moveTo>
                  <a:cubicBezTo>
                    <a:pt x="58" y="0"/>
                    <a:pt x="0" y="58"/>
                    <a:pt x="0" y="131"/>
                  </a:cubicBezTo>
                  <a:cubicBezTo>
                    <a:pt x="0" y="202"/>
                    <a:pt x="58" y="260"/>
                    <a:pt x="131" y="260"/>
                  </a:cubicBezTo>
                  <a:lnTo>
                    <a:pt x="824" y="260"/>
                  </a:lnTo>
                  <a:cubicBezTo>
                    <a:pt x="895" y="260"/>
                    <a:pt x="953" y="202"/>
                    <a:pt x="953" y="131"/>
                  </a:cubicBezTo>
                  <a:cubicBezTo>
                    <a:pt x="953" y="58"/>
                    <a:pt x="895" y="0"/>
                    <a:pt x="8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3" name="Google Shape;903;p76"/>
            <p:cNvSpPr/>
            <p:nvPr/>
          </p:nvSpPr>
          <p:spPr>
            <a:xfrm>
              <a:off x="2741950" y="4107875"/>
              <a:ext cx="110550" cy="6525"/>
            </a:xfrm>
            <a:custGeom>
              <a:avLst/>
              <a:gdLst/>
              <a:ahLst/>
              <a:cxnLst/>
              <a:rect l="l" t="t" r="r" b="b"/>
              <a:pathLst>
                <a:path w="4422" h="261" extrusionOk="0">
                  <a:moveTo>
                    <a:pt x="130" y="0"/>
                  </a:moveTo>
                  <a:cubicBezTo>
                    <a:pt x="58" y="0"/>
                    <a:pt x="0" y="58"/>
                    <a:pt x="0" y="131"/>
                  </a:cubicBezTo>
                  <a:cubicBezTo>
                    <a:pt x="0" y="202"/>
                    <a:pt x="58" y="260"/>
                    <a:pt x="130" y="260"/>
                  </a:cubicBezTo>
                  <a:lnTo>
                    <a:pt x="4292" y="260"/>
                  </a:lnTo>
                  <a:cubicBezTo>
                    <a:pt x="4363" y="260"/>
                    <a:pt x="4421" y="202"/>
                    <a:pt x="4421" y="131"/>
                  </a:cubicBezTo>
                  <a:cubicBezTo>
                    <a:pt x="4421" y="58"/>
                    <a:pt x="4363" y="0"/>
                    <a:pt x="42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4" name="Google Shape;904;p76"/>
            <p:cNvSpPr/>
            <p:nvPr/>
          </p:nvSpPr>
          <p:spPr>
            <a:xfrm>
              <a:off x="2710725" y="4177225"/>
              <a:ext cx="107100" cy="6525"/>
            </a:xfrm>
            <a:custGeom>
              <a:avLst/>
              <a:gdLst/>
              <a:ahLst/>
              <a:cxnLst/>
              <a:rect l="l" t="t" r="r" b="b"/>
              <a:pathLst>
                <a:path w="4284" h="261" extrusionOk="0">
                  <a:moveTo>
                    <a:pt x="131" y="1"/>
                  </a:moveTo>
                  <a:cubicBezTo>
                    <a:pt x="58" y="1"/>
                    <a:pt x="0" y="60"/>
                    <a:pt x="0" y="131"/>
                  </a:cubicBezTo>
                  <a:cubicBezTo>
                    <a:pt x="0" y="203"/>
                    <a:pt x="58" y="260"/>
                    <a:pt x="131" y="260"/>
                  </a:cubicBezTo>
                  <a:lnTo>
                    <a:pt x="4154" y="260"/>
                  </a:lnTo>
                  <a:cubicBezTo>
                    <a:pt x="4226" y="260"/>
                    <a:pt x="4284" y="203"/>
                    <a:pt x="4284" y="131"/>
                  </a:cubicBezTo>
                  <a:cubicBezTo>
                    <a:pt x="4284" y="60"/>
                    <a:pt x="4226" y="1"/>
                    <a:pt x="415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5" name="Google Shape;905;p76"/>
            <p:cNvSpPr/>
            <p:nvPr/>
          </p:nvSpPr>
          <p:spPr>
            <a:xfrm>
              <a:off x="2825200" y="4177225"/>
              <a:ext cx="27325" cy="6525"/>
            </a:xfrm>
            <a:custGeom>
              <a:avLst/>
              <a:gdLst/>
              <a:ahLst/>
              <a:cxnLst/>
              <a:rect l="l" t="t" r="r" b="b"/>
              <a:pathLst>
                <a:path w="1093" h="261" extrusionOk="0">
                  <a:moveTo>
                    <a:pt x="130" y="1"/>
                  </a:moveTo>
                  <a:cubicBezTo>
                    <a:pt x="59" y="1"/>
                    <a:pt x="1" y="60"/>
                    <a:pt x="1" y="131"/>
                  </a:cubicBezTo>
                  <a:cubicBezTo>
                    <a:pt x="1" y="203"/>
                    <a:pt x="59" y="260"/>
                    <a:pt x="130" y="260"/>
                  </a:cubicBezTo>
                  <a:lnTo>
                    <a:pt x="962" y="260"/>
                  </a:lnTo>
                  <a:cubicBezTo>
                    <a:pt x="1035" y="260"/>
                    <a:pt x="1092" y="203"/>
                    <a:pt x="1092" y="131"/>
                  </a:cubicBezTo>
                  <a:cubicBezTo>
                    <a:pt x="1092" y="60"/>
                    <a:pt x="1035" y="1"/>
                    <a:pt x="9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6" name="Google Shape;906;p76"/>
            <p:cNvSpPr/>
            <p:nvPr/>
          </p:nvSpPr>
          <p:spPr>
            <a:xfrm>
              <a:off x="2679525" y="4080150"/>
              <a:ext cx="221525" cy="192850"/>
            </a:xfrm>
            <a:custGeom>
              <a:avLst/>
              <a:gdLst/>
              <a:ahLst/>
              <a:cxnLst/>
              <a:rect l="l" t="t" r="r" b="b"/>
              <a:pathLst>
                <a:path w="8861" h="7714" extrusionOk="0">
                  <a:moveTo>
                    <a:pt x="2741" y="5254"/>
                  </a:moveTo>
                  <a:lnTo>
                    <a:pt x="2609" y="5826"/>
                  </a:lnTo>
                  <a:lnTo>
                    <a:pt x="1517" y="5826"/>
                  </a:lnTo>
                  <a:cubicBezTo>
                    <a:pt x="1282" y="5826"/>
                    <a:pt x="1092" y="5636"/>
                    <a:pt x="1092" y="5401"/>
                  </a:cubicBezTo>
                  <a:lnTo>
                    <a:pt x="1092" y="5254"/>
                  </a:lnTo>
                  <a:close/>
                  <a:moveTo>
                    <a:pt x="7343" y="260"/>
                  </a:moveTo>
                  <a:cubicBezTo>
                    <a:pt x="7578" y="260"/>
                    <a:pt x="7769" y="450"/>
                    <a:pt x="7769" y="684"/>
                  </a:cubicBezTo>
                  <a:lnTo>
                    <a:pt x="7769" y="4569"/>
                  </a:lnTo>
                  <a:cubicBezTo>
                    <a:pt x="7769" y="4803"/>
                    <a:pt x="7578" y="4994"/>
                    <a:pt x="7343" y="4994"/>
                  </a:cubicBezTo>
                  <a:lnTo>
                    <a:pt x="5124" y="4994"/>
                  </a:lnTo>
                  <a:cubicBezTo>
                    <a:pt x="5098" y="4994"/>
                    <a:pt x="5073" y="5002"/>
                    <a:pt x="5051" y="5017"/>
                  </a:cubicBezTo>
                  <a:lnTo>
                    <a:pt x="2709" y="6619"/>
                  </a:lnTo>
                  <a:cubicBezTo>
                    <a:pt x="2707" y="6620"/>
                    <a:pt x="2705" y="6621"/>
                    <a:pt x="2703" y="6621"/>
                  </a:cubicBezTo>
                  <a:cubicBezTo>
                    <a:pt x="2701" y="6621"/>
                    <a:pt x="2699" y="6620"/>
                    <a:pt x="2698" y="6619"/>
                  </a:cubicBezTo>
                  <a:cubicBezTo>
                    <a:pt x="2695" y="6618"/>
                    <a:pt x="2693" y="6614"/>
                    <a:pt x="2694" y="6610"/>
                  </a:cubicBezTo>
                  <a:lnTo>
                    <a:pt x="3030" y="5153"/>
                  </a:lnTo>
                  <a:cubicBezTo>
                    <a:pt x="3049" y="5071"/>
                    <a:pt x="2989" y="4994"/>
                    <a:pt x="2904" y="4994"/>
                  </a:cubicBezTo>
                  <a:lnTo>
                    <a:pt x="684" y="4994"/>
                  </a:lnTo>
                  <a:cubicBezTo>
                    <a:pt x="450" y="4994"/>
                    <a:pt x="260" y="4803"/>
                    <a:pt x="260" y="4569"/>
                  </a:cubicBezTo>
                  <a:lnTo>
                    <a:pt x="260" y="684"/>
                  </a:lnTo>
                  <a:cubicBezTo>
                    <a:pt x="260" y="450"/>
                    <a:pt x="450" y="260"/>
                    <a:pt x="684" y="260"/>
                  </a:cubicBezTo>
                  <a:close/>
                  <a:moveTo>
                    <a:pt x="8175" y="1092"/>
                  </a:moveTo>
                  <a:cubicBezTo>
                    <a:pt x="8411" y="1092"/>
                    <a:pt x="8601" y="1282"/>
                    <a:pt x="8601" y="1517"/>
                  </a:cubicBezTo>
                  <a:lnTo>
                    <a:pt x="8601" y="5401"/>
                  </a:lnTo>
                  <a:cubicBezTo>
                    <a:pt x="8601" y="5636"/>
                    <a:pt x="8411" y="5826"/>
                    <a:pt x="8175" y="5826"/>
                  </a:cubicBezTo>
                  <a:lnTo>
                    <a:pt x="5957" y="5826"/>
                  </a:lnTo>
                  <a:cubicBezTo>
                    <a:pt x="5874" y="5826"/>
                    <a:pt x="5812" y="5904"/>
                    <a:pt x="5830" y="5985"/>
                  </a:cubicBezTo>
                  <a:lnTo>
                    <a:pt x="6167" y="7443"/>
                  </a:lnTo>
                  <a:cubicBezTo>
                    <a:pt x="6168" y="7448"/>
                    <a:pt x="6164" y="7453"/>
                    <a:pt x="6159" y="7453"/>
                  </a:cubicBezTo>
                  <a:cubicBezTo>
                    <a:pt x="6157" y="7453"/>
                    <a:pt x="6155" y="7452"/>
                    <a:pt x="6154" y="7451"/>
                  </a:cubicBezTo>
                  <a:lnTo>
                    <a:pt x="4054" y="6015"/>
                  </a:lnTo>
                  <a:lnTo>
                    <a:pt x="5165" y="5254"/>
                  </a:lnTo>
                  <a:lnTo>
                    <a:pt x="7343" y="5254"/>
                  </a:lnTo>
                  <a:cubicBezTo>
                    <a:pt x="7722" y="5253"/>
                    <a:pt x="8027" y="4947"/>
                    <a:pt x="8029" y="4569"/>
                  </a:cubicBezTo>
                  <a:lnTo>
                    <a:pt x="8029" y="1092"/>
                  </a:lnTo>
                  <a:close/>
                  <a:moveTo>
                    <a:pt x="684" y="0"/>
                  </a:moveTo>
                  <a:cubicBezTo>
                    <a:pt x="307" y="0"/>
                    <a:pt x="0" y="307"/>
                    <a:pt x="0" y="684"/>
                  </a:cubicBezTo>
                  <a:lnTo>
                    <a:pt x="0" y="4569"/>
                  </a:lnTo>
                  <a:cubicBezTo>
                    <a:pt x="0" y="4947"/>
                    <a:pt x="307" y="5253"/>
                    <a:pt x="684" y="5254"/>
                  </a:cubicBezTo>
                  <a:lnTo>
                    <a:pt x="832" y="5254"/>
                  </a:lnTo>
                  <a:lnTo>
                    <a:pt x="832" y="5401"/>
                  </a:lnTo>
                  <a:cubicBezTo>
                    <a:pt x="832" y="5779"/>
                    <a:pt x="1139" y="6086"/>
                    <a:pt x="1517" y="6086"/>
                  </a:cubicBezTo>
                  <a:lnTo>
                    <a:pt x="2549" y="6086"/>
                  </a:lnTo>
                  <a:lnTo>
                    <a:pt x="2442" y="6552"/>
                  </a:lnTo>
                  <a:cubicBezTo>
                    <a:pt x="2399" y="6733"/>
                    <a:pt x="2543" y="6882"/>
                    <a:pt x="2704" y="6882"/>
                  </a:cubicBezTo>
                  <a:cubicBezTo>
                    <a:pt x="2754" y="6882"/>
                    <a:pt x="2807" y="6867"/>
                    <a:pt x="2855" y="6833"/>
                  </a:cubicBezTo>
                  <a:lnTo>
                    <a:pt x="3822" y="6172"/>
                  </a:lnTo>
                  <a:lnTo>
                    <a:pt x="6005" y="7666"/>
                  </a:lnTo>
                  <a:cubicBezTo>
                    <a:pt x="6053" y="7699"/>
                    <a:pt x="6105" y="7713"/>
                    <a:pt x="6155" y="7713"/>
                  </a:cubicBezTo>
                  <a:cubicBezTo>
                    <a:pt x="6316" y="7713"/>
                    <a:pt x="6460" y="7565"/>
                    <a:pt x="6419" y="7384"/>
                  </a:cubicBezTo>
                  <a:lnTo>
                    <a:pt x="6120" y="6086"/>
                  </a:lnTo>
                  <a:lnTo>
                    <a:pt x="8175" y="6086"/>
                  </a:lnTo>
                  <a:cubicBezTo>
                    <a:pt x="8554" y="6086"/>
                    <a:pt x="8861" y="5779"/>
                    <a:pt x="8861" y="5401"/>
                  </a:cubicBezTo>
                  <a:lnTo>
                    <a:pt x="8861" y="1517"/>
                  </a:lnTo>
                  <a:cubicBezTo>
                    <a:pt x="8861" y="1139"/>
                    <a:pt x="8554" y="832"/>
                    <a:pt x="8175" y="832"/>
                  </a:cubicBezTo>
                  <a:lnTo>
                    <a:pt x="8029" y="832"/>
                  </a:lnTo>
                  <a:lnTo>
                    <a:pt x="8029" y="684"/>
                  </a:lnTo>
                  <a:cubicBezTo>
                    <a:pt x="8027" y="307"/>
                    <a:pt x="7722" y="0"/>
                    <a:pt x="73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07" name="Google Shape;907;p76"/>
          <p:cNvGrpSpPr/>
          <p:nvPr/>
        </p:nvGrpSpPr>
        <p:grpSpPr>
          <a:xfrm>
            <a:off x="3052580" y="3631118"/>
            <a:ext cx="375822" cy="250327"/>
            <a:chOff x="2897600" y="4998600"/>
            <a:chExt cx="213075" cy="141925"/>
          </a:xfrm>
        </p:grpSpPr>
        <p:sp>
          <p:nvSpPr>
            <p:cNvPr id="908" name="Google Shape;908;p76"/>
            <p:cNvSpPr/>
            <p:nvPr/>
          </p:nvSpPr>
          <p:spPr>
            <a:xfrm>
              <a:off x="2897600" y="4998600"/>
              <a:ext cx="213075" cy="141925"/>
            </a:xfrm>
            <a:custGeom>
              <a:avLst/>
              <a:gdLst/>
              <a:ahLst/>
              <a:cxnLst/>
              <a:rect l="l" t="t" r="r" b="b"/>
              <a:pathLst>
                <a:path w="8523" h="5677" extrusionOk="0">
                  <a:moveTo>
                    <a:pt x="8104" y="268"/>
                  </a:moveTo>
                  <a:cubicBezTo>
                    <a:pt x="8188" y="268"/>
                    <a:pt x="8256" y="335"/>
                    <a:pt x="8256" y="418"/>
                  </a:cubicBezTo>
                  <a:lnTo>
                    <a:pt x="8256" y="5258"/>
                  </a:lnTo>
                  <a:cubicBezTo>
                    <a:pt x="8256" y="5341"/>
                    <a:pt x="8188" y="5410"/>
                    <a:pt x="8104" y="5410"/>
                  </a:cubicBezTo>
                  <a:lnTo>
                    <a:pt x="419" y="5410"/>
                  </a:lnTo>
                  <a:cubicBezTo>
                    <a:pt x="334" y="5410"/>
                    <a:pt x="267" y="5341"/>
                    <a:pt x="267" y="5258"/>
                  </a:cubicBezTo>
                  <a:lnTo>
                    <a:pt x="267" y="418"/>
                  </a:lnTo>
                  <a:cubicBezTo>
                    <a:pt x="267" y="335"/>
                    <a:pt x="334" y="268"/>
                    <a:pt x="419" y="268"/>
                  </a:cubicBezTo>
                  <a:close/>
                  <a:moveTo>
                    <a:pt x="419" y="1"/>
                  </a:moveTo>
                  <a:cubicBezTo>
                    <a:pt x="187" y="1"/>
                    <a:pt x="0" y="188"/>
                    <a:pt x="0" y="418"/>
                  </a:cubicBezTo>
                  <a:lnTo>
                    <a:pt x="0" y="5258"/>
                  </a:lnTo>
                  <a:cubicBezTo>
                    <a:pt x="0" y="5488"/>
                    <a:pt x="187" y="5675"/>
                    <a:pt x="419" y="5676"/>
                  </a:cubicBezTo>
                  <a:lnTo>
                    <a:pt x="8104" y="5676"/>
                  </a:lnTo>
                  <a:cubicBezTo>
                    <a:pt x="8334" y="5675"/>
                    <a:pt x="8521" y="5488"/>
                    <a:pt x="8523" y="5258"/>
                  </a:cubicBezTo>
                  <a:lnTo>
                    <a:pt x="8523" y="418"/>
                  </a:lnTo>
                  <a:cubicBezTo>
                    <a:pt x="8521" y="188"/>
                    <a:pt x="8334" y="1"/>
                    <a:pt x="8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9" name="Google Shape;909;p76"/>
            <p:cNvSpPr/>
            <p:nvPr/>
          </p:nvSpPr>
          <p:spPr>
            <a:xfrm>
              <a:off x="2918975" y="5012825"/>
              <a:ext cx="170325" cy="113450"/>
            </a:xfrm>
            <a:custGeom>
              <a:avLst/>
              <a:gdLst/>
              <a:ahLst/>
              <a:cxnLst/>
              <a:rect l="l" t="t" r="r" b="b"/>
              <a:pathLst>
                <a:path w="6813" h="4538" extrusionOk="0">
                  <a:moveTo>
                    <a:pt x="6546" y="268"/>
                  </a:moveTo>
                  <a:lnTo>
                    <a:pt x="6546" y="4270"/>
                  </a:lnTo>
                  <a:lnTo>
                    <a:pt x="267" y="4270"/>
                  </a:lnTo>
                  <a:lnTo>
                    <a:pt x="267" y="268"/>
                  </a:lnTo>
                  <a:close/>
                  <a:moveTo>
                    <a:pt x="133" y="0"/>
                  </a:moveTo>
                  <a:cubicBezTo>
                    <a:pt x="59" y="0"/>
                    <a:pt x="0" y="61"/>
                    <a:pt x="0" y="135"/>
                  </a:cubicBezTo>
                  <a:lnTo>
                    <a:pt x="0" y="4405"/>
                  </a:lnTo>
                  <a:cubicBezTo>
                    <a:pt x="0" y="4477"/>
                    <a:pt x="59" y="4538"/>
                    <a:pt x="133" y="4538"/>
                  </a:cubicBezTo>
                  <a:lnTo>
                    <a:pt x="6680" y="4538"/>
                  </a:lnTo>
                  <a:cubicBezTo>
                    <a:pt x="6754" y="4538"/>
                    <a:pt x="6813" y="4477"/>
                    <a:pt x="6813" y="4405"/>
                  </a:cubicBezTo>
                  <a:lnTo>
                    <a:pt x="6813" y="133"/>
                  </a:lnTo>
                  <a:cubicBezTo>
                    <a:pt x="6813" y="61"/>
                    <a:pt x="6754" y="0"/>
                    <a:pt x="66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0" name="Google Shape;910;p76"/>
            <p:cNvSpPr/>
            <p:nvPr/>
          </p:nvSpPr>
          <p:spPr>
            <a:xfrm>
              <a:off x="2908275" y="5062650"/>
              <a:ext cx="6700" cy="13800"/>
            </a:xfrm>
            <a:custGeom>
              <a:avLst/>
              <a:gdLst/>
              <a:ahLst/>
              <a:cxnLst/>
              <a:rect l="l" t="t" r="r" b="b"/>
              <a:pathLst>
                <a:path w="268" h="552" extrusionOk="0">
                  <a:moveTo>
                    <a:pt x="133" y="1"/>
                  </a:moveTo>
                  <a:cubicBezTo>
                    <a:pt x="61" y="1"/>
                    <a:pt x="0" y="60"/>
                    <a:pt x="0" y="134"/>
                  </a:cubicBezTo>
                  <a:lnTo>
                    <a:pt x="0" y="418"/>
                  </a:lnTo>
                  <a:cubicBezTo>
                    <a:pt x="0" y="492"/>
                    <a:pt x="61" y="551"/>
                    <a:pt x="133" y="551"/>
                  </a:cubicBezTo>
                  <a:cubicBezTo>
                    <a:pt x="207" y="551"/>
                    <a:pt x="267" y="492"/>
                    <a:pt x="268" y="418"/>
                  </a:cubicBezTo>
                  <a:lnTo>
                    <a:pt x="268" y="134"/>
                  </a:lnTo>
                  <a:cubicBezTo>
                    <a:pt x="268" y="60"/>
                    <a:pt x="207" y="1"/>
                    <a:pt x="1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1" name="Google Shape;911;p76"/>
            <p:cNvSpPr/>
            <p:nvPr/>
          </p:nvSpPr>
          <p:spPr>
            <a:xfrm>
              <a:off x="3093300" y="5059075"/>
              <a:ext cx="6700" cy="20925"/>
            </a:xfrm>
            <a:custGeom>
              <a:avLst/>
              <a:gdLst/>
              <a:ahLst/>
              <a:cxnLst/>
              <a:rect l="l" t="t" r="r" b="b"/>
              <a:pathLst>
                <a:path w="268" h="837" extrusionOk="0">
                  <a:moveTo>
                    <a:pt x="135" y="1"/>
                  </a:moveTo>
                  <a:cubicBezTo>
                    <a:pt x="61" y="1"/>
                    <a:pt x="0" y="60"/>
                    <a:pt x="0" y="134"/>
                  </a:cubicBezTo>
                  <a:lnTo>
                    <a:pt x="0" y="704"/>
                  </a:lnTo>
                  <a:cubicBezTo>
                    <a:pt x="0" y="778"/>
                    <a:pt x="61" y="837"/>
                    <a:pt x="135" y="837"/>
                  </a:cubicBezTo>
                  <a:cubicBezTo>
                    <a:pt x="207" y="837"/>
                    <a:pt x="268" y="778"/>
                    <a:pt x="268" y="704"/>
                  </a:cubicBezTo>
                  <a:lnTo>
                    <a:pt x="268" y="134"/>
                  </a:lnTo>
                  <a:cubicBezTo>
                    <a:pt x="268" y="60"/>
                    <a:pt x="207" y="1"/>
                    <a:pt x="1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2" name="Google Shape;912;p76"/>
            <p:cNvSpPr/>
            <p:nvPr/>
          </p:nvSpPr>
          <p:spPr>
            <a:xfrm>
              <a:off x="3093300" y="5012825"/>
              <a:ext cx="6750" cy="6750"/>
            </a:xfrm>
            <a:custGeom>
              <a:avLst/>
              <a:gdLst/>
              <a:ahLst/>
              <a:cxnLst/>
              <a:rect l="l" t="t" r="r" b="b"/>
              <a:pathLst>
                <a:path w="270" h="270" extrusionOk="0">
                  <a:moveTo>
                    <a:pt x="135" y="0"/>
                  </a:moveTo>
                  <a:cubicBezTo>
                    <a:pt x="59" y="1"/>
                    <a:pt x="0" y="61"/>
                    <a:pt x="0" y="136"/>
                  </a:cubicBezTo>
                  <a:cubicBezTo>
                    <a:pt x="0" y="210"/>
                    <a:pt x="61" y="269"/>
                    <a:pt x="135" y="269"/>
                  </a:cubicBezTo>
                  <a:cubicBezTo>
                    <a:pt x="209" y="269"/>
                    <a:pt x="269" y="210"/>
                    <a:pt x="269" y="136"/>
                  </a:cubicBezTo>
                  <a:cubicBezTo>
                    <a:pt x="269" y="61"/>
                    <a:pt x="210" y="1"/>
                    <a:pt x="1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3" name="Google Shape;913;p76"/>
            <p:cNvSpPr/>
            <p:nvPr/>
          </p:nvSpPr>
          <p:spPr>
            <a:xfrm>
              <a:off x="2908275" y="5044850"/>
              <a:ext cx="6700" cy="10250"/>
            </a:xfrm>
            <a:custGeom>
              <a:avLst/>
              <a:gdLst/>
              <a:ahLst/>
              <a:cxnLst/>
              <a:rect l="l" t="t" r="r" b="b"/>
              <a:pathLst>
                <a:path w="268" h="410" extrusionOk="0">
                  <a:moveTo>
                    <a:pt x="133" y="1"/>
                  </a:moveTo>
                  <a:cubicBezTo>
                    <a:pt x="61" y="1"/>
                    <a:pt x="0" y="60"/>
                    <a:pt x="0" y="134"/>
                  </a:cubicBezTo>
                  <a:lnTo>
                    <a:pt x="0" y="277"/>
                  </a:lnTo>
                  <a:cubicBezTo>
                    <a:pt x="0" y="351"/>
                    <a:pt x="61" y="410"/>
                    <a:pt x="133" y="410"/>
                  </a:cubicBezTo>
                  <a:cubicBezTo>
                    <a:pt x="207" y="410"/>
                    <a:pt x="267" y="351"/>
                    <a:pt x="268" y="277"/>
                  </a:cubicBezTo>
                  <a:lnTo>
                    <a:pt x="268" y="134"/>
                  </a:lnTo>
                  <a:cubicBezTo>
                    <a:pt x="268" y="60"/>
                    <a:pt x="207" y="1"/>
                    <a:pt x="1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4" name="Google Shape;914;p76"/>
            <p:cNvSpPr/>
            <p:nvPr/>
          </p:nvSpPr>
          <p:spPr>
            <a:xfrm>
              <a:off x="2908275" y="5084000"/>
              <a:ext cx="6700" cy="10250"/>
            </a:xfrm>
            <a:custGeom>
              <a:avLst/>
              <a:gdLst/>
              <a:ahLst/>
              <a:cxnLst/>
              <a:rect l="l" t="t" r="r" b="b"/>
              <a:pathLst>
                <a:path w="268" h="410" extrusionOk="0">
                  <a:moveTo>
                    <a:pt x="133" y="0"/>
                  </a:moveTo>
                  <a:cubicBezTo>
                    <a:pt x="61" y="0"/>
                    <a:pt x="0" y="59"/>
                    <a:pt x="0" y="133"/>
                  </a:cubicBezTo>
                  <a:lnTo>
                    <a:pt x="0" y="276"/>
                  </a:lnTo>
                  <a:cubicBezTo>
                    <a:pt x="0" y="350"/>
                    <a:pt x="61" y="409"/>
                    <a:pt x="133" y="409"/>
                  </a:cubicBezTo>
                  <a:cubicBezTo>
                    <a:pt x="207" y="409"/>
                    <a:pt x="267" y="350"/>
                    <a:pt x="268" y="276"/>
                  </a:cubicBezTo>
                  <a:lnTo>
                    <a:pt x="268" y="133"/>
                  </a:lnTo>
                  <a:cubicBezTo>
                    <a:pt x="268" y="59"/>
                    <a:pt x="207" y="0"/>
                    <a:pt x="1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5" name="Google Shape;915;p76"/>
            <p:cNvSpPr/>
            <p:nvPr/>
          </p:nvSpPr>
          <p:spPr>
            <a:xfrm>
              <a:off x="2933175" y="5094650"/>
              <a:ext cx="141900" cy="20925"/>
            </a:xfrm>
            <a:custGeom>
              <a:avLst/>
              <a:gdLst/>
              <a:ahLst/>
              <a:cxnLst/>
              <a:rect l="l" t="t" r="r" b="b"/>
              <a:pathLst>
                <a:path w="5676" h="837" extrusionOk="0">
                  <a:moveTo>
                    <a:pt x="1274" y="267"/>
                  </a:moveTo>
                  <a:cubicBezTo>
                    <a:pt x="1311" y="267"/>
                    <a:pt x="1349" y="281"/>
                    <a:pt x="1380" y="312"/>
                  </a:cubicBezTo>
                  <a:cubicBezTo>
                    <a:pt x="1476" y="407"/>
                    <a:pt x="1408" y="570"/>
                    <a:pt x="1272" y="570"/>
                  </a:cubicBezTo>
                  <a:cubicBezTo>
                    <a:pt x="1189" y="570"/>
                    <a:pt x="1121" y="503"/>
                    <a:pt x="1121" y="420"/>
                  </a:cubicBezTo>
                  <a:cubicBezTo>
                    <a:pt x="1121" y="328"/>
                    <a:pt x="1196" y="267"/>
                    <a:pt x="1274" y="267"/>
                  </a:cubicBezTo>
                  <a:close/>
                  <a:moveTo>
                    <a:pt x="1272" y="1"/>
                  </a:moveTo>
                  <a:cubicBezTo>
                    <a:pt x="1093" y="1"/>
                    <a:pt x="934" y="115"/>
                    <a:pt x="876" y="286"/>
                  </a:cubicBezTo>
                  <a:lnTo>
                    <a:pt x="135" y="286"/>
                  </a:lnTo>
                  <a:cubicBezTo>
                    <a:pt x="61" y="286"/>
                    <a:pt x="0" y="345"/>
                    <a:pt x="0" y="420"/>
                  </a:cubicBezTo>
                  <a:cubicBezTo>
                    <a:pt x="0" y="494"/>
                    <a:pt x="61" y="553"/>
                    <a:pt x="135" y="553"/>
                  </a:cubicBezTo>
                  <a:lnTo>
                    <a:pt x="876" y="553"/>
                  </a:lnTo>
                  <a:cubicBezTo>
                    <a:pt x="934" y="722"/>
                    <a:pt x="1093" y="837"/>
                    <a:pt x="1272" y="837"/>
                  </a:cubicBezTo>
                  <a:cubicBezTo>
                    <a:pt x="1453" y="837"/>
                    <a:pt x="1611" y="722"/>
                    <a:pt x="1669" y="553"/>
                  </a:cubicBezTo>
                  <a:lnTo>
                    <a:pt x="5542" y="553"/>
                  </a:lnTo>
                  <a:cubicBezTo>
                    <a:pt x="5616" y="553"/>
                    <a:pt x="5675" y="494"/>
                    <a:pt x="5675" y="420"/>
                  </a:cubicBezTo>
                  <a:cubicBezTo>
                    <a:pt x="5675" y="345"/>
                    <a:pt x="5616" y="286"/>
                    <a:pt x="5542" y="286"/>
                  </a:cubicBezTo>
                  <a:lnTo>
                    <a:pt x="1669" y="286"/>
                  </a:lnTo>
                  <a:cubicBezTo>
                    <a:pt x="1611" y="115"/>
                    <a:pt x="1453" y="1"/>
                    <a:pt x="12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6" name="Google Shape;916;p76"/>
            <p:cNvSpPr/>
            <p:nvPr/>
          </p:nvSpPr>
          <p:spPr>
            <a:xfrm>
              <a:off x="2990100" y="5043475"/>
              <a:ext cx="32050" cy="30800"/>
            </a:xfrm>
            <a:custGeom>
              <a:avLst/>
              <a:gdLst/>
              <a:ahLst/>
              <a:cxnLst/>
              <a:rect l="l" t="t" r="r" b="b"/>
              <a:pathLst>
                <a:path w="1282" h="1232" extrusionOk="0">
                  <a:moveTo>
                    <a:pt x="277" y="268"/>
                  </a:moveTo>
                  <a:cubicBezTo>
                    <a:pt x="278" y="268"/>
                    <a:pt x="279" y="268"/>
                    <a:pt x="281" y="270"/>
                  </a:cubicBezTo>
                  <a:lnTo>
                    <a:pt x="959" y="609"/>
                  </a:lnTo>
                  <a:cubicBezTo>
                    <a:pt x="962" y="610"/>
                    <a:pt x="965" y="613"/>
                    <a:pt x="963" y="617"/>
                  </a:cubicBezTo>
                  <a:cubicBezTo>
                    <a:pt x="963" y="620"/>
                    <a:pt x="962" y="622"/>
                    <a:pt x="959" y="624"/>
                  </a:cubicBezTo>
                  <a:lnTo>
                    <a:pt x="281" y="963"/>
                  </a:lnTo>
                  <a:cubicBezTo>
                    <a:pt x="279" y="964"/>
                    <a:pt x="278" y="964"/>
                    <a:pt x="276" y="964"/>
                  </a:cubicBezTo>
                  <a:cubicBezTo>
                    <a:pt x="275" y="964"/>
                    <a:pt x="273" y="964"/>
                    <a:pt x="273" y="963"/>
                  </a:cubicBezTo>
                  <a:cubicBezTo>
                    <a:pt x="269" y="962"/>
                    <a:pt x="267" y="959"/>
                    <a:pt x="267" y="956"/>
                  </a:cubicBezTo>
                  <a:lnTo>
                    <a:pt x="267" y="278"/>
                  </a:lnTo>
                  <a:cubicBezTo>
                    <a:pt x="267" y="275"/>
                    <a:pt x="269" y="271"/>
                    <a:pt x="273" y="270"/>
                  </a:cubicBezTo>
                  <a:cubicBezTo>
                    <a:pt x="274" y="270"/>
                    <a:pt x="275" y="268"/>
                    <a:pt x="277" y="268"/>
                  </a:cubicBezTo>
                  <a:close/>
                  <a:moveTo>
                    <a:pt x="277" y="1"/>
                  </a:moveTo>
                  <a:cubicBezTo>
                    <a:pt x="132" y="1"/>
                    <a:pt x="1" y="117"/>
                    <a:pt x="1" y="278"/>
                  </a:cubicBezTo>
                  <a:lnTo>
                    <a:pt x="1" y="955"/>
                  </a:lnTo>
                  <a:cubicBezTo>
                    <a:pt x="1" y="1115"/>
                    <a:pt x="131" y="1231"/>
                    <a:pt x="276" y="1231"/>
                  </a:cubicBezTo>
                  <a:cubicBezTo>
                    <a:pt x="317" y="1231"/>
                    <a:pt x="360" y="1222"/>
                    <a:pt x="401" y="1201"/>
                  </a:cubicBezTo>
                  <a:lnTo>
                    <a:pt x="1078" y="863"/>
                  </a:lnTo>
                  <a:cubicBezTo>
                    <a:pt x="1281" y="761"/>
                    <a:pt x="1281" y="472"/>
                    <a:pt x="1078" y="369"/>
                  </a:cubicBezTo>
                  <a:lnTo>
                    <a:pt x="401" y="30"/>
                  </a:lnTo>
                  <a:cubicBezTo>
                    <a:pt x="360" y="10"/>
                    <a:pt x="318" y="1"/>
                    <a:pt x="2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7" name="Google Shape;917;p76"/>
            <p:cNvSpPr/>
            <p:nvPr/>
          </p:nvSpPr>
          <p:spPr>
            <a:xfrm>
              <a:off x="2965200" y="5027050"/>
              <a:ext cx="77875" cy="63625"/>
            </a:xfrm>
            <a:custGeom>
              <a:avLst/>
              <a:gdLst/>
              <a:ahLst/>
              <a:cxnLst/>
              <a:rect l="l" t="t" r="r" b="b"/>
              <a:pathLst>
                <a:path w="3115" h="2545" extrusionOk="0">
                  <a:moveTo>
                    <a:pt x="2412" y="268"/>
                  </a:moveTo>
                  <a:cubicBezTo>
                    <a:pt x="2653" y="268"/>
                    <a:pt x="2846" y="464"/>
                    <a:pt x="2848" y="703"/>
                  </a:cubicBezTo>
                  <a:lnTo>
                    <a:pt x="2848" y="1842"/>
                  </a:lnTo>
                  <a:cubicBezTo>
                    <a:pt x="2846" y="2083"/>
                    <a:pt x="2653" y="2278"/>
                    <a:pt x="2412" y="2278"/>
                  </a:cubicBezTo>
                  <a:lnTo>
                    <a:pt x="703" y="2278"/>
                  </a:lnTo>
                  <a:cubicBezTo>
                    <a:pt x="462" y="2278"/>
                    <a:pt x="267" y="2083"/>
                    <a:pt x="267" y="1842"/>
                  </a:cubicBezTo>
                  <a:lnTo>
                    <a:pt x="267" y="703"/>
                  </a:lnTo>
                  <a:cubicBezTo>
                    <a:pt x="267" y="464"/>
                    <a:pt x="462" y="268"/>
                    <a:pt x="703" y="268"/>
                  </a:cubicBezTo>
                  <a:close/>
                  <a:moveTo>
                    <a:pt x="703" y="0"/>
                  </a:moveTo>
                  <a:cubicBezTo>
                    <a:pt x="316" y="2"/>
                    <a:pt x="1" y="315"/>
                    <a:pt x="1" y="703"/>
                  </a:cubicBezTo>
                  <a:lnTo>
                    <a:pt x="1" y="1842"/>
                  </a:lnTo>
                  <a:cubicBezTo>
                    <a:pt x="1" y="2230"/>
                    <a:pt x="316" y="2545"/>
                    <a:pt x="703" y="2545"/>
                  </a:cubicBezTo>
                  <a:lnTo>
                    <a:pt x="2412" y="2545"/>
                  </a:lnTo>
                  <a:cubicBezTo>
                    <a:pt x="2799" y="2545"/>
                    <a:pt x="3114" y="2230"/>
                    <a:pt x="3114" y="1842"/>
                  </a:cubicBezTo>
                  <a:lnTo>
                    <a:pt x="3114" y="703"/>
                  </a:lnTo>
                  <a:cubicBezTo>
                    <a:pt x="3114" y="315"/>
                    <a:pt x="2799" y="2"/>
                    <a:pt x="24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18" name="Google Shape;918;p76"/>
          <p:cNvGrpSpPr/>
          <p:nvPr/>
        </p:nvGrpSpPr>
        <p:grpSpPr>
          <a:xfrm>
            <a:off x="3052576" y="1288257"/>
            <a:ext cx="375824" cy="246468"/>
            <a:chOff x="2342250" y="4676200"/>
            <a:chExt cx="256325" cy="168100"/>
          </a:xfrm>
        </p:grpSpPr>
        <p:sp>
          <p:nvSpPr>
            <p:cNvPr id="919" name="Google Shape;919;p76"/>
            <p:cNvSpPr/>
            <p:nvPr/>
          </p:nvSpPr>
          <p:spPr>
            <a:xfrm>
              <a:off x="2342250" y="4676200"/>
              <a:ext cx="256325" cy="168100"/>
            </a:xfrm>
            <a:custGeom>
              <a:avLst/>
              <a:gdLst/>
              <a:ahLst/>
              <a:cxnLst/>
              <a:rect l="l" t="t" r="r" b="b"/>
              <a:pathLst>
                <a:path w="10253" h="6724" extrusionOk="0">
                  <a:moveTo>
                    <a:pt x="7704" y="302"/>
                  </a:moveTo>
                  <a:lnTo>
                    <a:pt x="7704" y="3051"/>
                  </a:lnTo>
                  <a:lnTo>
                    <a:pt x="300" y="3051"/>
                  </a:lnTo>
                  <a:lnTo>
                    <a:pt x="300" y="302"/>
                  </a:lnTo>
                  <a:close/>
                  <a:moveTo>
                    <a:pt x="9461" y="1257"/>
                  </a:moveTo>
                  <a:cubicBezTo>
                    <a:pt x="9736" y="1257"/>
                    <a:pt x="9958" y="1482"/>
                    <a:pt x="9952" y="1758"/>
                  </a:cubicBezTo>
                  <a:lnTo>
                    <a:pt x="9952" y="5449"/>
                  </a:lnTo>
                  <a:cubicBezTo>
                    <a:pt x="9944" y="5982"/>
                    <a:pt x="9511" y="6410"/>
                    <a:pt x="8979" y="6410"/>
                  </a:cubicBezTo>
                  <a:cubicBezTo>
                    <a:pt x="8446" y="6410"/>
                    <a:pt x="8013" y="5982"/>
                    <a:pt x="8006" y="5449"/>
                  </a:cubicBezTo>
                  <a:lnTo>
                    <a:pt x="8006" y="4957"/>
                  </a:lnTo>
                  <a:lnTo>
                    <a:pt x="8817" y="4957"/>
                  </a:lnTo>
                  <a:cubicBezTo>
                    <a:pt x="8901" y="4957"/>
                    <a:pt x="8968" y="4890"/>
                    <a:pt x="8968" y="4807"/>
                  </a:cubicBezTo>
                  <a:lnTo>
                    <a:pt x="8968" y="2961"/>
                  </a:lnTo>
                  <a:cubicBezTo>
                    <a:pt x="8966" y="2880"/>
                    <a:pt x="8900" y="2816"/>
                    <a:pt x="8817" y="2816"/>
                  </a:cubicBezTo>
                  <a:cubicBezTo>
                    <a:pt x="8737" y="2816"/>
                    <a:pt x="8671" y="2880"/>
                    <a:pt x="8668" y="2961"/>
                  </a:cubicBezTo>
                  <a:lnTo>
                    <a:pt x="8668" y="4656"/>
                  </a:lnTo>
                  <a:lnTo>
                    <a:pt x="8006" y="4656"/>
                  </a:lnTo>
                  <a:lnTo>
                    <a:pt x="8006" y="1265"/>
                  </a:lnTo>
                  <a:lnTo>
                    <a:pt x="8839" y="1265"/>
                  </a:lnTo>
                  <a:cubicBezTo>
                    <a:pt x="8729" y="1405"/>
                    <a:pt x="8668" y="1579"/>
                    <a:pt x="8668" y="1758"/>
                  </a:cubicBezTo>
                  <a:lnTo>
                    <a:pt x="8668" y="2249"/>
                  </a:lnTo>
                  <a:cubicBezTo>
                    <a:pt x="8671" y="2330"/>
                    <a:pt x="8737" y="2394"/>
                    <a:pt x="8819" y="2394"/>
                  </a:cubicBezTo>
                  <a:cubicBezTo>
                    <a:pt x="8900" y="2394"/>
                    <a:pt x="8966" y="2330"/>
                    <a:pt x="8970" y="2249"/>
                  </a:cubicBezTo>
                  <a:lnTo>
                    <a:pt x="8970" y="1758"/>
                  </a:lnTo>
                  <a:cubicBezTo>
                    <a:pt x="8964" y="1482"/>
                    <a:pt x="9185" y="1257"/>
                    <a:pt x="9461" y="1257"/>
                  </a:cubicBezTo>
                  <a:close/>
                  <a:moveTo>
                    <a:pt x="7704" y="3353"/>
                  </a:moveTo>
                  <a:lnTo>
                    <a:pt x="7704" y="5449"/>
                  </a:lnTo>
                  <a:cubicBezTo>
                    <a:pt x="7704" y="5824"/>
                    <a:pt x="7870" y="6181"/>
                    <a:pt x="8158" y="6422"/>
                  </a:cubicBezTo>
                  <a:lnTo>
                    <a:pt x="1274" y="6422"/>
                  </a:lnTo>
                  <a:cubicBezTo>
                    <a:pt x="737" y="6422"/>
                    <a:pt x="302" y="5986"/>
                    <a:pt x="300" y="5449"/>
                  </a:cubicBezTo>
                  <a:lnTo>
                    <a:pt x="300" y="3353"/>
                  </a:lnTo>
                  <a:close/>
                  <a:moveTo>
                    <a:pt x="150" y="1"/>
                  </a:moveTo>
                  <a:cubicBezTo>
                    <a:pt x="68" y="2"/>
                    <a:pt x="0" y="70"/>
                    <a:pt x="0" y="152"/>
                  </a:cubicBezTo>
                  <a:lnTo>
                    <a:pt x="0" y="5449"/>
                  </a:lnTo>
                  <a:cubicBezTo>
                    <a:pt x="0" y="6153"/>
                    <a:pt x="571" y="6722"/>
                    <a:pt x="1274" y="6724"/>
                  </a:cubicBezTo>
                  <a:lnTo>
                    <a:pt x="8979" y="6724"/>
                  </a:lnTo>
                  <a:cubicBezTo>
                    <a:pt x="9682" y="6722"/>
                    <a:pt x="10251" y="6153"/>
                    <a:pt x="10252" y="5449"/>
                  </a:cubicBezTo>
                  <a:lnTo>
                    <a:pt x="10252" y="1758"/>
                  </a:lnTo>
                  <a:cubicBezTo>
                    <a:pt x="10252" y="1320"/>
                    <a:pt x="9897" y="965"/>
                    <a:pt x="9460" y="965"/>
                  </a:cubicBezTo>
                  <a:lnTo>
                    <a:pt x="8006" y="965"/>
                  </a:lnTo>
                  <a:lnTo>
                    <a:pt x="8006" y="152"/>
                  </a:lnTo>
                  <a:cubicBezTo>
                    <a:pt x="8006" y="70"/>
                    <a:pt x="7938" y="2"/>
                    <a:pt x="78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0" name="Google Shape;920;p76"/>
            <p:cNvSpPr/>
            <p:nvPr/>
          </p:nvSpPr>
          <p:spPr>
            <a:xfrm>
              <a:off x="2489300" y="4688400"/>
              <a:ext cx="29575" cy="59450"/>
            </a:xfrm>
            <a:custGeom>
              <a:avLst/>
              <a:gdLst/>
              <a:ahLst/>
              <a:cxnLst/>
              <a:rect l="l" t="t" r="r" b="b"/>
              <a:pathLst>
                <a:path w="1183" h="2378" extrusionOk="0">
                  <a:moveTo>
                    <a:pt x="592" y="0"/>
                  </a:moveTo>
                  <a:cubicBezTo>
                    <a:pt x="511" y="0"/>
                    <a:pt x="445" y="65"/>
                    <a:pt x="442" y="146"/>
                  </a:cubicBezTo>
                  <a:lnTo>
                    <a:pt x="442" y="318"/>
                  </a:lnTo>
                  <a:cubicBezTo>
                    <a:pt x="181" y="368"/>
                    <a:pt x="1" y="609"/>
                    <a:pt x="26" y="873"/>
                  </a:cubicBezTo>
                  <a:cubicBezTo>
                    <a:pt x="52" y="1138"/>
                    <a:pt x="274" y="1340"/>
                    <a:pt x="541" y="1340"/>
                  </a:cubicBezTo>
                  <a:lnTo>
                    <a:pt x="644" y="1340"/>
                  </a:lnTo>
                  <a:cubicBezTo>
                    <a:pt x="763" y="1340"/>
                    <a:pt x="860" y="1435"/>
                    <a:pt x="860" y="1554"/>
                  </a:cubicBezTo>
                  <a:cubicBezTo>
                    <a:pt x="860" y="1672"/>
                    <a:pt x="763" y="1769"/>
                    <a:pt x="644" y="1769"/>
                  </a:cubicBezTo>
                  <a:lnTo>
                    <a:pt x="488" y="1769"/>
                  </a:lnTo>
                  <a:cubicBezTo>
                    <a:pt x="398" y="1769"/>
                    <a:pt x="325" y="1696"/>
                    <a:pt x="325" y="1606"/>
                  </a:cubicBezTo>
                  <a:cubicBezTo>
                    <a:pt x="325" y="1523"/>
                    <a:pt x="258" y="1455"/>
                    <a:pt x="175" y="1455"/>
                  </a:cubicBezTo>
                  <a:cubicBezTo>
                    <a:pt x="92" y="1455"/>
                    <a:pt x="25" y="1523"/>
                    <a:pt x="25" y="1606"/>
                  </a:cubicBezTo>
                  <a:cubicBezTo>
                    <a:pt x="25" y="1844"/>
                    <a:pt x="206" y="2044"/>
                    <a:pt x="442" y="2068"/>
                  </a:cubicBezTo>
                  <a:lnTo>
                    <a:pt x="442" y="2232"/>
                  </a:lnTo>
                  <a:cubicBezTo>
                    <a:pt x="445" y="2313"/>
                    <a:pt x="511" y="2378"/>
                    <a:pt x="592" y="2378"/>
                  </a:cubicBezTo>
                  <a:cubicBezTo>
                    <a:pt x="674" y="2378"/>
                    <a:pt x="740" y="2313"/>
                    <a:pt x="743" y="2232"/>
                  </a:cubicBezTo>
                  <a:lnTo>
                    <a:pt x="743" y="2060"/>
                  </a:lnTo>
                  <a:cubicBezTo>
                    <a:pt x="1004" y="2009"/>
                    <a:pt x="1183" y="1769"/>
                    <a:pt x="1157" y="1505"/>
                  </a:cubicBezTo>
                  <a:cubicBezTo>
                    <a:pt x="1132" y="1240"/>
                    <a:pt x="910" y="1038"/>
                    <a:pt x="644" y="1038"/>
                  </a:cubicBezTo>
                  <a:lnTo>
                    <a:pt x="541" y="1038"/>
                  </a:lnTo>
                  <a:cubicBezTo>
                    <a:pt x="424" y="1035"/>
                    <a:pt x="332" y="940"/>
                    <a:pt x="332" y="824"/>
                  </a:cubicBezTo>
                  <a:cubicBezTo>
                    <a:pt x="332" y="707"/>
                    <a:pt x="424" y="613"/>
                    <a:pt x="541" y="609"/>
                  </a:cubicBezTo>
                  <a:lnTo>
                    <a:pt x="697" y="609"/>
                  </a:lnTo>
                  <a:cubicBezTo>
                    <a:pt x="787" y="609"/>
                    <a:pt x="860" y="681"/>
                    <a:pt x="860" y="772"/>
                  </a:cubicBezTo>
                  <a:lnTo>
                    <a:pt x="860" y="877"/>
                  </a:lnTo>
                  <a:cubicBezTo>
                    <a:pt x="860" y="959"/>
                    <a:pt x="927" y="1026"/>
                    <a:pt x="1011" y="1026"/>
                  </a:cubicBezTo>
                  <a:cubicBezTo>
                    <a:pt x="1093" y="1026"/>
                    <a:pt x="1160" y="959"/>
                    <a:pt x="1160" y="877"/>
                  </a:cubicBezTo>
                  <a:lnTo>
                    <a:pt x="1160" y="772"/>
                  </a:lnTo>
                  <a:cubicBezTo>
                    <a:pt x="1160" y="533"/>
                    <a:pt x="980" y="334"/>
                    <a:pt x="743" y="310"/>
                  </a:cubicBezTo>
                  <a:lnTo>
                    <a:pt x="743" y="146"/>
                  </a:lnTo>
                  <a:cubicBezTo>
                    <a:pt x="740" y="65"/>
                    <a:pt x="674" y="0"/>
                    <a:pt x="5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1" name="Google Shape;921;p76"/>
            <p:cNvSpPr/>
            <p:nvPr/>
          </p:nvSpPr>
          <p:spPr>
            <a:xfrm>
              <a:off x="2366250" y="4696275"/>
              <a:ext cx="31700" cy="43825"/>
            </a:xfrm>
            <a:custGeom>
              <a:avLst/>
              <a:gdLst/>
              <a:ahLst/>
              <a:cxnLst/>
              <a:rect l="l" t="t" r="r" b="b"/>
              <a:pathLst>
                <a:path w="1268" h="1753" extrusionOk="0">
                  <a:moveTo>
                    <a:pt x="155" y="1"/>
                  </a:moveTo>
                  <a:cubicBezTo>
                    <a:pt x="78" y="1"/>
                    <a:pt x="3" y="59"/>
                    <a:pt x="3" y="152"/>
                  </a:cubicBezTo>
                  <a:lnTo>
                    <a:pt x="3" y="1597"/>
                  </a:lnTo>
                  <a:cubicBezTo>
                    <a:pt x="0" y="1682"/>
                    <a:pt x="69" y="1753"/>
                    <a:pt x="154" y="1753"/>
                  </a:cubicBezTo>
                  <a:cubicBezTo>
                    <a:pt x="238" y="1753"/>
                    <a:pt x="307" y="1682"/>
                    <a:pt x="304" y="1597"/>
                  </a:cubicBezTo>
                  <a:lnTo>
                    <a:pt x="304" y="649"/>
                  </a:lnTo>
                  <a:lnTo>
                    <a:pt x="991" y="1680"/>
                  </a:lnTo>
                  <a:cubicBezTo>
                    <a:pt x="1022" y="1727"/>
                    <a:pt x="1069" y="1748"/>
                    <a:pt x="1115" y="1748"/>
                  </a:cubicBezTo>
                  <a:cubicBezTo>
                    <a:pt x="1192" y="1748"/>
                    <a:pt x="1268" y="1690"/>
                    <a:pt x="1267" y="1597"/>
                  </a:cubicBezTo>
                  <a:lnTo>
                    <a:pt x="1267" y="151"/>
                  </a:lnTo>
                  <a:cubicBezTo>
                    <a:pt x="1267" y="69"/>
                    <a:pt x="1199" y="2"/>
                    <a:pt x="1116" y="2"/>
                  </a:cubicBezTo>
                  <a:cubicBezTo>
                    <a:pt x="1034" y="2"/>
                    <a:pt x="967" y="69"/>
                    <a:pt x="967" y="151"/>
                  </a:cubicBezTo>
                  <a:lnTo>
                    <a:pt x="967" y="1099"/>
                  </a:lnTo>
                  <a:lnTo>
                    <a:pt x="279" y="68"/>
                  </a:lnTo>
                  <a:cubicBezTo>
                    <a:pt x="248" y="21"/>
                    <a:pt x="201" y="1"/>
                    <a:pt x="1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2" name="Google Shape;922;p76"/>
            <p:cNvSpPr/>
            <p:nvPr/>
          </p:nvSpPr>
          <p:spPr>
            <a:xfrm>
              <a:off x="2406425" y="4696300"/>
              <a:ext cx="27750" cy="43675"/>
            </a:xfrm>
            <a:custGeom>
              <a:avLst/>
              <a:gdLst/>
              <a:ahLst/>
              <a:cxnLst/>
              <a:rect l="l" t="t" r="r" b="b"/>
              <a:pathLst>
                <a:path w="1110" h="1747" extrusionOk="0">
                  <a:moveTo>
                    <a:pt x="151" y="1"/>
                  </a:moveTo>
                  <a:cubicBezTo>
                    <a:pt x="69" y="1"/>
                    <a:pt x="2" y="68"/>
                    <a:pt x="2" y="150"/>
                  </a:cubicBezTo>
                  <a:lnTo>
                    <a:pt x="2" y="1596"/>
                  </a:lnTo>
                  <a:cubicBezTo>
                    <a:pt x="0" y="1678"/>
                    <a:pt x="68" y="1747"/>
                    <a:pt x="151" y="1747"/>
                  </a:cubicBezTo>
                  <a:lnTo>
                    <a:pt x="955" y="1747"/>
                  </a:lnTo>
                  <a:cubicBezTo>
                    <a:pt x="956" y="1747"/>
                    <a:pt x="958" y="1747"/>
                    <a:pt x="960" y="1747"/>
                  </a:cubicBezTo>
                  <a:cubicBezTo>
                    <a:pt x="1042" y="1747"/>
                    <a:pt x="1110" y="1679"/>
                    <a:pt x="1110" y="1596"/>
                  </a:cubicBezTo>
                  <a:cubicBezTo>
                    <a:pt x="1110" y="1513"/>
                    <a:pt x="1042" y="1445"/>
                    <a:pt x="960" y="1445"/>
                  </a:cubicBezTo>
                  <a:cubicBezTo>
                    <a:pt x="958" y="1445"/>
                    <a:pt x="956" y="1445"/>
                    <a:pt x="955" y="1445"/>
                  </a:cubicBezTo>
                  <a:lnTo>
                    <a:pt x="302" y="1445"/>
                  </a:lnTo>
                  <a:lnTo>
                    <a:pt x="302" y="943"/>
                  </a:lnTo>
                  <a:lnTo>
                    <a:pt x="793" y="943"/>
                  </a:lnTo>
                  <a:cubicBezTo>
                    <a:pt x="875" y="940"/>
                    <a:pt x="939" y="874"/>
                    <a:pt x="939" y="792"/>
                  </a:cubicBezTo>
                  <a:cubicBezTo>
                    <a:pt x="939" y="711"/>
                    <a:pt x="875" y="645"/>
                    <a:pt x="793" y="643"/>
                  </a:cubicBezTo>
                  <a:lnTo>
                    <a:pt x="302" y="643"/>
                  </a:lnTo>
                  <a:lnTo>
                    <a:pt x="302" y="301"/>
                  </a:lnTo>
                  <a:lnTo>
                    <a:pt x="955" y="301"/>
                  </a:lnTo>
                  <a:cubicBezTo>
                    <a:pt x="1037" y="301"/>
                    <a:pt x="1104" y="233"/>
                    <a:pt x="1104" y="150"/>
                  </a:cubicBezTo>
                  <a:cubicBezTo>
                    <a:pt x="1104" y="68"/>
                    <a:pt x="1037" y="1"/>
                    <a:pt x="9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3" name="Google Shape;923;p76"/>
            <p:cNvSpPr/>
            <p:nvPr/>
          </p:nvSpPr>
          <p:spPr>
            <a:xfrm>
              <a:off x="2442325" y="4696275"/>
              <a:ext cx="40075" cy="43700"/>
            </a:xfrm>
            <a:custGeom>
              <a:avLst/>
              <a:gdLst/>
              <a:ahLst/>
              <a:cxnLst/>
              <a:rect l="l" t="t" r="r" b="b"/>
              <a:pathLst>
                <a:path w="1603" h="1748" extrusionOk="0">
                  <a:moveTo>
                    <a:pt x="158" y="1"/>
                  </a:moveTo>
                  <a:cubicBezTo>
                    <a:pt x="153" y="1"/>
                    <a:pt x="148" y="1"/>
                    <a:pt x="143" y="2"/>
                  </a:cubicBezTo>
                  <a:cubicBezTo>
                    <a:pt x="61" y="11"/>
                    <a:pt x="1" y="86"/>
                    <a:pt x="10" y="168"/>
                  </a:cubicBezTo>
                  <a:lnTo>
                    <a:pt x="172" y="1613"/>
                  </a:lnTo>
                  <a:cubicBezTo>
                    <a:pt x="181" y="1699"/>
                    <a:pt x="251" y="1747"/>
                    <a:pt x="322" y="1747"/>
                  </a:cubicBezTo>
                  <a:cubicBezTo>
                    <a:pt x="377" y="1747"/>
                    <a:pt x="432" y="1718"/>
                    <a:pt x="458" y="1656"/>
                  </a:cubicBezTo>
                  <a:lnTo>
                    <a:pt x="802" y="855"/>
                  </a:lnTo>
                  <a:lnTo>
                    <a:pt x="1145" y="1656"/>
                  </a:lnTo>
                  <a:cubicBezTo>
                    <a:pt x="1172" y="1718"/>
                    <a:pt x="1227" y="1747"/>
                    <a:pt x="1282" y="1747"/>
                  </a:cubicBezTo>
                  <a:cubicBezTo>
                    <a:pt x="1353" y="1747"/>
                    <a:pt x="1423" y="1699"/>
                    <a:pt x="1433" y="1613"/>
                  </a:cubicBezTo>
                  <a:lnTo>
                    <a:pt x="1593" y="168"/>
                  </a:lnTo>
                  <a:cubicBezTo>
                    <a:pt x="1603" y="86"/>
                    <a:pt x="1543" y="11"/>
                    <a:pt x="1461" y="2"/>
                  </a:cubicBezTo>
                  <a:cubicBezTo>
                    <a:pt x="1456" y="1"/>
                    <a:pt x="1451" y="1"/>
                    <a:pt x="1446" y="1"/>
                  </a:cubicBezTo>
                  <a:cubicBezTo>
                    <a:pt x="1369" y="1"/>
                    <a:pt x="1303" y="58"/>
                    <a:pt x="1294" y="135"/>
                  </a:cubicBezTo>
                  <a:lnTo>
                    <a:pt x="1197" y="1013"/>
                  </a:lnTo>
                  <a:lnTo>
                    <a:pt x="940" y="413"/>
                  </a:lnTo>
                  <a:cubicBezTo>
                    <a:pt x="915" y="354"/>
                    <a:pt x="859" y="324"/>
                    <a:pt x="803" y="324"/>
                  </a:cubicBezTo>
                  <a:cubicBezTo>
                    <a:pt x="746" y="324"/>
                    <a:pt x="690" y="354"/>
                    <a:pt x="664" y="413"/>
                  </a:cubicBezTo>
                  <a:lnTo>
                    <a:pt x="407" y="1013"/>
                  </a:lnTo>
                  <a:lnTo>
                    <a:pt x="310" y="135"/>
                  </a:lnTo>
                  <a:cubicBezTo>
                    <a:pt x="301" y="58"/>
                    <a:pt x="234" y="1"/>
                    <a:pt x="15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4" name="Google Shape;924;p76"/>
            <p:cNvSpPr/>
            <p:nvPr/>
          </p:nvSpPr>
          <p:spPr>
            <a:xfrm>
              <a:off x="2366175" y="4772525"/>
              <a:ext cx="59725" cy="7575"/>
            </a:xfrm>
            <a:custGeom>
              <a:avLst/>
              <a:gdLst/>
              <a:ahLst/>
              <a:cxnLst/>
              <a:rect l="l" t="t" r="r" b="b"/>
              <a:pathLst>
                <a:path w="2389" h="303" extrusionOk="0">
                  <a:moveTo>
                    <a:pt x="152" y="1"/>
                  </a:moveTo>
                  <a:cubicBezTo>
                    <a:pt x="69" y="1"/>
                    <a:pt x="0" y="68"/>
                    <a:pt x="0" y="151"/>
                  </a:cubicBezTo>
                  <a:cubicBezTo>
                    <a:pt x="0" y="235"/>
                    <a:pt x="69" y="302"/>
                    <a:pt x="152" y="302"/>
                  </a:cubicBezTo>
                  <a:cubicBezTo>
                    <a:pt x="153" y="302"/>
                    <a:pt x="155" y="302"/>
                    <a:pt x="157" y="302"/>
                  </a:cubicBezTo>
                  <a:lnTo>
                    <a:pt x="2243" y="302"/>
                  </a:lnTo>
                  <a:cubicBezTo>
                    <a:pt x="2324" y="299"/>
                    <a:pt x="2388" y="232"/>
                    <a:pt x="2388" y="151"/>
                  </a:cubicBezTo>
                  <a:cubicBezTo>
                    <a:pt x="2388" y="71"/>
                    <a:pt x="2324" y="3"/>
                    <a:pt x="2243" y="1"/>
                  </a:cubicBezTo>
                  <a:lnTo>
                    <a:pt x="157" y="1"/>
                  </a:lnTo>
                  <a:cubicBezTo>
                    <a:pt x="155" y="1"/>
                    <a:pt x="153" y="1"/>
                    <a:pt x="1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5" name="Google Shape;925;p76"/>
            <p:cNvSpPr/>
            <p:nvPr/>
          </p:nvSpPr>
          <p:spPr>
            <a:xfrm>
              <a:off x="2442675" y="4772525"/>
              <a:ext cx="75525" cy="7575"/>
            </a:xfrm>
            <a:custGeom>
              <a:avLst/>
              <a:gdLst/>
              <a:ahLst/>
              <a:cxnLst/>
              <a:rect l="l" t="t" r="r" b="b"/>
              <a:pathLst>
                <a:path w="3021" h="303" extrusionOk="0">
                  <a:moveTo>
                    <a:pt x="146" y="1"/>
                  </a:moveTo>
                  <a:cubicBezTo>
                    <a:pt x="65" y="3"/>
                    <a:pt x="0" y="71"/>
                    <a:pt x="0" y="151"/>
                  </a:cubicBezTo>
                  <a:cubicBezTo>
                    <a:pt x="0" y="232"/>
                    <a:pt x="65" y="299"/>
                    <a:pt x="146" y="302"/>
                  </a:cubicBezTo>
                  <a:lnTo>
                    <a:pt x="2876" y="302"/>
                  </a:lnTo>
                  <a:cubicBezTo>
                    <a:pt x="2956" y="299"/>
                    <a:pt x="3021" y="232"/>
                    <a:pt x="3021" y="151"/>
                  </a:cubicBezTo>
                  <a:cubicBezTo>
                    <a:pt x="3021" y="71"/>
                    <a:pt x="2956" y="3"/>
                    <a:pt x="28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6" name="Google Shape;926;p76"/>
            <p:cNvSpPr/>
            <p:nvPr/>
          </p:nvSpPr>
          <p:spPr>
            <a:xfrm>
              <a:off x="2366300" y="4792575"/>
              <a:ext cx="31625" cy="7575"/>
            </a:xfrm>
            <a:custGeom>
              <a:avLst/>
              <a:gdLst/>
              <a:ahLst/>
              <a:cxnLst/>
              <a:rect l="l" t="t" r="r" b="b"/>
              <a:pathLst>
                <a:path w="1265" h="303" extrusionOk="0">
                  <a:moveTo>
                    <a:pt x="152" y="1"/>
                  </a:moveTo>
                  <a:cubicBezTo>
                    <a:pt x="68" y="1"/>
                    <a:pt x="1" y="68"/>
                    <a:pt x="1" y="152"/>
                  </a:cubicBezTo>
                  <a:cubicBezTo>
                    <a:pt x="1" y="235"/>
                    <a:pt x="68" y="302"/>
                    <a:pt x="152" y="302"/>
                  </a:cubicBezTo>
                  <a:lnTo>
                    <a:pt x="1114" y="302"/>
                  </a:lnTo>
                  <a:cubicBezTo>
                    <a:pt x="1197" y="302"/>
                    <a:pt x="1265" y="235"/>
                    <a:pt x="1265" y="152"/>
                  </a:cubicBezTo>
                  <a:cubicBezTo>
                    <a:pt x="1265" y="68"/>
                    <a:pt x="1197" y="1"/>
                    <a:pt x="11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7" name="Google Shape;927;p76"/>
            <p:cNvSpPr/>
            <p:nvPr/>
          </p:nvSpPr>
          <p:spPr>
            <a:xfrm>
              <a:off x="2366175" y="4812675"/>
              <a:ext cx="59725" cy="7525"/>
            </a:xfrm>
            <a:custGeom>
              <a:avLst/>
              <a:gdLst/>
              <a:ahLst/>
              <a:cxnLst/>
              <a:rect l="l" t="t" r="r" b="b"/>
              <a:pathLst>
                <a:path w="2389" h="301" extrusionOk="0">
                  <a:moveTo>
                    <a:pt x="149" y="0"/>
                  </a:moveTo>
                  <a:cubicBezTo>
                    <a:pt x="68" y="0"/>
                    <a:pt x="0" y="68"/>
                    <a:pt x="0" y="150"/>
                  </a:cubicBezTo>
                  <a:cubicBezTo>
                    <a:pt x="0" y="234"/>
                    <a:pt x="69" y="301"/>
                    <a:pt x="152" y="301"/>
                  </a:cubicBezTo>
                  <a:cubicBezTo>
                    <a:pt x="153" y="301"/>
                    <a:pt x="155" y="301"/>
                    <a:pt x="157" y="301"/>
                  </a:cubicBezTo>
                  <a:lnTo>
                    <a:pt x="2243" y="301"/>
                  </a:lnTo>
                  <a:cubicBezTo>
                    <a:pt x="2324" y="298"/>
                    <a:pt x="2388" y="232"/>
                    <a:pt x="2388" y="150"/>
                  </a:cubicBezTo>
                  <a:cubicBezTo>
                    <a:pt x="2388" y="69"/>
                    <a:pt x="2324" y="3"/>
                    <a:pt x="2243" y="1"/>
                  </a:cubicBezTo>
                  <a:lnTo>
                    <a:pt x="157" y="1"/>
                  </a:lnTo>
                  <a:cubicBezTo>
                    <a:pt x="154" y="0"/>
                    <a:pt x="152" y="0"/>
                    <a:pt x="1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8" name="Google Shape;928;p76"/>
            <p:cNvSpPr/>
            <p:nvPr/>
          </p:nvSpPr>
          <p:spPr>
            <a:xfrm>
              <a:off x="2406425" y="4792575"/>
              <a:ext cx="19600" cy="7575"/>
            </a:xfrm>
            <a:custGeom>
              <a:avLst/>
              <a:gdLst/>
              <a:ahLst/>
              <a:cxnLst/>
              <a:rect l="l" t="t" r="r" b="b"/>
              <a:pathLst>
                <a:path w="784" h="303" extrusionOk="0">
                  <a:moveTo>
                    <a:pt x="151" y="1"/>
                  </a:moveTo>
                  <a:cubicBezTo>
                    <a:pt x="69" y="1"/>
                    <a:pt x="0" y="68"/>
                    <a:pt x="0" y="152"/>
                  </a:cubicBezTo>
                  <a:cubicBezTo>
                    <a:pt x="0" y="235"/>
                    <a:pt x="69" y="302"/>
                    <a:pt x="151" y="302"/>
                  </a:cubicBezTo>
                  <a:lnTo>
                    <a:pt x="633" y="302"/>
                  </a:lnTo>
                  <a:cubicBezTo>
                    <a:pt x="717" y="302"/>
                    <a:pt x="784" y="235"/>
                    <a:pt x="784" y="152"/>
                  </a:cubicBezTo>
                  <a:cubicBezTo>
                    <a:pt x="784" y="68"/>
                    <a:pt x="717" y="1"/>
                    <a:pt x="6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9" name="Google Shape;929;p76"/>
            <p:cNvSpPr/>
            <p:nvPr/>
          </p:nvSpPr>
          <p:spPr>
            <a:xfrm>
              <a:off x="2442575" y="4792575"/>
              <a:ext cx="35625" cy="7575"/>
            </a:xfrm>
            <a:custGeom>
              <a:avLst/>
              <a:gdLst/>
              <a:ahLst/>
              <a:cxnLst/>
              <a:rect l="l" t="t" r="r" b="b"/>
              <a:pathLst>
                <a:path w="1425" h="303" extrusionOk="0">
                  <a:moveTo>
                    <a:pt x="150" y="1"/>
                  </a:moveTo>
                  <a:cubicBezTo>
                    <a:pt x="67" y="1"/>
                    <a:pt x="0" y="68"/>
                    <a:pt x="0" y="152"/>
                  </a:cubicBezTo>
                  <a:cubicBezTo>
                    <a:pt x="0" y="235"/>
                    <a:pt x="67" y="302"/>
                    <a:pt x="150" y="302"/>
                  </a:cubicBezTo>
                  <a:lnTo>
                    <a:pt x="1274" y="302"/>
                  </a:lnTo>
                  <a:cubicBezTo>
                    <a:pt x="1357" y="302"/>
                    <a:pt x="1424" y="235"/>
                    <a:pt x="1424" y="152"/>
                  </a:cubicBezTo>
                  <a:cubicBezTo>
                    <a:pt x="1424" y="68"/>
                    <a:pt x="1357" y="1"/>
                    <a:pt x="127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0" name="Google Shape;930;p76"/>
            <p:cNvSpPr/>
            <p:nvPr/>
          </p:nvSpPr>
          <p:spPr>
            <a:xfrm>
              <a:off x="2486675" y="4792575"/>
              <a:ext cx="31625" cy="7575"/>
            </a:xfrm>
            <a:custGeom>
              <a:avLst/>
              <a:gdLst/>
              <a:ahLst/>
              <a:cxnLst/>
              <a:rect l="l" t="t" r="r" b="b"/>
              <a:pathLst>
                <a:path w="1265" h="303" extrusionOk="0">
                  <a:moveTo>
                    <a:pt x="152" y="1"/>
                  </a:moveTo>
                  <a:cubicBezTo>
                    <a:pt x="68" y="1"/>
                    <a:pt x="1" y="68"/>
                    <a:pt x="1" y="152"/>
                  </a:cubicBezTo>
                  <a:cubicBezTo>
                    <a:pt x="1" y="235"/>
                    <a:pt x="68" y="302"/>
                    <a:pt x="152" y="302"/>
                  </a:cubicBezTo>
                  <a:lnTo>
                    <a:pt x="1116" y="302"/>
                  </a:lnTo>
                  <a:cubicBezTo>
                    <a:pt x="1198" y="302"/>
                    <a:pt x="1265" y="235"/>
                    <a:pt x="1265" y="152"/>
                  </a:cubicBezTo>
                  <a:cubicBezTo>
                    <a:pt x="1265" y="68"/>
                    <a:pt x="1198" y="1"/>
                    <a:pt x="111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1" name="Google Shape;931;p76"/>
            <p:cNvSpPr/>
            <p:nvPr/>
          </p:nvSpPr>
          <p:spPr>
            <a:xfrm>
              <a:off x="2442675" y="4812675"/>
              <a:ext cx="51700" cy="7525"/>
            </a:xfrm>
            <a:custGeom>
              <a:avLst/>
              <a:gdLst/>
              <a:ahLst/>
              <a:cxnLst/>
              <a:rect l="l" t="t" r="r" b="b"/>
              <a:pathLst>
                <a:path w="2068" h="301" extrusionOk="0">
                  <a:moveTo>
                    <a:pt x="1919" y="0"/>
                  </a:moveTo>
                  <a:cubicBezTo>
                    <a:pt x="1916" y="0"/>
                    <a:pt x="1914" y="0"/>
                    <a:pt x="1912" y="1"/>
                  </a:cubicBezTo>
                  <a:lnTo>
                    <a:pt x="146" y="1"/>
                  </a:lnTo>
                  <a:cubicBezTo>
                    <a:pt x="65" y="3"/>
                    <a:pt x="0" y="69"/>
                    <a:pt x="0" y="150"/>
                  </a:cubicBezTo>
                  <a:cubicBezTo>
                    <a:pt x="0" y="232"/>
                    <a:pt x="65" y="298"/>
                    <a:pt x="146" y="301"/>
                  </a:cubicBezTo>
                  <a:lnTo>
                    <a:pt x="1912" y="301"/>
                  </a:lnTo>
                  <a:cubicBezTo>
                    <a:pt x="1913" y="301"/>
                    <a:pt x="1915" y="301"/>
                    <a:pt x="1917" y="301"/>
                  </a:cubicBezTo>
                  <a:cubicBezTo>
                    <a:pt x="1999" y="301"/>
                    <a:pt x="2068" y="234"/>
                    <a:pt x="2068" y="150"/>
                  </a:cubicBezTo>
                  <a:cubicBezTo>
                    <a:pt x="2068" y="68"/>
                    <a:pt x="2000" y="0"/>
                    <a:pt x="19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2" name="Google Shape;932;p76"/>
            <p:cNvSpPr/>
            <p:nvPr/>
          </p:nvSpPr>
          <p:spPr>
            <a:xfrm>
              <a:off x="2502875" y="4812675"/>
              <a:ext cx="15325" cy="7525"/>
            </a:xfrm>
            <a:custGeom>
              <a:avLst/>
              <a:gdLst/>
              <a:ahLst/>
              <a:cxnLst/>
              <a:rect l="l" t="t" r="r" b="b"/>
              <a:pathLst>
                <a:path w="613" h="301" extrusionOk="0">
                  <a:moveTo>
                    <a:pt x="146" y="1"/>
                  </a:moveTo>
                  <a:cubicBezTo>
                    <a:pt x="65" y="3"/>
                    <a:pt x="0" y="69"/>
                    <a:pt x="0" y="150"/>
                  </a:cubicBezTo>
                  <a:cubicBezTo>
                    <a:pt x="0" y="232"/>
                    <a:pt x="65" y="298"/>
                    <a:pt x="146" y="301"/>
                  </a:cubicBezTo>
                  <a:lnTo>
                    <a:pt x="468" y="301"/>
                  </a:lnTo>
                  <a:cubicBezTo>
                    <a:pt x="548" y="298"/>
                    <a:pt x="613" y="232"/>
                    <a:pt x="613" y="150"/>
                  </a:cubicBezTo>
                  <a:cubicBezTo>
                    <a:pt x="613" y="69"/>
                    <a:pt x="548" y="3"/>
                    <a:pt x="4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33" name="Google Shape;933;p76"/>
          <p:cNvSpPr txBox="1">
            <a:spLocks noGrp="1"/>
          </p:cNvSpPr>
          <p:nvPr>
            <p:ph type="ctrTitle"/>
          </p:nvPr>
        </p:nvSpPr>
        <p:spPr>
          <a:xfrm>
            <a:off x="128991" y="384815"/>
            <a:ext cx="2264666" cy="2362593"/>
          </a:xfrm>
          <a:prstGeom prst="rect">
            <a:avLst/>
          </a:prstGeom>
        </p:spPr>
        <p:txBody>
          <a:bodyPr spcFirstLastPara="1" wrap="square" lIns="91425" tIns="91425" rIns="91425" bIns="91425" anchor="t" anchorCtr="0">
            <a:noAutofit/>
          </a:bodyPr>
          <a:lstStyle/>
          <a:p>
            <a:pPr rtl="0">
              <a:spcBef>
                <a:spcPts val="0"/>
              </a:spcBef>
              <a:spcAft>
                <a:spcPts val="0"/>
              </a:spcAft>
            </a:pPr>
            <a:r>
              <a:rPr lang="en-US" sz="2400" b="1" i="0" u="none" strike="noStrike" dirty="0">
                <a:solidFill>
                  <a:srgbClr val="0FAA4B"/>
                </a:solidFill>
                <a:effectLst/>
                <a:latin typeface="Times New Roman" panose="02020603050405020304" pitchFamily="18" charset="0"/>
              </a:rPr>
              <a:t>Margins Relative to Competition / Pricing Power</a:t>
            </a:r>
            <a:endParaRPr lang="en-US" sz="2400" dirty="0">
              <a:solidFill>
                <a:srgbClr val="0FAA4B"/>
              </a:solidFill>
            </a:endParaRPr>
          </a:p>
        </p:txBody>
      </p:sp>
      <p:sp>
        <p:nvSpPr>
          <p:cNvPr id="934" name="Google Shape;934;p76"/>
          <p:cNvSpPr txBox="1">
            <a:spLocks noGrp="1"/>
          </p:cNvSpPr>
          <p:nvPr>
            <p:ph type="subTitle" idx="1"/>
          </p:nvPr>
        </p:nvSpPr>
        <p:spPr>
          <a:xfrm>
            <a:off x="2820838" y="2425460"/>
            <a:ext cx="4511621" cy="384901"/>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400"/>
              <a:t>Below average profitability</a:t>
            </a:r>
          </a:p>
          <a:p>
            <a:pPr marL="171450" lvl="0" indent="-171450" algn="l" rtl="0">
              <a:spcBef>
                <a:spcPts val="0"/>
              </a:spcBef>
              <a:spcAft>
                <a:spcPts val="0"/>
              </a:spcAft>
              <a:buFont typeface="Arial" panose="020B0604020202020204" pitchFamily="34" charset="0"/>
              <a:buChar char="•"/>
            </a:pPr>
            <a:r>
              <a:rPr lang="en-US" sz="1400"/>
              <a:t>Competitive Gross Margin</a:t>
            </a:r>
          </a:p>
          <a:p>
            <a:pPr marL="171450" lvl="0" indent="-171450" algn="l" rtl="0">
              <a:spcBef>
                <a:spcPts val="0"/>
              </a:spcBef>
              <a:spcAft>
                <a:spcPts val="0"/>
              </a:spcAft>
              <a:buFont typeface="Arial" panose="020B0604020202020204" pitchFamily="34" charset="0"/>
              <a:buChar char="•"/>
            </a:pPr>
            <a:r>
              <a:rPr lang="en-US" sz="1400"/>
              <a:t>Challenges in Profit Sustainability</a:t>
            </a:r>
          </a:p>
        </p:txBody>
      </p:sp>
      <p:sp>
        <p:nvSpPr>
          <p:cNvPr id="938" name="Google Shape;938;p76"/>
          <p:cNvSpPr txBox="1">
            <a:spLocks noGrp="1"/>
          </p:cNvSpPr>
          <p:nvPr>
            <p:ph type="subTitle" idx="2"/>
          </p:nvPr>
        </p:nvSpPr>
        <p:spPr>
          <a:xfrm>
            <a:off x="2779226" y="3631320"/>
            <a:ext cx="2853597" cy="7296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rPr>
              <a:t>T</a:t>
            </a:r>
            <a:r>
              <a:rPr lang="en-US" sz="1400" b="0" i="0" u="none" strike="noStrike">
                <a:solidFill>
                  <a:schemeClr val="bg1"/>
                </a:solidFill>
                <a:effectLst/>
                <a:latin typeface="Open Sans" panose="020B0606030504020204" pitchFamily="34" charset="0"/>
                <a:ea typeface="Open Sans" panose="020B0606030504020204" pitchFamily="34" charset="0"/>
                <a:cs typeface="Open Sans" panose="020B0606030504020204" pitchFamily="34" charset="0"/>
              </a:rPr>
              <a:t>iered pricing strategy</a:t>
            </a:r>
          </a:p>
          <a:p>
            <a:pPr marL="285750" lvl="0" indent="-285750" algn="l" rtl="0">
              <a:spcBef>
                <a:spcPts val="0"/>
              </a:spcBef>
              <a:spcAft>
                <a:spcPts val="0"/>
              </a:spcAft>
              <a:buFont typeface="Arial" panose="020B0604020202020204" pitchFamily="34" charset="0"/>
              <a:buChar char="•"/>
            </a:pPr>
            <a:r>
              <a:rPr lang="en-US" sz="1400" b="0" i="0" u="none" strike="noStrike">
                <a:solidFill>
                  <a:schemeClr val="bg1"/>
                </a:solidFill>
                <a:effectLst/>
                <a:latin typeface="Open Sans" panose="020B0606030504020204" pitchFamily="34" charset="0"/>
                <a:ea typeface="Open Sans" panose="020B0606030504020204" pitchFamily="34" charset="0"/>
                <a:cs typeface="Open Sans" panose="020B0606030504020204" pitchFamily="34" charset="0"/>
              </a:rPr>
              <a:t>price-sensitive customer base</a:t>
            </a:r>
          </a:p>
          <a:p>
            <a:pPr marL="285750" lvl="0" indent="-285750" algn="l" rtl="0">
              <a:spcBef>
                <a:spcPts val="0"/>
              </a:spcBef>
              <a:spcAft>
                <a:spcPts val="0"/>
              </a:spcAft>
              <a:buFont typeface="Arial" panose="020B0604020202020204" pitchFamily="34" charset="0"/>
              <a:buChar char="•"/>
            </a:pPr>
            <a:endPar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36" name="Google Shape;936;p76"/>
          <p:cNvSpPr txBox="1">
            <a:spLocks noGrp="1"/>
          </p:cNvSpPr>
          <p:nvPr>
            <p:ph type="ctrTitle" idx="3"/>
          </p:nvPr>
        </p:nvSpPr>
        <p:spPr>
          <a:xfrm>
            <a:off x="2707113" y="455991"/>
            <a:ext cx="3600834" cy="38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Margins Relative to Competition</a:t>
            </a:r>
            <a:endParaRPr/>
          </a:p>
        </p:txBody>
      </p:sp>
      <p:sp>
        <p:nvSpPr>
          <p:cNvPr id="939" name="Google Shape;939;p76"/>
          <p:cNvSpPr txBox="1">
            <a:spLocks noGrp="1"/>
          </p:cNvSpPr>
          <p:nvPr>
            <p:ph type="ctrTitle" idx="4"/>
          </p:nvPr>
        </p:nvSpPr>
        <p:spPr>
          <a:xfrm>
            <a:off x="2769321" y="3334011"/>
            <a:ext cx="2587739" cy="38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Pricing Power</a:t>
            </a:r>
            <a:endParaRPr/>
          </a:p>
        </p:txBody>
      </p:sp>
      <p:pic>
        <p:nvPicPr>
          <p:cNvPr id="2050" name="Picture 2">
            <a:extLst>
              <a:ext uri="{FF2B5EF4-FFF2-40B4-BE49-F238E27FC236}">
                <a16:creationId xmlns:a16="http://schemas.microsoft.com/office/drawing/2014/main" id="{CFECC907-6E4A-7036-9E5E-FCE866D565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0838" y="876975"/>
            <a:ext cx="5785957" cy="14922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Dollar Tree - Discover Brookfield">
            <a:extLst>
              <a:ext uri="{FF2B5EF4-FFF2-40B4-BE49-F238E27FC236}">
                <a16:creationId xmlns:a16="http://schemas.microsoft.com/office/drawing/2014/main" id="{83081332-340A-2112-D27D-572F25AF97A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Dollar Tree - Discover Brookfield">
            <a:extLst>
              <a:ext uri="{FF2B5EF4-FFF2-40B4-BE49-F238E27FC236}">
                <a16:creationId xmlns:a16="http://schemas.microsoft.com/office/drawing/2014/main" id="{BE24DB94-B045-8259-12BD-52B2A6D9659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80;p52">
            <a:extLst>
              <a:ext uri="{FF2B5EF4-FFF2-40B4-BE49-F238E27FC236}">
                <a16:creationId xmlns:a16="http://schemas.microsoft.com/office/drawing/2014/main" id="{9223F0B1-7100-0C92-C620-6D6DC41CC807}"/>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06994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2"/>
          <p:cNvSpPr/>
          <p:nvPr/>
        </p:nvSpPr>
        <p:spPr>
          <a:xfrm>
            <a:off x="1578888" y="1536078"/>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79" name="Google Shape;279;p52"/>
          <p:cNvSpPr/>
          <p:nvPr/>
        </p:nvSpPr>
        <p:spPr>
          <a:xfrm>
            <a:off x="-99062" y="3110610"/>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98" name="Google Shape;298;p52"/>
          <p:cNvSpPr txBox="1">
            <a:spLocks noGrp="1"/>
          </p:cNvSpPr>
          <p:nvPr>
            <p:ph type="ctrTitle"/>
          </p:nvPr>
        </p:nvSpPr>
        <p:spPr>
          <a:xfrm>
            <a:off x="567069" y="472463"/>
            <a:ext cx="2806995"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Table of Contents</a:t>
            </a:r>
            <a:endParaRPr sz="2400">
              <a:solidFill>
                <a:srgbClr val="0FAA4B"/>
              </a:solidFill>
            </a:endParaRPr>
          </a:p>
        </p:txBody>
      </p:sp>
      <p:sp>
        <p:nvSpPr>
          <p:cNvPr id="280" name="Google Shape;280;p52"/>
          <p:cNvSpPr txBox="1">
            <a:spLocks noGrp="1"/>
          </p:cNvSpPr>
          <p:nvPr>
            <p:ph type="ctrTitle" idx="2"/>
          </p:nvPr>
        </p:nvSpPr>
        <p:spPr>
          <a:xfrm>
            <a:off x="2488748" y="2202425"/>
            <a:ext cx="1550744"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600">
                <a:solidFill>
                  <a:schemeClr val="tx1">
                    <a:lumMod val="75000"/>
                  </a:schemeClr>
                </a:solidFill>
              </a:rPr>
              <a:t>Business</a:t>
            </a:r>
            <a:r>
              <a:rPr lang="en" sz="1600"/>
              <a:t> </a:t>
            </a:r>
            <a:r>
              <a:rPr lang="en" sz="1600">
                <a:solidFill>
                  <a:schemeClr val="tx1">
                    <a:lumMod val="75000"/>
                  </a:schemeClr>
                </a:solidFill>
              </a:rPr>
              <a:t>overview</a:t>
            </a:r>
            <a:endParaRPr sz="1600">
              <a:solidFill>
                <a:schemeClr val="tx1">
                  <a:lumMod val="75000"/>
                </a:schemeClr>
              </a:solidFill>
            </a:endParaRPr>
          </a:p>
        </p:txBody>
      </p:sp>
      <p:sp>
        <p:nvSpPr>
          <p:cNvPr id="282" name="Google Shape;282;p52">
            <a:hlinkClick r:id="rId3" action="ppaction://hlinksldjump"/>
          </p:cNvPr>
          <p:cNvSpPr txBox="1">
            <a:spLocks noGrp="1"/>
          </p:cNvSpPr>
          <p:nvPr>
            <p:ph type="title" idx="3"/>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01</a:t>
            </a:r>
            <a:endParaRPr>
              <a:solidFill>
                <a:schemeClr val="tx1">
                  <a:lumMod val="75000"/>
                </a:schemeClr>
              </a:solidFill>
            </a:endParaRPr>
          </a:p>
        </p:txBody>
      </p:sp>
      <p:sp>
        <p:nvSpPr>
          <p:cNvPr id="283" name="Google Shape;283;p52"/>
          <p:cNvSpPr txBox="1">
            <a:spLocks noGrp="1"/>
          </p:cNvSpPr>
          <p:nvPr>
            <p:ph type="ctrTitle" idx="4"/>
          </p:nvPr>
        </p:nvSpPr>
        <p:spPr>
          <a:xfrm>
            <a:off x="4624412" y="2199025"/>
            <a:ext cx="1593175"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Competitive Analysis </a:t>
            </a:r>
            <a:endParaRPr lang="en-US" sz="1600">
              <a:solidFill>
                <a:schemeClr val="tx1">
                  <a:lumMod val="75000"/>
                </a:schemeClr>
              </a:solidFill>
            </a:endParaRPr>
          </a:p>
        </p:txBody>
      </p:sp>
      <p:sp>
        <p:nvSpPr>
          <p:cNvPr id="285" name="Google Shape;285;p52">
            <a:hlinkClick r:id="rId4" action="ppaction://hlinksldjump"/>
          </p:cNvPr>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02</a:t>
            </a:r>
            <a:endParaRPr>
              <a:solidFill>
                <a:schemeClr val="tx1">
                  <a:lumMod val="75000"/>
                </a:schemeClr>
              </a:solidFill>
            </a:endParaRPr>
          </a:p>
        </p:txBody>
      </p:sp>
      <p:sp>
        <p:nvSpPr>
          <p:cNvPr id="286" name="Google Shape;286;p52"/>
          <p:cNvSpPr txBox="1">
            <a:spLocks noGrp="1"/>
          </p:cNvSpPr>
          <p:nvPr>
            <p:ph type="ctrTitle" idx="7"/>
          </p:nvPr>
        </p:nvSpPr>
        <p:spPr>
          <a:xfrm>
            <a:off x="6504170" y="2199050"/>
            <a:ext cx="1914970" cy="3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bg1"/>
                </a:solidFill>
                <a:effectLst/>
                <a:latin typeface="Times New Roman" panose="02020603050405020304" pitchFamily="18" charset="0"/>
                <a:ea typeface="Trebuchet MS" panose="020B0603020202020204" pitchFamily="34" charset="0"/>
              </a:rPr>
              <a:t>Conclusion</a:t>
            </a:r>
            <a:endParaRPr lang="en-US" sz="1600">
              <a:solidFill>
                <a:schemeClr val="bg1"/>
              </a:solidFill>
            </a:endParaRPr>
          </a:p>
        </p:txBody>
      </p:sp>
      <p:sp>
        <p:nvSpPr>
          <p:cNvPr id="288" name="Google Shape;288;p52">
            <a:hlinkClick r:id="rId5" action="ppaction://hlinksldjump"/>
          </p:cNvPr>
          <p:cNvSpPr txBox="1">
            <a:spLocks noGrp="1"/>
          </p:cNvSpPr>
          <p:nvPr>
            <p:ph type="title" idx="9"/>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bg1"/>
                </a:solidFill>
              </a:rPr>
              <a:t>03</a:t>
            </a:r>
            <a:endParaRPr>
              <a:solidFill>
                <a:schemeClr val="bg1"/>
              </a:solidFill>
            </a:endParaRPr>
          </a:p>
        </p:txBody>
      </p:sp>
      <p:sp>
        <p:nvSpPr>
          <p:cNvPr id="289" name="Google Shape;289;p52"/>
          <p:cNvSpPr txBox="1">
            <a:spLocks noGrp="1"/>
          </p:cNvSpPr>
          <p:nvPr>
            <p:ph type="ctrTitle" idx="13"/>
          </p:nvPr>
        </p:nvSpPr>
        <p:spPr>
          <a:xfrm>
            <a:off x="1817078" y="3688700"/>
            <a:ext cx="1779728"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Recommendation</a:t>
            </a:r>
            <a:endParaRPr lang="en-US" sz="1600">
              <a:solidFill>
                <a:schemeClr val="tx1">
                  <a:lumMod val="75000"/>
                </a:schemeClr>
              </a:solidFill>
            </a:endParaRPr>
          </a:p>
        </p:txBody>
      </p:sp>
      <p:sp>
        <p:nvSpPr>
          <p:cNvPr id="291" name="Google Shape;291;p52">
            <a:hlinkClick r:id="rId6" action="ppaction://hlinksldjump"/>
          </p:cNvPr>
          <p:cNvSpPr txBox="1">
            <a:spLocks noGrp="1"/>
          </p:cNvSpPr>
          <p:nvPr>
            <p:ph type="title" idx="15"/>
          </p:nvPr>
        </p:nvSpPr>
        <p:spPr>
          <a:xfrm>
            <a:off x="1843006" y="325574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04</a:t>
            </a:r>
            <a:endParaRPr>
              <a:solidFill>
                <a:schemeClr val="tx1">
                  <a:lumMod val="75000"/>
                </a:schemeClr>
              </a:solidFill>
            </a:endParaRPr>
          </a:p>
        </p:txBody>
      </p:sp>
      <p:sp>
        <p:nvSpPr>
          <p:cNvPr id="292" name="Google Shape;292;p52"/>
          <p:cNvSpPr txBox="1">
            <a:spLocks noGrp="1"/>
          </p:cNvSpPr>
          <p:nvPr>
            <p:ph type="ctrTitle" idx="16"/>
          </p:nvPr>
        </p:nvSpPr>
        <p:spPr>
          <a:xfrm>
            <a:off x="4173660" y="3829554"/>
            <a:ext cx="1140095" cy="4219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Appendix</a:t>
            </a:r>
            <a:r>
              <a:rPr lang="en-US" sz="1600">
                <a:solidFill>
                  <a:schemeClr val="tx1">
                    <a:lumMod val="75000"/>
                  </a:schemeClr>
                </a:solidFill>
                <a:effectLst/>
                <a:latin typeface="Times New Roman" panose="02020603050405020304" pitchFamily="18" charset="0"/>
                <a:ea typeface="Trebuchet MS" panose="020B0603020202020204" pitchFamily="34" charset="0"/>
              </a:rPr>
              <a:t> </a:t>
            </a:r>
            <a:endParaRPr lang="en-US" sz="1600">
              <a:solidFill>
                <a:schemeClr val="tx1">
                  <a:lumMod val="75000"/>
                </a:schemeClr>
              </a:solidFill>
            </a:endParaRPr>
          </a:p>
        </p:txBody>
      </p:sp>
      <p:sp>
        <p:nvSpPr>
          <p:cNvPr id="294" name="Google Shape;294;p52">
            <a:hlinkClick r:id="rId7" action="ppaction://hlinksldjump"/>
          </p:cNvPr>
          <p:cNvSpPr txBox="1">
            <a:spLocks noGrp="1"/>
          </p:cNvSpPr>
          <p:nvPr>
            <p:ph type="title" idx="18"/>
          </p:nvPr>
        </p:nvSpPr>
        <p:spPr>
          <a:xfrm>
            <a:off x="4160696" y="328665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05</a:t>
            </a:r>
            <a:endParaRPr>
              <a:solidFill>
                <a:schemeClr val="tx1">
                  <a:lumMod val="75000"/>
                </a:schemeClr>
              </a:solidFill>
            </a:endParaRPr>
          </a:p>
        </p:txBody>
      </p:sp>
      <p:pic>
        <p:nvPicPr>
          <p:cNvPr id="4" name="Picture 3">
            <a:extLst>
              <a:ext uri="{FF2B5EF4-FFF2-40B4-BE49-F238E27FC236}">
                <a16:creationId xmlns:a16="http://schemas.microsoft.com/office/drawing/2014/main" id="{A6FB33EA-232D-B5C5-A718-44535A79E948}"/>
              </a:ext>
            </a:extLst>
          </p:cNvPr>
          <p:cNvPicPr>
            <a:picLocks noChangeAspect="1"/>
          </p:cNvPicPr>
          <p:nvPr/>
        </p:nvPicPr>
        <p:blipFill>
          <a:blip r:embed="rId8"/>
          <a:stretch>
            <a:fillRect/>
          </a:stretch>
        </p:blipFill>
        <p:spPr>
          <a:xfrm>
            <a:off x="76147" y="4270931"/>
            <a:ext cx="762106" cy="800212"/>
          </a:xfrm>
          <a:prstGeom prst="rect">
            <a:avLst/>
          </a:prstGeom>
        </p:spPr>
      </p:pic>
      <p:pic>
        <p:nvPicPr>
          <p:cNvPr id="9" name="Picture 6" descr="Dollar Tree - Discover Brookfield">
            <a:extLst>
              <a:ext uri="{FF2B5EF4-FFF2-40B4-BE49-F238E27FC236}">
                <a16:creationId xmlns:a16="http://schemas.microsoft.com/office/drawing/2014/main" id="{3A19EDFA-A816-8FAA-6095-B112130319A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80;p52">
            <a:extLst>
              <a:ext uri="{FF2B5EF4-FFF2-40B4-BE49-F238E27FC236}">
                <a16:creationId xmlns:a16="http://schemas.microsoft.com/office/drawing/2014/main" id="{620F5760-A794-7F91-74D9-5D3E06E3760E}"/>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884334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646"/>
        <p:cNvGrpSpPr/>
        <p:nvPr/>
      </p:nvGrpSpPr>
      <p:grpSpPr>
        <a:xfrm>
          <a:off x="0" y="0"/>
          <a:ext cx="0" cy="0"/>
          <a:chOff x="0" y="0"/>
          <a:chExt cx="0" cy="0"/>
        </a:xfrm>
      </p:grpSpPr>
      <p:sp>
        <p:nvSpPr>
          <p:cNvPr id="647" name="Google Shape;647;p66"/>
          <p:cNvSpPr txBox="1">
            <a:spLocks noGrp="1"/>
          </p:cNvSpPr>
          <p:nvPr>
            <p:ph type="ctrTitle"/>
          </p:nvPr>
        </p:nvSpPr>
        <p:spPr>
          <a:xfrm>
            <a:off x="381000" y="470625"/>
            <a:ext cx="35052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Major Shareholders</a:t>
            </a:r>
            <a:endParaRPr sz="2400">
              <a:solidFill>
                <a:srgbClr val="0FAA4B"/>
              </a:solidFill>
            </a:endParaRPr>
          </a:p>
        </p:txBody>
      </p:sp>
      <p:sp>
        <p:nvSpPr>
          <p:cNvPr id="650" name="Google Shape;650;p66"/>
          <p:cNvSpPr/>
          <p:nvPr/>
        </p:nvSpPr>
        <p:spPr>
          <a:xfrm>
            <a:off x="602039" y="1485900"/>
            <a:ext cx="5872240" cy="2645227"/>
          </a:xfrm>
          <a:prstGeom prst="rect">
            <a:avLst/>
          </a:prstGeom>
          <a:noFill/>
          <a:ln w="9525" cap="flat" cmpd="sng">
            <a:solidFill>
              <a:srgbClr val="0FAA4B"/>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 name="Picture 5">
            <a:extLst>
              <a:ext uri="{FF2B5EF4-FFF2-40B4-BE49-F238E27FC236}">
                <a16:creationId xmlns:a16="http://schemas.microsoft.com/office/drawing/2014/main" id="{67358F79-6249-D8D3-9909-A6F0E628CAB6}"/>
              </a:ext>
            </a:extLst>
          </p:cNvPr>
          <p:cNvPicPr>
            <a:picLocks noChangeAspect="1"/>
          </p:cNvPicPr>
          <p:nvPr/>
        </p:nvPicPr>
        <p:blipFill>
          <a:blip r:embed="rId3"/>
          <a:stretch>
            <a:fillRect/>
          </a:stretch>
        </p:blipFill>
        <p:spPr>
          <a:xfrm>
            <a:off x="678532" y="1601787"/>
            <a:ext cx="5719253" cy="2378005"/>
          </a:xfrm>
          <a:prstGeom prst="rect">
            <a:avLst/>
          </a:prstGeom>
        </p:spPr>
      </p:pic>
      <p:sp>
        <p:nvSpPr>
          <p:cNvPr id="11" name="TextBox 10">
            <a:extLst>
              <a:ext uri="{FF2B5EF4-FFF2-40B4-BE49-F238E27FC236}">
                <a16:creationId xmlns:a16="http://schemas.microsoft.com/office/drawing/2014/main" id="{7BBDF957-56D3-5B3D-8FF2-756701B240FB}"/>
              </a:ext>
            </a:extLst>
          </p:cNvPr>
          <p:cNvSpPr txBox="1"/>
          <p:nvPr/>
        </p:nvSpPr>
        <p:spPr>
          <a:xfrm>
            <a:off x="6673815" y="2190624"/>
            <a:ext cx="1715919" cy="1200329"/>
          </a:xfrm>
          <a:prstGeom prst="rect">
            <a:avLst/>
          </a:prstGeom>
          <a:noFill/>
        </p:spPr>
        <p:txBody>
          <a:bodyPr wrap="square" rtlCol="0">
            <a:spAutoFit/>
          </a:bodyPr>
          <a:lstStyle/>
          <a:p>
            <a:pPr marL="171450" indent="-171450">
              <a:buFont typeface="Arial" panose="020B0604020202020204" pitchFamily="34" charset="0"/>
              <a:buChar char="•"/>
            </a:pPr>
            <a:r>
              <a:rPr lang="en-US" sz="1200" b="1" i="0" u="none" strike="noStrike">
                <a:solidFill>
                  <a:schemeClr val="bg1"/>
                </a:solidFill>
                <a:effectLst/>
                <a:latin typeface="Open Sans Light" panose="020B0306030504020204" pitchFamily="34" charset="0"/>
                <a:ea typeface="Open Sans Light" panose="020B0306030504020204" pitchFamily="34" charset="0"/>
                <a:cs typeface="Open Sans Light" panose="020B0306030504020204" pitchFamily="34" charset="0"/>
              </a:rPr>
              <a:t>3.49%</a:t>
            </a:r>
            <a:r>
              <a:rPr lang="en-US" sz="12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of shares held by Insiders</a:t>
            </a:r>
          </a:p>
          <a:p>
            <a:pPr marL="171450" indent="-171450">
              <a:buFont typeface="Arial" panose="020B0604020202020204" pitchFamily="34" charset="0"/>
              <a:buChar char="•"/>
            </a:pPr>
            <a:endParaRPr lang="en-US" sz="12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endParaRPr>
          </a:p>
          <a:p>
            <a:pPr marL="171450" indent="-171450">
              <a:buFont typeface="Arial" panose="020B0604020202020204" pitchFamily="34" charset="0"/>
              <a:buChar char="•"/>
            </a:pPr>
            <a:r>
              <a:rPr lang="en-US" sz="1200" b="1" i="0" u="none" strike="noStrike">
                <a:solidFill>
                  <a:schemeClr val="bg1"/>
                </a:solidFill>
                <a:effectLst/>
                <a:latin typeface="Open Sans Light" panose="020B0306030504020204" pitchFamily="34" charset="0"/>
                <a:ea typeface="Open Sans Light" panose="020B0306030504020204" pitchFamily="34" charset="0"/>
                <a:cs typeface="Open Sans Light" panose="020B0306030504020204" pitchFamily="34" charset="0"/>
              </a:rPr>
              <a:t>96.51 %</a:t>
            </a:r>
            <a:r>
              <a:rPr lang="en-US" sz="12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of shares held by Institutions</a:t>
            </a:r>
          </a:p>
          <a:p>
            <a:endParaRPr lang="en-US" sz="1200"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5" name="Picture 6" descr="Dollar Tree - Discover Brookfield">
            <a:extLst>
              <a:ext uri="{FF2B5EF4-FFF2-40B4-BE49-F238E27FC236}">
                <a16:creationId xmlns:a16="http://schemas.microsoft.com/office/drawing/2014/main" id="{5607CB21-70C7-5ECB-2826-703762DAC8B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ollar Tree - Discover Brookfield">
            <a:extLst>
              <a:ext uri="{FF2B5EF4-FFF2-40B4-BE49-F238E27FC236}">
                <a16:creationId xmlns:a16="http://schemas.microsoft.com/office/drawing/2014/main" id="{3A3FA4A1-1DF1-651D-1B1F-51092202D02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280;p52">
            <a:extLst>
              <a:ext uri="{FF2B5EF4-FFF2-40B4-BE49-F238E27FC236}">
                <a16:creationId xmlns:a16="http://schemas.microsoft.com/office/drawing/2014/main" id="{CB7DF4A4-6B55-D50C-0DA5-F248EF86ACD2}"/>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4323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50"/>
                                        </p:tgtEl>
                                        <p:attrNameLst>
                                          <p:attrName>style.visibility</p:attrName>
                                        </p:attrNameLst>
                                      </p:cBhvr>
                                      <p:to>
                                        <p:strVal val="visible"/>
                                      </p:to>
                                    </p:set>
                                    <p:anim calcmode="lin" valueType="num">
                                      <p:cBhvr additive="base">
                                        <p:cTn id="7" dur="1000"/>
                                        <p:tgtEl>
                                          <p:spTgt spid="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65"/>
          <p:cNvSpPr/>
          <p:nvPr/>
        </p:nvSpPr>
        <p:spPr>
          <a:xfrm>
            <a:off x="-403550" y="1010685"/>
            <a:ext cx="4828200" cy="3592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0" name="Google Shape;590;p65"/>
          <p:cNvSpPr/>
          <p:nvPr/>
        </p:nvSpPr>
        <p:spPr>
          <a:xfrm>
            <a:off x="4709869" y="508600"/>
            <a:ext cx="4828200" cy="3592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1" name="Google Shape;591;p65"/>
          <p:cNvSpPr txBox="1">
            <a:spLocks noGrp="1"/>
          </p:cNvSpPr>
          <p:nvPr>
            <p:ph type="ctrTitle"/>
          </p:nvPr>
        </p:nvSpPr>
        <p:spPr>
          <a:xfrm>
            <a:off x="127416" y="296535"/>
            <a:ext cx="4439843" cy="42412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Composition of Revenues</a:t>
            </a:r>
            <a:endParaRPr sz="2400" dirty="0">
              <a:solidFill>
                <a:srgbClr val="0FAA4B"/>
              </a:solidFill>
            </a:endParaRPr>
          </a:p>
        </p:txBody>
      </p:sp>
      <p:sp>
        <p:nvSpPr>
          <p:cNvPr id="611" name="Google Shape;611;p65"/>
          <p:cNvSpPr txBox="1"/>
          <p:nvPr/>
        </p:nvSpPr>
        <p:spPr>
          <a:xfrm>
            <a:off x="1601800" y="3824800"/>
            <a:ext cx="697800" cy="212700"/>
          </a:xfrm>
          <a:prstGeom prst="rect">
            <a:avLst/>
          </a:prstGeom>
          <a:noFill/>
          <a:ln>
            <a:noFill/>
          </a:ln>
        </p:spPr>
        <p:txBody>
          <a:bodyPr spcFirstLastPara="1" wrap="square" lIns="0" tIns="635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rPr>
              <a:t>40%</a:t>
            </a:r>
            <a:endParaRPr kumimoji="0"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endParaRPr>
          </a:p>
        </p:txBody>
      </p:sp>
      <p:graphicFrame>
        <p:nvGraphicFramePr>
          <p:cNvPr id="11" name="Chart 10">
            <a:extLst>
              <a:ext uri="{FF2B5EF4-FFF2-40B4-BE49-F238E27FC236}">
                <a16:creationId xmlns:a16="http://schemas.microsoft.com/office/drawing/2014/main" id="{E3A857DB-7DD3-96D0-D39C-CB13E4581A50}"/>
              </a:ext>
            </a:extLst>
          </p:cNvPr>
          <p:cNvGraphicFramePr>
            <a:graphicFrameLocks/>
          </p:cNvGraphicFramePr>
          <p:nvPr>
            <p:extLst>
              <p:ext uri="{D42A27DB-BD31-4B8C-83A1-F6EECF244321}">
                <p14:modId xmlns:p14="http://schemas.microsoft.com/office/powerpoint/2010/main" val="153942974"/>
              </p:ext>
            </p:extLst>
          </p:nvPr>
        </p:nvGraphicFramePr>
        <p:xfrm>
          <a:off x="83225" y="1124717"/>
          <a:ext cx="4239260" cy="33741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AB051643-4E9E-1220-E8B3-FC14219DD6B6}"/>
              </a:ext>
            </a:extLst>
          </p:cNvPr>
          <p:cNvGraphicFramePr>
            <a:graphicFrameLocks/>
          </p:cNvGraphicFramePr>
          <p:nvPr/>
        </p:nvGraphicFramePr>
        <p:xfrm>
          <a:off x="4434132" y="682688"/>
          <a:ext cx="4992290" cy="3226370"/>
        </p:xfrm>
        <a:graphic>
          <a:graphicData uri="http://schemas.openxmlformats.org/drawingml/2006/chart">
            <c:chart xmlns:c="http://schemas.openxmlformats.org/drawingml/2006/chart" xmlns:r="http://schemas.openxmlformats.org/officeDocument/2006/relationships" r:id="rId4"/>
          </a:graphicData>
        </a:graphic>
      </p:graphicFrame>
      <p:pic>
        <p:nvPicPr>
          <p:cNvPr id="7" name="Picture 6" descr="Dollar Tree - Discover Brookfield">
            <a:extLst>
              <a:ext uri="{FF2B5EF4-FFF2-40B4-BE49-F238E27FC236}">
                <a16:creationId xmlns:a16="http://schemas.microsoft.com/office/drawing/2014/main" id="{DBAFE661-8C81-81E1-1BAC-EA5FB0B6A3D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80;p52">
            <a:extLst>
              <a:ext uri="{FF2B5EF4-FFF2-40B4-BE49-F238E27FC236}">
                <a16:creationId xmlns:a16="http://schemas.microsoft.com/office/drawing/2014/main" id="{D67DF477-2C0A-8C66-52BC-FCF13E83F2B1}"/>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pic>
        <p:nvPicPr>
          <p:cNvPr id="5" name="Picture 6" descr="Dollar Tree - Discover Brookfield">
            <a:extLst>
              <a:ext uri="{FF2B5EF4-FFF2-40B4-BE49-F238E27FC236}">
                <a16:creationId xmlns:a16="http://schemas.microsoft.com/office/drawing/2014/main" id="{3CB00E16-AAE8-55FD-948B-0C1EA6C00F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60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40CB-7D1D-F56C-FE23-D73E14E368B4}"/>
              </a:ext>
            </a:extLst>
          </p:cNvPr>
          <p:cNvSpPr>
            <a:spLocks noGrp="1"/>
          </p:cNvSpPr>
          <p:nvPr>
            <p:ph type="ctrTitle"/>
          </p:nvPr>
        </p:nvSpPr>
        <p:spPr>
          <a:xfrm>
            <a:off x="326033" y="318655"/>
            <a:ext cx="3848401" cy="946200"/>
          </a:xfrm>
        </p:spPr>
        <p:txBody>
          <a:bodyPr/>
          <a:lstStyle/>
          <a:p>
            <a:r>
              <a:rPr lang="en-US" sz="3200" dirty="0">
                <a:solidFill>
                  <a:srgbClr val="0FAA4B"/>
                </a:solidFill>
              </a:rPr>
              <a:t>DuPont Analysis </a:t>
            </a:r>
          </a:p>
        </p:txBody>
      </p:sp>
      <p:graphicFrame>
        <p:nvGraphicFramePr>
          <p:cNvPr id="20" name="Diagram 19">
            <a:extLst>
              <a:ext uri="{FF2B5EF4-FFF2-40B4-BE49-F238E27FC236}">
                <a16:creationId xmlns:a16="http://schemas.microsoft.com/office/drawing/2014/main" id="{25CD906E-3A7B-0D12-A21D-1C77F1BD00A4}"/>
              </a:ext>
            </a:extLst>
          </p:cNvPr>
          <p:cNvGraphicFramePr/>
          <p:nvPr>
            <p:extLst>
              <p:ext uri="{D42A27DB-BD31-4B8C-83A1-F6EECF244321}">
                <p14:modId xmlns:p14="http://schemas.microsoft.com/office/powerpoint/2010/main" val="2271215570"/>
              </p:ext>
            </p:extLst>
          </p:nvPr>
        </p:nvGraphicFramePr>
        <p:xfrm>
          <a:off x="1524000" y="94372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6" descr="Dollar Tree - Discover Brookfield">
            <a:extLst>
              <a:ext uri="{FF2B5EF4-FFF2-40B4-BE49-F238E27FC236}">
                <a16:creationId xmlns:a16="http://schemas.microsoft.com/office/drawing/2014/main" id="{493DE823-B6B3-65DC-6E69-B85CA7A3FDE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072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32E1-711B-E63E-3B73-32038D28EFF7}"/>
              </a:ext>
            </a:extLst>
          </p:cNvPr>
          <p:cNvSpPr>
            <a:spLocks noGrp="1"/>
          </p:cNvSpPr>
          <p:nvPr>
            <p:ph type="ctrTitle"/>
          </p:nvPr>
        </p:nvSpPr>
        <p:spPr>
          <a:xfrm>
            <a:off x="421450" y="327502"/>
            <a:ext cx="4150550" cy="946200"/>
          </a:xfrm>
        </p:spPr>
        <p:txBody>
          <a:bodyPr/>
          <a:lstStyle/>
          <a:p>
            <a:r>
              <a:rPr lang="en-US" sz="2400">
                <a:solidFill>
                  <a:srgbClr val="0FAA4B"/>
                </a:solidFill>
              </a:rPr>
              <a:t>Leverage / Capital Structure </a:t>
            </a:r>
          </a:p>
        </p:txBody>
      </p:sp>
      <p:pic>
        <p:nvPicPr>
          <p:cNvPr id="3" name="Picture 2">
            <a:extLst>
              <a:ext uri="{FF2B5EF4-FFF2-40B4-BE49-F238E27FC236}">
                <a16:creationId xmlns:a16="http://schemas.microsoft.com/office/drawing/2014/main" id="{BDF7CE2F-BC85-2DAC-4867-2CCF64EFDE14}"/>
              </a:ext>
            </a:extLst>
          </p:cNvPr>
          <p:cNvPicPr>
            <a:picLocks noChangeAspect="1"/>
          </p:cNvPicPr>
          <p:nvPr/>
        </p:nvPicPr>
        <p:blipFill>
          <a:blip r:embed="rId2"/>
          <a:stretch>
            <a:fillRect/>
          </a:stretch>
        </p:blipFill>
        <p:spPr>
          <a:xfrm>
            <a:off x="124569" y="1347328"/>
            <a:ext cx="4211088" cy="2751800"/>
          </a:xfrm>
          <a:prstGeom prst="rect">
            <a:avLst/>
          </a:prstGeom>
        </p:spPr>
      </p:pic>
      <p:pic>
        <p:nvPicPr>
          <p:cNvPr id="4" name="Picture 3">
            <a:extLst>
              <a:ext uri="{FF2B5EF4-FFF2-40B4-BE49-F238E27FC236}">
                <a16:creationId xmlns:a16="http://schemas.microsoft.com/office/drawing/2014/main" id="{073A0DCD-C352-303B-0FA2-C0C90A7E8D10}"/>
              </a:ext>
            </a:extLst>
          </p:cNvPr>
          <p:cNvPicPr>
            <a:picLocks noChangeAspect="1"/>
          </p:cNvPicPr>
          <p:nvPr/>
        </p:nvPicPr>
        <p:blipFill>
          <a:blip r:embed="rId3"/>
          <a:stretch>
            <a:fillRect/>
          </a:stretch>
        </p:blipFill>
        <p:spPr>
          <a:xfrm>
            <a:off x="4808344" y="1347328"/>
            <a:ext cx="4211087" cy="2733755"/>
          </a:xfrm>
          <a:prstGeom prst="rect">
            <a:avLst/>
          </a:prstGeom>
        </p:spPr>
      </p:pic>
      <p:sp>
        <p:nvSpPr>
          <p:cNvPr id="5" name="TextBox 4">
            <a:extLst>
              <a:ext uri="{FF2B5EF4-FFF2-40B4-BE49-F238E27FC236}">
                <a16:creationId xmlns:a16="http://schemas.microsoft.com/office/drawing/2014/main" id="{63E21430-CA0F-0AF3-1C7C-87E0FDF74966}"/>
              </a:ext>
            </a:extLst>
          </p:cNvPr>
          <p:cNvSpPr txBox="1"/>
          <p:nvPr/>
        </p:nvSpPr>
        <p:spPr>
          <a:xfrm>
            <a:off x="1241701" y="4230233"/>
            <a:ext cx="1976823" cy="307777"/>
          </a:xfrm>
          <a:prstGeom prst="rect">
            <a:avLst/>
          </a:prstGeom>
          <a:noFill/>
        </p:spPr>
        <p:txBody>
          <a:bodyPr wrap="none" rtlCol="0">
            <a:spAutoFit/>
          </a:bodyPr>
          <a:lstStyle/>
          <a:p>
            <a:pPr algn="ctr"/>
            <a:r>
              <a:rPr lang="en-US"/>
              <a:t>Debt-to-Capital is 32%</a:t>
            </a:r>
          </a:p>
        </p:txBody>
      </p:sp>
      <p:sp>
        <p:nvSpPr>
          <p:cNvPr id="6" name="TextBox 5">
            <a:extLst>
              <a:ext uri="{FF2B5EF4-FFF2-40B4-BE49-F238E27FC236}">
                <a16:creationId xmlns:a16="http://schemas.microsoft.com/office/drawing/2014/main" id="{31DE3F85-D0AE-F510-3EF8-9BD64C1D4A0E}"/>
              </a:ext>
            </a:extLst>
          </p:cNvPr>
          <p:cNvSpPr txBox="1"/>
          <p:nvPr/>
        </p:nvSpPr>
        <p:spPr>
          <a:xfrm>
            <a:off x="5840516" y="4230232"/>
            <a:ext cx="2146742" cy="307777"/>
          </a:xfrm>
          <a:prstGeom prst="rect">
            <a:avLst/>
          </a:prstGeom>
          <a:noFill/>
        </p:spPr>
        <p:txBody>
          <a:bodyPr wrap="none" rtlCol="0">
            <a:spAutoFit/>
          </a:bodyPr>
          <a:lstStyle/>
          <a:p>
            <a:pPr algn="ctr"/>
            <a:r>
              <a:rPr lang="en-US" dirty="0"/>
              <a:t>Debt-to-EBITDA is 2.23x</a:t>
            </a:r>
          </a:p>
        </p:txBody>
      </p:sp>
    </p:spTree>
    <p:extLst>
      <p:ext uri="{BB962C8B-B14F-4D97-AF65-F5344CB8AC3E}">
        <p14:creationId xmlns:p14="http://schemas.microsoft.com/office/powerpoint/2010/main" val="3441989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4F34E-B9D4-4B24-B35A-8FE93C8CB820}"/>
              </a:ext>
            </a:extLst>
          </p:cNvPr>
          <p:cNvSpPr>
            <a:spLocks noGrp="1"/>
          </p:cNvSpPr>
          <p:nvPr>
            <p:ph type="ctrTitle"/>
          </p:nvPr>
        </p:nvSpPr>
        <p:spPr>
          <a:xfrm>
            <a:off x="723600" y="470625"/>
            <a:ext cx="3848400" cy="946200"/>
          </a:xfrm>
        </p:spPr>
        <p:txBody>
          <a:bodyPr/>
          <a:lstStyle/>
          <a:p>
            <a:r>
              <a:rPr lang="en-US" sz="2400">
                <a:solidFill>
                  <a:srgbClr val="0FAA4B"/>
                </a:solidFill>
              </a:rPr>
              <a:t>Working Capital Structure </a:t>
            </a:r>
          </a:p>
        </p:txBody>
      </p:sp>
      <p:sp>
        <p:nvSpPr>
          <p:cNvPr id="3" name="Rounded Rectangle 2">
            <a:extLst>
              <a:ext uri="{FF2B5EF4-FFF2-40B4-BE49-F238E27FC236}">
                <a16:creationId xmlns:a16="http://schemas.microsoft.com/office/drawing/2014/main" id="{A7DF48C0-33AE-5DA8-0863-344C7D000C29}"/>
              </a:ext>
            </a:extLst>
          </p:cNvPr>
          <p:cNvSpPr/>
          <p:nvPr/>
        </p:nvSpPr>
        <p:spPr>
          <a:xfrm>
            <a:off x="3479374" y="1486894"/>
            <a:ext cx="2449001" cy="1084856"/>
          </a:xfrm>
          <a:prstGeom prst="roundRect">
            <a:avLst/>
          </a:prstGeom>
          <a:solidFill>
            <a:srgbClr val="1446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E6F6E2"/>
                </a:solidFill>
              </a:rPr>
              <a:t>Cash Conversion Cycle: 57.4 Days</a:t>
            </a:r>
          </a:p>
        </p:txBody>
      </p:sp>
      <p:sp>
        <p:nvSpPr>
          <p:cNvPr id="4" name="Rounded Rectangle 3">
            <a:extLst>
              <a:ext uri="{FF2B5EF4-FFF2-40B4-BE49-F238E27FC236}">
                <a16:creationId xmlns:a16="http://schemas.microsoft.com/office/drawing/2014/main" id="{8D670C30-5BF5-7728-3FAD-C832FB151609}"/>
              </a:ext>
            </a:extLst>
          </p:cNvPr>
          <p:cNvSpPr/>
          <p:nvPr/>
        </p:nvSpPr>
        <p:spPr>
          <a:xfrm>
            <a:off x="723600" y="3022821"/>
            <a:ext cx="2449001" cy="1084856"/>
          </a:xfrm>
          <a:prstGeom prst="roundRect">
            <a:avLst/>
          </a:prstGeom>
          <a:solidFill>
            <a:srgbClr val="6BC8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E6F6E2"/>
                </a:solidFill>
              </a:rPr>
              <a:t>Days Sales Outstanding: 1.5 Days</a:t>
            </a:r>
          </a:p>
        </p:txBody>
      </p:sp>
      <p:sp>
        <p:nvSpPr>
          <p:cNvPr id="5" name="Rounded Rectangle 4">
            <a:extLst>
              <a:ext uri="{FF2B5EF4-FFF2-40B4-BE49-F238E27FC236}">
                <a16:creationId xmlns:a16="http://schemas.microsoft.com/office/drawing/2014/main" id="{732DA273-076C-388B-9AB5-59CBE55D3AA7}"/>
              </a:ext>
            </a:extLst>
          </p:cNvPr>
          <p:cNvSpPr/>
          <p:nvPr/>
        </p:nvSpPr>
        <p:spPr>
          <a:xfrm>
            <a:off x="3479374" y="3022821"/>
            <a:ext cx="2449001" cy="1084856"/>
          </a:xfrm>
          <a:prstGeom prst="roundRect">
            <a:avLst/>
          </a:prstGeom>
          <a:solidFill>
            <a:srgbClr val="0FAA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E6F6E2"/>
                </a:solidFill>
              </a:rPr>
              <a:t>Days Inventory Outstanding: 90.62 Days</a:t>
            </a:r>
          </a:p>
        </p:txBody>
      </p:sp>
      <p:sp>
        <p:nvSpPr>
          <p:cNvPr id="6" name="Rounded Rectangle 5">
            <a:extLst>
              <a:ext uri="{FF2B5EF4-FFF2-40B4-BE49-F238E27FC236}">
                <a16:creationId xmlns:a16="http://schemas.microsoft.com/office/drawing/2014/main" id="{7C086EAB-388C-3932-191E-4C76C750FEDF}"/>
              </a:ext>
            </a:extLst>
          </p:cNvPr>
          <p:cNvSpPr/>
          <p:nvPr/>
        </p:nvSpPr>
        <p:spPr>
          <a:xfrm>
            <a:off x="6235148" y="3022821"/>
            <a:ext cx="2449001" cy="1084856"/>
          </a:xfrm>
          <a:prstGeom prst="roundRect">
            <a:avLst/>
          </a:prstGeom>
          <a:solidFill>
            <a:srgbClr val="6BC8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E6F6E2"/>
                </a:solidFill>
              </a:rPr>
              <a:t>Days Payable Outstanding: 35.38 Days</a:t>
            </a:r>
          </a:p>
        </p:txBody>
      </p:sp>
      <p:pic>
        <p:nvPicPr>
          <p:cNvPr id="8" name="Picture 6" descr="Dollar Tree - Discover Brookfield">
            <a:extLst>
              <a:ext uri="{FF2B5EF4-FFF2-40B4-BE49-F238E27FC236}">
                <a16:creationId xmlns:a16="http://schemas.microsoft.com/office/drawing/2014/main" id="{C54CFDFD-A59C-C89C-41C7-915D7CD7E9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80;p52">
            <a:extLst>
              <a:ext uri="{FF2B5EF4-FFF2-40B4-BE49-F238E27FC236}">
                <a16:creationId xmlns:a16="http://schemas.microsoft.com/office/drawing/2014/main" id="{EC427D44-A612-B75B-2508-5F9D5B12CD7A}"/>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1139900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24BC-CF85-A19B-DCF5-6B6641AF8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E86E6-3EFF-2F35-0E33-E0438326285A}"/>
              </a:ext>
            </a:extLst>
          </p:cNvPr>
          <p:cNvSpPr>
            <a:spLocks noGrp="1"/>
          </p:cNvSpPr>
          <p:nvPr>
            <p:ph type="ctrTitle"/>
          </p:nvPr>
        </p:nvSpPr>
        <p:spPr>
          <a:xfrm>
            <a:off x="214716" y="255939"/>
            <a:ext cx="3848400" cy="618704"/>
          </a:xfrm>
        </p:spPr>
        <p:txBody>
          <a:bodyPr/>
          <a:lstStyle/>
          <a:p>
            <a:r>
              <a:rPr lang="en-US" sz="2400">
                <a:solidFill>
                  <a:srgbClr val="0FAA4B"/>
                </a:solidFill>
              </a:rPr>
              <a:t>Assumptions </a:t>
            </a:r>
          </a:p>
        </p:txBody>
      </p:sp>
      <p:sp>
        <p:nvSpPr>
          <p:cNvPr id="8" name="TextBox 7">
            <a:extLst>
              <a:ext uri="{FF2B5EF4-FFF2-40B4-BE49-F238E27FC236}">
                <a16:creationId xmlns:a16="http://schemas.microsoft.com/office/drawing/2014/main" id="{E40BA7C4-DCD3-0A08-7E20-CF914071AA4B}"/>
              </a:ext>
            </a:extLst>
          </p:cNvPr>
          <p:cNvSpPr txBox="1"/>
          <p:nvPr/>
        </p:nvSpPr>
        <p:spPr>
          <a:xfrm>
            <a:off x="517465" y="1325911"/>
            <a:ext cx="2582703" cy="369332"/>
          </a:xfrm>
          <a:prstGeom prst="rect">
            <a:avLst/>
          </a:prstGeom>
          <a:noFill/>
          <a:ln>
            <a:solidFill>
              <a:schemeClr val="tx1">
                <a:lumMod val="10000"/>
              </a:schemeClr>
            </a:solidFill>
          </a:ln>
        </p:spPr>
        <p:txBody>
          <a:bodyPr wrap="square" rtlCol="0">
            <a:spAutoFit/>
          </a:bodyPr>
          <a:lstStyle/>
          <a:p>
            <a:r>
              <a:rPr lang="en-US" sz="1800"/>
              <a:t>Revenue Growth: 7.6%</a:t>
            </a:r>
          </a:p>
        </p:txBody>
      </p:sp>
      <p:sp>
        <p:nvSpPr>
          <p:cNvPr id="9" name="TextBox 8">
            <a:extLst>
              <a:ext uri="{FF2B5EF4-FFF2-40B4-BE49-F238E27FC236}">
                <a16:creationId xmlns:a16="http://schemas.microsoft.com/office/drawing/2014/main" id="{2FBBB830-A490-5476-49D7-DD54BB9FDF98}"/>
              </a:ext>
            </a:extLst>
          </p:cNvPr>
          <p:cNvSpPr txBox="1"/>
          <p:nvPr/>
        </p:nvSpPr>
        <p:spPr>
          <a:xfrm>
            <a:off x="3573819" y="1325911"/>
            <a:ext cx="2505814" cy="369332"/>
          </a:xfrm>
          <a:prstGeom prst="rect">
            <a:avLst/>
          </a:prstGeom>
          <a:noFill/>
          <a:ln>
            <a:solidFill>
              <a:schemeClr val="tx1">
                <a:lumMod val="10000"/>
              </a:schemeClr>
            </a:solidFill>
          </a:ln>
        </p:spPr>
        <p:txBody>
          <a:bodyPr wrap="none" rtlCol="0">
            <a:spAutoFit/>
          </a:bodyPr>
          <a:lstStyle/>
          <a:p>
            <a:r>
              <a:rPr lang="en-US" sz="1800" dirty="0"/>
              <a:t>EBITDA Margin 10.6%</a:t>
            </a:r>
          </a:p>
        </p:txBody>
      </p:sp>
      <p:sp>
        <p:nvSpPr>
          <p:cNvPr id="10" name="TextBox 9">
            <a:extLst>
              <a:ext uri="{FF2B5EF4-FFF2-40B4-BE49-F238E27FC236}">
                <a16:creationId xmlns:a16="http://schemas.microsoft.com/office/drawing/2014/main" id="{5DA3FF8A-F6BA-C386-9F33-01EC0A569879}"/>
              </a:ext>
            </a:extLst>
          </p:cNvPr>
          <p:cNvSpPr txBox="1"/>
          <p:nvPr/>
        </p:nvSpPr>
        <p:spPr>
          <a:xfrm>
            <a:off x="3573819" y="2885176"/>
            <a:ext cx="1909497" cy="646331"/>
          </a:xfrm>
          <a:prstGeom prst="rect">
            <a:avLst/>
          </a:prstGeom>
          <a:noFill/>
          <a:ln>
            <a:solidFill>
              <a:schemeClr val="tx1">
                <a:lumMod val="10000"/>
              </a:schemeClr>
            </a:solidFill>
          </a:ln>
        </p:spPr>
        <p:txBody>
          <a:bodyPr wrap="square" rtlCol="0">
            <a:spAutoFit/>
          </a:bodyPr>
          <a:lstStyle/>
          <a:p>
            <a:r>
              <a:rPr lang="en-US" sz="1800" dirty="0"/>
              <a:t>COGS as % of Sales 4.3%</a:t>
            </a:r>
          </a:p>
        </p:txBody>
      </p:sp>
      <p:sp>
        <p:nvSpPr>
          <p:cNvPr id="11" name="TextBox 10">
            <a:extLst>
              <a:ext uri="{FF2B5EF4-FFF2-40B4-BE49-F238E27FC236}">
                <a16:creationId xmlns:a16="http://schemas.microsoft.com/office/drawing/2014/main" id="{065B6AAB-7E0F-0AC0-5693-6AC3A1FF6AB4}"/>
              </a:ext>
            </a:extLst>
          </p:cNvPr>
          <p:cNvSpPr txBox="1"/>
          <p:nvPr/>
        </p:nvSpPr>
        <p:spPr>
          <a:xfrm>
            <a:off x="6553284" y="1325911"/>
            <a:ext cx="1725828" cy="830997"/>
          </a:xfrm>
          <a:prstGeom prst="rect">
            <a:avLst/>
          </a:prstGeom>
          <a:noFill/>
          <a:ln>
            <a:solidFill>
              <a:schemeClr val="tx1">
                <a:lumMod val="10000"/>
              </a:schemeClr>
            </a:solidFill>
          </a:ln>
        </p:spPr>
        <p:txBody>
          <a:bodyPr wrap="square" rtlCol="0">
            <a:spAutoFit/>
          </a:bodyPr>
          <a:lstStyle/>
          <a:p>
            <a:pPr algn="ctr"/>
            <a:r>
              <a:rPr lang="en-US" sz="1600" dirty="0"/>
              <a:t>Weighted Average Cost of Capital 6.07%</a:t>
            </a:r>
          </a:p>
        </p:txBody>
      </p:sp>
      <p:sp>
        <p:nvSpPr>
          <p:cNvPr id="12" name="TextBox 11">
            <a:extLst>
              <a:ext uri="{FF2B5EF4-FFF2-40B4-BE49-F238E27FC236}">
                <a16:creationId xmlns:a16="http://schemas.microsoft.com/office/drawing/2014/main" id="{BCB58DEE-0827-7E53-9F6E-1C6B980C0329}"/>
              </a:ext>
            </a:extLst>
          </p:cNvPr>
          <p:cNvSpPr txBox="1"/>
          <p:nvPr/>
        </p:nvSpPr>
        <p:spPr>
          <a:xfrm>
            <a:off x="6553284" y="2885176"/>
            <a:ext cx="1725828" cy="923330"/>
          </a:xfrm>
          <a:prstGeom prst="rect">
            <a:avLst/>
          </a:prstGeom>
          <a:noFill/>
          <a:ln>
            <a:solidFill>
              <a:schemeClr val="tx1">
                <a:lumMod val="10000"/>
              </a:schemeClr>
            </a:solidFill>
          </a:ln>
        </p:spPr>
        <p:txBody>
          <a:bodyPr wrap="square" rtlCol="0">
            <a:spAutoFit/>
          </a:bodyPr>
          <a:lstStyle/>
          <a:p>
            <a:r>
              <a:rPr lang="en-US" sz="1800" dirty="0"/>
              <a:t>Capex as a % of Revenue 4.8%</a:t>
            </a:r>
          </a:p>
        </p:txBody>
      </p:sp>
      <p:sp>
        <p:nvSpPr>
          <p:cNvPr id="13" name="TextBox 12">
            <a:extLst>
              <a:ext uri="{FF2B5EF4-FFF2-40B4-BE49-F238E27FC236}">
                <a16:creationId xmlns:a16="http://schemas.microsoft.com/office/drawing/2014/main" id="{C31D1318-86E5-7A53-377A-99ECEE4F421D}"/>
              </a:ext>
            </a:extLst>
          </p:cNvPr>
          <p:cNvSpPr txBox="1"/>
          <p:nvPr/>
        </p:nvSpPr>
        <p:spPr>
          <a:xfrm>
            <a:off x="517465" y="2889065"/>
            <a:ext cx="2227993" cy="646331"/>
          </a:xfrm>
          <a:prstGeom prst="rect">
            <a:avLst/>
          </a:prstGeom>
          <a:noFill/>
          <a:ln>
            <a:solidFill>
              <a:schemeClr val="tx1">
                <a:lumMod val="10000"/>
              </a:schemeClr>
            </a:solidFill>
          </a:ln>
        </p:spPr>
        <p:txBody>
          <a:bodyPr wrap="square" rtlCol="0">
            <a:spAutoFit/>
          </a:bodyPr>
          <a:lstStyle/>
          <a:p>
            <a:pPr algn="ctr"/>
            <a:r>
              <a:rPr lang="en-US" sz="1800" dirty="0"/>
              <a:t>D&amp;A as a % of Revenue 11.2% </a:t>
            </a:r>
          </a:p>
        </p:txBody>
      </p:sp>
      <p:pic>
        <p:nvPicPr>
          <p:cNvPr id="14" name="Picture 6" descr="Dollar Tree - Discover Brookfield">
            <a:extLst>
              <a:ext uri="{FF2B5EF4-FFF2-40B4-BE49-F238E27FC236}">
                <a16:creationId xmlns:a16="http://schemas.microsoft.com/office/drawing/2014/main" id="{383EB101-D77F-B23C-9A90-99BEBC2040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5" name="Google Shape;280;p52">
            <a:extLst>
              <a:ext uri="{FF2B5EF4-FFF2-40B4-BE49-F238E27FC236}">
                <a16:creationId xmlns:a16="http://schemas.microsoft.com/office/drawing/2014/main" id="{7DEC4B3E-67DC-A338-8C65-70690357065D}"/>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822850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8">
          <a:extLst>
            <a:ext uri="{FF2B5EF4-FFF2-40B4-BE49-F238E27FC236}">
              <a16:creationId xmlns:a16="http://schemas.microsoft.com/office/drawing/2014/main" id="{4DA566B5-DE54-8DC3-A069-F58F493D00CB}"/>
            </a:ext>
          </a:extLst>
        </p:cNvPr>
        <p:cNvGrpSpPr/>
        <p:nvPr/>
      </p:nvGrpSpPr>
      <p:grpSpPr>
        <a:xfrm>
          <a:off x="0" y="0"/>
          <a:ext cx="0" cy="0"/>
          <a:chOff x="0" y="0"/>
          <a:chExt cx="0" cy="0"/>
        </a:xfrm>
      </p:grpSpPr>
      <p:sp>
        <p:nvSpPr>
          <p:cNvPr id="591" name="Google Shape;591;p65">
            <a:extLst>
              <a:ext uri="{FF2B5EF4-FFF2-40B4-BE49-F238E27FC236}">
                <a16:creationId xmlns:a16="http://schemas.microsoft.com/office/drawing/2014/main" id="{2A775CFB-EA3C-B2F5-590F-B28AC204FCC4}"/>
              </a:ext>
            </a:extLst>
          </p:cNvPr>
          <p:cNvSpPr txBox="1">
            <a:spLocks noGrp="1"/>
          </p:cNvSpPr>
          <p:nvPr>
            <p:ph type="ctrTitle"/>
          </p:nvPr>
        </p:nvSpPr>
        <p:spPr>
          <a:xfrm>
            <a:off x="132157" y="319549"/>
            <a:ext cx="4439843" cy="424129"/>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Target Price vs Trading Price </a:t>
            </a:r>
            <a:endParaRPr sz="2400">
              <a:solidFill>
                <a:srgbClr val="0FAA4B"/>
              </a:solidFill>
            </a:endParaRPr>
          </a:p>
        </p:txBody>
      </p:sp>
      <p:sp>
        <p:nvSpPr>
          <p:cNvPr id="611" name="Google Shape;611;p65">
            <a:extLst>
              <a:ext uri="{FF2B5EF4-FFF2-40B4-BE49-F238E27FC236}">
                <a16:creationId xmlns:a16="http://schemas.microsoft.com/office/drawing/2014/main" id="{531BA58B-01F0-DDB9-60F9-0D22C464A136}"/>
              </a:ext>
            </a:extLst>
          </p:cNvPr>
          <p:cNvSpPr txBox="1"/>
          <p:nvPr/>
        </p:nvSpPr>
        <p:spPr>
          <a:xfrm>
            <a:off x="1601800" y="3824800"/>
            <a:ext cx="697800" cy="212700"/>
          </a:xfrm>
          <a:prstGeom prst="rect">
            <a:avLst/>
          </a:prstGeom>
          <a:noFill/>
          <a:ln>
            <a:noFill/>
          </a:ln>
        </p:spPr>
        <p:txBody>
          <a:bodyPr spcFirstLastPara="1" wrap="square" lIns="0" tIns="635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rPr>
              <a:t>40%</a:t>
            </a:r>
            <a:endParaRPr kumimoji="0"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endParaRPr>
          </a:p>
        </p:txBody>
      </p:sp>
      <p:sp>
        <p:nvSpPr>
          <p:cNvPr id="6" name="TextBox 5">
            <a:extLst>
              <a:ext uri="{FF2B5EF4-FFF2-40B4-BE49-F238E27FC236}">
                <a16:creationId xmlns:a16="http://schemas.microsoft.com/office/drawing/2014/main" id="{0C5DAB00-B3D6-57F2-3731-C31B8D5A01BF}"/>
              </a:ext>
            </a:extLst>
          </p:cNvPr>
          <p:cNvSpPr txBox="1"/>
          <p:nvPr/>
        </p:nvSpPr>
        <p:spPr>
          <a:xfrm>
            <a:off x="2976368" y="1275496"/>
            <a:ext cx="3111749" cy="615553"/>
          </a:xfrm>
          <a:prstGeom prst="rect">
            <a:avLst/>
          </a:prstGeom>
          <a:noFill/>
        </p:spPr>
        <p:txBody>
          <a:bodyPr wrap="none" rtlCol="0">
            <a:spAutoFit/>
          </a:bodyPr>
          <a:lstStyle/>
          <a:p>
            <a:r>
              <a:rPr lang="en-US" sz="1600">
                <a:solidFill>
                  <a:schemeClr val="tx1">
                    <a:lumMod val="10000"/>
                  </a:schemeClr>
                </a:solidFill>
                <a:latin typeface="Open Sans" panose="020B0606030504020204" pitchFamily="34" charset="0"/>
                <a:ea typeface="Open Sans" panose="020B0606030504020204" pitchFamily="34" charset="0"/>
                <a:cs typeface="Open Sans" panose="020B0606030504020204" pitchFamily="34" charset="0"/>
              </a:rPr>
              <a:t>Dollar Tree’s fair share price is </a:t>
            </a:r>
          </a:p>
          <a:p>
            <a:pPr algn="ctr"/>
            <a:r>
              <a:rPr lang="en-US" sz="1800" b="1">
                <a:solidFill>
                  <a:srgbClr val="00B050"/>
                </a:solidFill>
                <a:latin typeface="Open Sans" panose="020B0606030504020204" pitchFamily="34" charset="0"/>
                <a:ea typeface="Open Sans" panose="020B0606030504020204" pitchFamily="34" charset="0"/>
                <a:cs typeface="Open Sans" panose="020B0606030504020204" pitchFamily="34" charset="0"/>
              </a:rPr>
              <a:t>$81.87 </a:t>
            </a:r>
          </a:p>
        </p:txBody>
      </p:sp>
      <p:sp>
        <p:nvSpPr>
          <p:cNvPr id="8" name="Rectangle 7">
            <a:extLst>
              <a:ext uri="{FF2B5EF4-FFF2-40B4-BE49-F238E27FC236}">
                <a16:creationId xmlns:a16="http://schemas.microsoft.com/office/drawing/2014/main" id="{3F695355-7227-D963-70D4-0C14535EA145}"/>
              </a:ext>
            </a:extLst>
          </p:cNvPr>
          <p:cNvSpPr/>
          <p:nvPr/>
        </p:nvSpPr>
        <p:spPr>
          <a:xfrm>
            <a:off x="1717482" y="2161650"/>
            <a:ext cx="1582309" cy="1463034"/>
          </a:xfrm>
          <a:prstGeom prst="rect">
            <a:avLst/>
          </a:prstGeom>
          <a:solidFill>
            <a:srgbClr val="0FAA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2"/>
                </a:solidFill>
                <a:latin typeface="Open Sans" panose="020B0606030504020204" pitchFamily="34" charset="0"/>
                <a:ea typeface="Open Sans" panose="020B0606030504020204" pitchFamily="34" charset="0"/>
                <a:cs typeface="Open Sans" panose="020B0606030504020204" pitchFamily="34" charset="0"/>
              </a:rPr>
              <a:t>$72.56</a:t>
            </a:r>
          </a:p>
        </p:txBody>
      </p:sp>
      <p:sp>
        <p:nvSpPr>
          <p:cNvPr id="5" name="Right Arrow 4">
            <a:extLst>
              <a:ext uri="{FF2B5EF4-FFF2-40B4-BE49-F238E27FC236}">
                <a16:creationId xmlns:a16="http://schemas.microsoft.com/office/drawing/2014/main" id="{AC758B52-F8D7-E0D3-9EE9-56A2076A57ED}"/>
              </a:ext>
            </a:extLst>
          </p:cNvPr>
          <p:cNvSpPr/>
          <p:nvPr/>
        </p:nvSpPr>
        <p:spPr>
          <a:xfrm>
            <a:off x="3760966" y="2723468"/>
            <a:ext cx="1622066" cy="294198"/>
          </a:xfrm>
          <a:prstGeom prst="rightArrow">
            <a:avLst/>
          </a:prstGeom>
          <a:solidFill>
            <a:srgbClr val="0FAA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A63EAD6-FDC8-C7BF-CF9E-305C67764434}"/>
              </a:ext>
            </a:extLst>
          </p:cNvPr>
          <p:cNvSpPr/>
          <p:nvPr/>
        </p:nvSpPr>
        <p:spPr>
          <a:xfrm>
            <a:off x="5764696" y="2113387"/>
            <a:ext cx="2301705" cy="1559560"/>
          </a:xfrm>
          <a:prstGeom prst="rect">
            <a:avLst/>
          </a:prstGeom>
          <a:solidFill>
            <a:srgbClr val="0FAA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6"/>
                </a:solidFill>
                <a:latin typeface="Open Sans" panose="020B0606030504020204" pitchFamily="34" charset="0"/>
                <a:ea typeface="Open Sans" panose="020B0606030504020204" pitchFamily="34" charset="0"/>
                <a:cs typeface="Open Sans" panose="020B0606030504020204" pitchFamily="34" charset="0"/>
              </a:rPr>
              <a:t>$81.87</a:t>
            </a:r>
          </a:p>
        </p:txBody>
      </p:sp>
      <p:sp>
        <p:nvSpPr>
          <p:cNvPr id="9" name="TextBox 8">
            <a:extLst>
              <a:ext uri="{FF2B5EF4-FFF2-40B4-BE49-F238E27FC236}">
                <a16:creationId xmlns:a16="http://schemas.microsoft.com/office/drawing/2014/main" id="{E503CF38-8049-34AE-2B7D-1D9472BA7185}"/>
              </a:ext>
            </a:extLst>
          </p:cNvPr>
          <p:cNvSpPr txBox="1"/>
          <p:nvPr/>
        </p:nvSpPr>
        <p:spPr>
          <a:xfrm>
            <a:off x="3805121" y="2422867"/>
            <a:ext cx="1454244" cy="307777"/>
          </a:xfrm>
          <a:prstGeom prst="rect">
            <a:avLst/>
          </a:prstGeom>
          <a:noFill/>
        </p:spPr>
        <p:txBody>
          <a:bodyPr wrap="none" rtlCol="0">
            <a:spAutoFit/>
          </a:bodyPr>
          <a:lstStyle/>
          <a:p>
            <a:r>
              <a:rPr lang="en-US">
                <a:solidFill>
                  <a:schemeClr val="tx1">
                    <a:lumMod val="10000"/>
                  </a:schemeClr>
                </a:solidFill>
                <a:latin typeface="Open Sans" panose="020B0606030504020204" pitchFamily="34" charset="0"/>
                <a:ea typeface="Open Sans" panose="020B0606030504020204" pitchFamily="34" charset="0"/>
                <a:cs typeface="Open Sans" panose="020B0606030504020204" pitchFamily="34" charset="0"/>
              </a:rPr>
              <a:t>+8.44% Upside </a:t>
            </a:r>
          </a:p>
        </p:txBody>
      </p:sp>
    </p:spTree>
    <p:extLst>
      <p:ext uri="{BB962C8B-B14F-4D97-AF65-F5344CB8AC3E}">
        <p14:creationId xmlns:p14="http://schemas.microsoft.com/office/powerpoint/2010/main" val="1469954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2"/>
          <p:cNvSpPr/>
          <p:nvPr/>
        </p:nvSpPr>
        <p:spPr>
          <a:xfrm>
            <a:off x="1578888" y="1536078"/>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79" name="Google Shape;279;p52"/>
          <p:cNvSpPr/>
          <p:nvPr/>
        </p:nvSpPr>
        <p:spPr>
          <a:xfrm>
            <a:off x="-99062" y="3110610"/>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98" name="Google Shape;298;p52"/>
          <p:cNvSpPr txBox="1">
            <a:spLocks noGrp="1"/>
          </p:cNvSpPr>
          <p:nvPr>
            <p:ph type="ctrTitle"/>
          </p:nvPr>
        </p:nvSpPr>
        <p:spPr>
          <a:xfrm>
            <a:off x="567069" y="472463"/>
            <a:ext cx="2806995"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Table of Contents</a:t>
            </a:r>
            <a:endParaRPr sz="2400">
              <a:solidFill>
                <a:srgbClr val="0FAA4B"/>
              </a:solidFill>
            </a:endParaRPr>
          </a:p>
        </p:txBody>
      </p:sp>
      <p:sp>
        <p:nvSpPr>
          <p:cNvPr id="280" name="Google Shape;280;p52"/>
          <p:cNvSpPr txBox="1">
            <a:spLocks noGrp="1"/>
          </p:cNvSpPr>
          <p:nvPr>
            <p:ph type="ctrTitle" idx="2"/>
          </p:nvPr>
        </p:nvSpPr>
        <p:spPr>
          <a:xfrm>
            <a:off x="2488748" y="2202425"/>
            <a:ext cx="1550744"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600">
                <a:solidFill>
                  <a:schemeClr val="tx1">
                    <a:lumMod val="75000"/>
                  </a:schemeClr>
                </a:solidFill>
              </a:rPr>
              <a:t>Business</a:t>
            </a:r>
            <a:r>
              <a:rPr lang="en" sz="1600"/>
              <a:t> </a:t>
            </a:r>
            <a:r>
              <a:rPr lang="en" sz="1600">
                <a:solidFill>
                  <a:schemeClr val="tx1">
                    <a:lumMod val="75000"/>
                  </a:schemeClr>
                </a:solidFill>
              </a:rPr>
              <a:t>overview</a:t>
            </a:r>
            <a:endParaRPr sz="1600">
              <a:solidFill>
                <a:schemeClr val="tx1">
                  <a:lumMod val="75000"/>
                </a:schemeClr>
              </a:solidFill>
            </a:endParaRPr>
          </a:p>
        </p:txBody>
      </p:sp>
      <p:sp>
        <p:nvSpPr>
          <p:cNvPr id="282" name="Google Shape;282;p52">
            <a:hlinkClick r:id="rId3" action="ppaction://hlinksldjump"/>
          </p:cNvPr>
          <p:cNvSpPr txBox="1">
            <a:spLocks noGrp="1"/>
          </p:cNvSpPr>
          <p:nvPr>
            <p:ph type="title" idx="3"/>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01</a:t>
            </a:r>
            <a:endParaRPr>
              <a:solidFill>
                <a:schemeClr val="tx1">
                  <a:lumMod val="75000"/>
                </a:schemeClr>
              </a:solidFill>
            </a:endParaRPr>
          </a:p>
        </p:txBody>
      </p:sp>
      <p:sp>
        <p:nvSpPr>
          <p:cNvPr id="283" name="Google Shape;283;p52"/>
          <p:cNvSpPr txBox="1">
            <a:spLocks noGrp="1"/>
          </p:cNvSpPr>
          <p:nvPr>
            <p:ph type="ctrTitle" idx="4"/>
          </p:nvPr>
        </p:nvSpPr>
        <p:spPr>
          <a:xfrm>
            <a:off x="4624412" y="2199025"/>
            <a:ext cx="1593175"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Competitive Analysis </a:t>
            </a:r>
            <a:endParaRPr lang="en-US" sz="1600">
              <a:solidFill>
                <a:schemeClr val="tx1">
                  <a:lumMod val="75000"/>
                </a:schemeClr>
              </a:solidFill>
            </a:endParaRPr>
          </a:p>
        </p:txBody>
      </p:sp>
      <p:sp>
        <p:nvSpPr>
          <p:cNvPr id="285" name="Google Shape;285;p52">
            <a:hlinkClick r:id="rId4" action="ppaction://hlinksldjump"/>
          </p:cNvPr>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02</a:t>
            </a:r>
            <a:endParaRPr>
              <a:solidFill>
                <a:schemeClr val="tx1">
                  <a:lumMod val="75000"/>
                </a:schemeClr>
              </a:solidFill>
            </a:endParaRPr>
          </a:p>
        </p:txBody>
      </p:sp>
      <p:sp>
        <p:nvSpPr>
          <p:cNvPr id="286" name="Google Shape;286;p52"/>
          <p:cNvSpPr txBox="1">
            <a:spLocks noGrp="1"/>
          </p:cNvSpPr>
          <p:nvPr>
            <p:ph type="ctrTitle" idx="7"/>
          </p:nvPr>
        </p:nvSpPr>
        <p:spPr>
          <a:xfrm>
            <a:off x="6504170" y="2199050"/>
            <a:ext cx="1914970" cy="3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Conclusion</a:t>
            </a:r>
            <a:endParaRPr lang="en-US" sz="1600">
              <a:solidFill>
                <a:schemeClr val="tx1">
                  <a:lumMod val="75000"/>
                </a:schemeClr>
              </a:solidFill>
            </a:endParaRPr>
          </a:p>
        </p:txBody>
      </p:sp>
      <p:sp>
        <p:nvSpPr>
          <p:cNvPr id="288" name="Google Shape;288;p52">
            <a:hlinkClick r:id="rId5" action="ppaction://hlinksldjump"/>
          </p:cNvPr>
          <p:cNvSpPr txBox="1">
            <a:spLocks noGrp="1"/>
          </p:cNvSpPr>
          <p:nvPr>
            <p:ph type="title" idx="9"/>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03</a:t>
            </a:r>
            <a:endParaRPr>
              <a:solidFill>
                <a:schemeClr val="tx1">
                  <a:lumMod val="75000"/>
                </a:schemeClr>
              </a:solidFill>
            </a:endParaRPr>
          </a:p>
        </p:txBody>
      </p:sp>
      <p:sp>
        <p:nvSpPr>
          <p:cNvPr id="289" name="Google Shape;289;p52"/>
          <p:cNvSpPr txBox="1">
            <a:spLocks noGrp="1"/>
          </p:cNvSpPr>
          <p:nvPr>
            <p:ph type="ctrTitle" idx="13"/>
          </p:nvPr>
        </p:nvSpPr>
        <p:spPr>
          <a:xfrm>
            <a:off x="1817078" y="3688700"/>
            <a:ext cx="1779728"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1">
                <a:solidFill>
                  <a:schemeClr val="bg1"/>
                </a:solidFill>
                <a:effectLst/>
                <a:latin typeface="Times New Roman" panose="02020603050405020304" pitchFamily="18" charset="0"/>
                <a:ea typeface="Trebuchet MS" panose="020B0603020202020204" pitchFamily="34" charset="0"/>
              </a:rPr>
              <a:t>Recommendation</a:t>
            </a:r>
            <a:endParaRPr lang="en-US" sz="1600">
              <a:solidFill>
                <a:schemeClr val="bg1"/>
              </a:solidFill>
            </a:endParaRPr>
          </a:p>
        </p:txBody>
      </p:sp>
      <p:sp>
        <p:nvSpPr>
          <p:cNvPr id="291" name="Google Shape;291;p52">
            <a:hlinkClick r:id="rId6" action="ppaction://hlinksldjump"/>
          </p:cNvPr>
          <p:cNvSpPr txBox="1">
            <a:spLocks noGrp="1"/>
          </p:cNvSpPr>
          <p:nvPr>
            <p:ph type="title" idx="15"/>
          </p:nvPr>
        </p:nvSpPr>
        <p:spPr>
          <a:xfrm>
            <a:off x="1843006" y="325574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bg1"/>
                </a:solidFill>
              </a:rPr>
              <a:t>04</a:t>
            </a:r>
            <a:endParaRPr>
              <a:solidFill>
                <a:schemeClr val="bg1"/>
              </a:solidFill>
            </a:endParaRPr>
          </a:p>
        </p:txBody>
      </p:sp>
      <p:sp>
        <p:nvSpPr>
          <p:cNvPr id="292" name="Google Shape;292;p52"/>
          <p:cNvSpPr txBox="1">
            <a:spLocks noGrp="1"/>
          </p:cNvSpPr>
          <p:nvPr>
            <p:ph type="ctrTitle" idx="16"/>
          </p:nvPr>
        </p:nvSpPr>
        <p:spPr>
          <a:xfrm>
            <a:off x="4173660" y="3829554"/>
            <a:ext cx="1140095" cy="4219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Appendix</a:t>
            </a:r>
            <a:r>
              <a:rPr lang="en-US" sz="1600">
                <a:solidFill>
                  <a:schemeClr val="tx1">
                    <a:lumMod val="75000"/>
                  </a:schemeClr>
                </a:solidFill>
                <a:effectLst/>
                <a:latin typeface="Times New Roman" panose="02020603050405020304" pitchFamily="18" charset="0"/>
                <a:ea typeface="Trebuchet MS" panose="020B0603020202020204" pitchFamily="34" charset="0"/>
              </a:rPr>
              <a:t> </a:t>
            </a:r>
            <a:endParaRPr lang="en-US" sz="1600">
              <a:solidFill>
                <a:schemeClr val="tx1">
                  <a:lumMod val="75000"/>
                </a:schemeClr>
              </a:solidFill>
            </a:endParaRPr>
          </a:p>
        </p:txBody>
      </p:sp>
      <p:sp>
        <p:nvSpPr>
          <p:cNvPr id="294" name="Google Shape;294;p52">
            <a:hlinkClick r:id="rId7" action="ppaction://hlinksldjump"/>
          </p:cNvPr>
          <p:cNvSpPr txBox="1">
            <a:spLocks noGrp="1"/>
          </p:cNvSpPr>
          <p:nvPr>
            <p:ph type="title" idx="18"/>
          </p:nvPr>
        </p:nvSpPr>
        <p:spPr>
          <a:xfrm>
            <a:off x="4160696" y="328665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05</a:t>
            </a:r>
            <a:endParaRPr>
              <a:solidFill>
                <a:schemeClr val="tx1">
                  <a:lumMod val="75000"/>
                </a:schemeClr>
              </a:solidFill>
            </a:endParaRPr>
          </a:p>
        </p:txBody>
      </p:sp>
      <p:pic>
        <p:nvPicPr>
          <p:cNvPr id="2" name="Picture 1">
            <a:extLst>
              <a:ext uri="{FF2B5EF4-FFF2-40B4-BE49-F238E27FC236}">
                <a16:creationId xmlns:a16="http://schemas.microsoft.com/office/drawing/2014/main" id="{63D641F1-2A65-8193-0986-579864C6EAC9}"/>
              </a:ext>
            </a:extLst>
          </p:cNvPr>
          <p:cNvPicPr>
            <a:picLocks noChangeAspect="1"/>
          </p:cNvPicPr>
          <p:nvPr/>
        </p:nvPicPr>
        <p:blipFill>
          <a:blip r:embed="rId8"/>
          <a:stretch>
            <a:fillRect/>
          </a:stretch>
        </p:blipFill>
        <p:spPr>
          <a:xfrm>
            <a:off x="76147" y="4270931"/>
            <a:ext cx="762106" cy="800212"/>
          </a:xfrm>
          <a:prstGeom prst="rect">
            <a:avLst/>
          </a:prstGeom>
        </p:spPr>
      </p:pic>
      <p:cxnSp>
        <p:nvCxnSpPr>
          <p:cNvPr id="3" name="Straight Connector 2">
            <a:extLst>
              <a:ext uri="{FF2B5EF4-FFF2-40B4-BE49-F238E27FC236}">
                <a16:creationId xmlns:a16="http://schemas.microsoft.com/office/drawing/2014/main" id="{B1907B89-01A2-AAF3-EC50-8948B5BFC773}"/>
              </a:ext>
            </a:extLst>
          </p:cNvPr>
          <p:cNvCxnSpPr>
            <a:cxnSpLocks/>
          </p:cNvCxnSpPr>
          <p:nvPr/>
        </p:nvCxnSpPr>
        <p:spPr>
          <a:xfrm>
            <a:off x="773131" y="3286657"/>
            <a:ext cx="850078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6" descr="Dollar Tree - Discover Brookfield">
            <a:extLst>
              <a:ext uri="{FF2B5EF4-FFF2-40B4-BE49-F238E27FC236}">
                <a16:creationId xmlns:a16="http://schemas.microsoft.com/office/drawing/2014/main" id="{B762462F-8775-D218-079D-67C7E1E82F1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80;p52">
            <a:extLst>
              <a:ext uri="{FF2B5EF4-FFF2-40B4-BE49-F238E27FC236}">
                <a16:creationId xmlns:a16="http://schemas.microsoft.com/office/drawing/2014/main" id="{C870A4F1-9809-183C-ACE5-E10D5F313C49}"/>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1690380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8">
          <a:extLst>
            <a:ext uri="{FF2B5EF4-FFF2-40B4-BE49-F238E27FC236}">
              <a16:creationId xmlns:a16="http://schemas.microsoft.com/office/drawing/2014/main" id="{0A9C9E0F-ABD1-08CE-57D5-69B5ED463C7F}"/>
            </a:ext>
          </a:extLst>
        </p:cNvPr>
        <p:cNvGrpSpPr/>
        <p:nvPr/>
      </p:nvGrpSpPr>
      <p:grpSpPr>
        <a:xfrm>
          <a:off x="0" y="0"/>
          <a:ext cx="0" cy="0"/>
          <a:chOff x="0" y="0"/>
          <a:chExt cx="0" cy="0"/>
        </a:xfrm>
      </p:grpSpPr>
      <p:sp>
        <p:nvSpPr>
          <p:cNvPr id="591" name="Google Shape;591;p65">
            <a:extLst>
              <a:ext uri="{FF2B5EF4-FFF2-40B4-BE49-F238E27FC236}">
                <a16:creationId xmlns:a16="http://schemas.microsoft.com/office/drawing/2014/main" id="{731DCD82-2103-40E7-7F31-872445549E16}"/>
              </a:ext>
            </a:extLst>
          </p:cNvPr>
          <p:cNvSpPr txBox="1">
            <a:spLocks noGrp="1"/>
          </p:cNvSpPr>
          <p:nvPr>
            <p:ph type="ctrTitle"/>
          </p:nvPr>
        </p:nvSpPr>
        <p:spPr>
          <a:xfrm>
            <a:off x="211670" y="269402"/>
            <a:ext cx="4439843" cy="424129"/>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rgbClr val="0FAA4B"/>
                </a:solidFill>
              </a:rPr>
              <a:t>Risks and Mitigants </a:t>
            </a:r>
            <a:endParaRPr sz="2400">
              <a:solidFill>
                <a:srgbClr val="0FAA4B"/>
              </a:solidFill>
            </a:endParaRPr>
          </a:p>
        </p:txBody>
      </p:sp>
      <p:sp>
        <p:nvSpPr>
          <p:cNvPr id="611" name="Google Shape;611;p65">
            <a:extLst>
              <a:ext uri="{FF2B5EF4-FFF2-40B4-BE49-F238E27FC236}">
                <a16:creationId xmlns:a16="http://schemas.microsoft.com/office/drawing/2014/main" id="{694912D4-4AAA-A5F1-E036-8D128032516A}"/>
              </a:ext>
            </a:extLst>
          </p:cNvPr>
          <p:cNvSpPr txBox="1"/>
          <p:nvPr/>
        </p:nvSpPr>
        <p:spPr>
          <a:xfrm>
            <a:off x="1601800" y="3824800"/>
            <a:ext cx="697800" cy="212700"/>
          </a:xfrm>
          <a:prstGeom prst="rect">
            <a:avLst/>
          </a:prstGeom>
          <a:noFill/>
          <a:ln>
            <a:noFill/>
          </a:ln>
        </p:spPr>
        <p:txBody>
          <a:bodyPr spcFirstLastPara="1" wrap="square" lIns="0" tIns="6350" rIns="0" bIns="0" anchor="b"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rPr>
              <a:t>40%</a:t>
            </a:r>
            <a:endParaRPr kumimoji="0" sz="1800" b="0" i="0" u="none" strike="noStrike" kern="0" cap="none" spc="0" normalizeH="0" baseline="0" noProof="0">
              <a:ln>
                <a:noFill/>
              </a:ln>
              <a:solidFill>
                <a:srgbClr val="F3F3F3"/>
              </a:solidFill>
              <a:effectLst/>
              <a:uLnTx/>
              <a:uFillTx/>
              <a:latin typeface="DM Serif Display"/>
              <a:ea typeface="DM Serif Display"/>
              <a:cs typeface="DM Serif Display"/>
              <a:sym typeface="DM Serif Display"/>
            </a:endParaRPr>
          </a:p>
        </p:txBody>
      </p:sp>
      <p:sp>
        <p:nvSpPr>
          <p:cNvPr id="5" name="TextBox 4">
            <a:extLst>
              <a:ext uri="{FF2B5EF4-FFF2-40B4-BE49-F238E27FC236}">
                <a16:creationId xmlns:a16="http://schemas.microsoft.com/office/drawing/2014/main" id="{B52F60AE-11D4-DCD5-B9A5-EBC29B881A38}"/>
              </a:ext>
            </a:extLst>
          </p:cNvPr>
          <p:cNvSpPr txBox="1"/>
          <p:nvPr/>
        </p:nvSpPr>
        <p:spPr>
          <a:xfrm>
            <a:off x="2820421" y="1494867"/>
            <a:ext cx="3604233" cy="892552"/>
          </a:xfrm>
          <a:prstGeom prst="rect">
            <a:avLst/>
          </a:prstGeom>
          <a:noFill/>
          <a:ln>
            <a:solidFill>
              <a:schemeClr val="bg1">
                <a:lumMod val="50000"/>
              </a:schemeClr>
            </a:solidFill>
          </a:ln>
        </p:spPr>
        <p:txBody>
          <a:bodyPr wrap="square" rtlCol="0">
            <a:spAutoFit/>
          </a:bodyPr>
          <a:lstStyle/>
          <a:p>
            <a:pPr algn="l"/>
            <a:r>
              <a:rPr lang="en-US" sz="1300" i="0" u="none" strike="noStrike" dirty="0">
                <a:solidFill>
                  <a:schemeClr val="bg1"/>
                </a:solidFill>
                <a:effectLst/>
                <a:latin typeface="DM Serif Display" pitchFamily="2" charset="0"/>
                <a:cs typeface="Arial" panose="020B0604020202020204" pitchFamily="34" charset="0"/>
              </a:rPr>
              <a:t>Mitigant: Enhance retention with better pay and training, automate tasks to cut costs, and use analytics to prevent supply chain disruptions.</a:t>
            </a:r>
          </a:p>
        </p:txBody>
      </p:sp>
      <p:sp>
        <p:nvSpPr>
          <p:cNvPr id="9" name="TextBox 8">
            <a:extLst>
              <a:ext uri="{FF2B5EF4-FFF2-40B4-BE49-F238E27FC236}">
                <a16:creationId xmlns:a16="http://schemas.microsoft.com/office/drawing/2014/main" id="{E9A0FCAD-173D-3411-77FA-91443C5A4DF9}"/>
              </a:ext>
            </a:extLst>
          </p:cNvPr>
          <p:cNvSpPr txBox="1"/>
          <p:nvPr/>
        </p:nvSpPr>
        <p:spPr>
          <a:xfrm>
            <a:off x="2633007" y="1063980"/>
            <a:ext cx="3877985" cy="553998"/>
          </a:xfrm>
          <a:prstGeom prst="rect">
            <a:avLst/>
          </a:prstGeom>
          <a:noFill/>
        </p:spPr>
        <p:txBody>
          <a:bodyPr wrap="none" rtlCol="0">
            <a:spAutoFit/>
          </a:bodyPr>
          <a:lstStyle/>
          <a:p>
            <a:r>
              <a:rPr lang="en-US" sz="1600" b="1" i="0" u="none" strike="noStrike" dirty="0">
                <a:solidFill>
                  <a:schemeClr val="bg1"/>
                </a:solidFill>
                <a:effectLst/>
                <a:latin typeface="Open Sans Light" panose="020B0306030504020204" pitchFamily="34" charset="0"/>
                <a:ea typeface="Open Sans Light" panose="020B0306030504020204" pitchFamily="34" charset="0"/>
                <a:cs typeface="Open Sans Light" panose="020B0306030504020204" pitchFamily="34" charset="0"/>
              </a:rPr>
              <a:t>Workforce and Operational Challenges</a:t>
            </a:r>
          </a:p>
          <a:p>
            <a:endParaRPr lang="en-US" b="1"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2" name="TextBox 11">
            <a:extLst>
              <a:ext uri="{FF2B5EF4-FFF2-40B4-BE49-F238E27FC236}">
                <a16:creationId xmlns:a16="http://schemas.microsoft.com/office/drawing/2014/main" id="{2B4F5432-E443-9DF9-CF9B-DC64CFD6F22D}"/>
              </a:ext>
            </a:extLst>
          </p:cNvPr>
          <p:cNvSpPr txBox="1"/>
          <p:nvPr/>
        </p:nvSpPr>
        <p:spPr>
          <a:xfrm>
            <a:off x="4220781" y="2892175"/>
            <a:ext cx="702436" cy="307777"/>
          </a:xfrm>
          <a:prstGeom prst="rect">
            <a:avLst/>
          </a:prstGeom>
          <a:noFill/>
        </p:spPr>
        <p:txBody>
          <a:bodyPr wrap="none" rtlCol="0">
            <a:spAutoFit/>
          </a:bodyPr>
          <a:lstStyle/>
          <a:p>
            <a:r>
              <a:rPr lang="en-US" b="1"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Tariffs</a:t>
            </a:r>
          </a:p>
        </p:txBody>
      </p:sp>
      <p:sp>
        <p:nvSpPr>
          <p:cNvPr id="13" name="TextBox 12">
            <a:extLst>
              <a:ext uri="{FF2B5EF4-FFF2-40B4-BE49-F238E27FC236}">
                <a16:creationId xmlns:a16="http://schemas.microsoft.com/office/drawing/2014/main" id="{ABFF6BB7-9DE5-6EFD-445F-3DED4DEBBB9B}"/>
              </a:ext>
            </a:extLst>
          </p:cNvPr>
          <p:cNvSpPr txBox="1"/>
          <p:nvPr/>
        </p:nvSpPr>
        <p:spPr>
          <a:xfrm>
            <a:off x="2820421" y="3189837"/>
            <a:ext cx="3772412" cy="1107996"/>
          </a:xfrm>
          <a:prstGeom prst="rect">
            <a:avLst/>
          </a:prstGeom>
          <a:noFill/>
          <a:ln>
            <a:solidFill>
              <a:schemeClr val="tx1">
                <a:lumMod val="10000"/>
              </a:schemeClr>
            </a:solidFill>
          </a:ln>
        </p:spPr>
        <p:txBody>
          <a:bodyPr wrap="square" rtlCol="0">
            <a:spAutoFit/>
          </a:bodyPr>
          <a:lstStyle/>
          <a:p>
            <a:r>
              <a:rPr lang="en-US" dirty="0">
                <a:solidFill>
                  <a:schemeClr val="bg1"/>
                </a:solidFill>
                <a:latin typeface="DM Serif Display" pitchFamily="2" charset="0"/>
              </a:rPr>
              <a:t>Mitigant: </a:t>
            </a:r>
            <a:r>
              <a:rPr lang="en-US" sz="1300" i="0" u="none" strike="noStrike" dirty="0">
                <a:solidFill>
                  <a:schemeClr val="bg1"/>
                </a:solidFill>
                <a:effectLst/>
                <a:latin typeface="DM Serif Display" pitchFamily="2" charset="0"/>
              </a:rPr>
              <a:t>Dollar Tree can mitigate tariff risks by diversifying suppliers and expanding private products to protect margins. CEO and CFO changes underscore a renewed focus on cost stabilization and strategic adaptation.</a:t>
            </a:r>
            <a:endParaRPr lang="en-US" sz="1300" dirty="0">
              <a:solidFill>
                <a:schemeClr val="bg1"/>
              </a:solidFill>
              <a:latin typeface="DM Serif Display" pitchFamily="2" charset="0"/>
            </a:endParaRPr>
          </a:p>
        </p:txBody>
      </p:sp>
      <p:pic>
        <p:nvPicPr>
          <p:cNvPr id="14" name="Picture 13">
            <a:extLst>
              <a:ext uri="{FF2B5EF4-FFF2-40B4-BE49-F238E27FC236}">
                <a16:creationId xmlns:a16="http://schemas.microsoft.com/office/drawing/2014/main" id="{113C6ACF-B825-0A77-199B-03BE4C2084FE}"/>
              </a:ext>
            </a:extLst>
          </p:cNvPr>
          <p:cNvPicPr>
            <a:picLocks noChangeAspect="1"/>
          </p:cNvPicPr>
          <p:nvPr/>
        </p:nvPicPr>
        <p:blipFill>
          <a:blip r:embed="rId3"/>
          <a:stretch>
            <a:fillRect/>
          </a:stretch>
        </p:blipFill>
        <p:spPr>
          <a:xfrm>
            <a:off x="996840" y="1243372"/>
            <a:ext cx="1549829" cy="1395543"/>
          </a:xfrm>
          <a:prstGeom prst="rect">
            <a:avLst/>
          </a:prstGeom>
        </p:spPr>
      </p:pic>
      <p:pic>
        <p:nvPicPr>
          <p:cNvPr id="15" name="Picture 14">
            <a:extLst>
              <a:ext uri="{FF2B5EF4-FFF2-40B4-BE49-F238E27FC236}">
                <a16:creationId xmlns:a16="http://schemas.microsoft.com/office/drawing/2014/main" id="{FF766100-3FEF-A711-C689-BD1CA65C3DD4}"/>
              </a:ext>
            </a:extLst>
          </p:cNvPr>
          <p:cNvPicPr>
            <a:picLocks noChangeAspect="1"/>
          </p:cNvPicPr>
          <p:nvPr/>
        </p:nvPicPr>
        <p:blipFill>
          <a:blip r:embed="rId4"/>
          <a:stretch>
            <a:fillRect/>
          </a:stretch>
        </p:blipFill>
        <p:spPr>
          <a:xfrm>
            <a:off x="991737" y="3046064"/>
            <a:ext cx="1554932" cy="1395543"/>
          </a:xfrm>
          <a:prstGeom prst="rect">
            <a:avLst/>
          </a:prstGeom>
        </p:spPr>
      </p:pic>
      <p:pic>
        <p:nvPicPr>
          <p:cNvPr id="10" name="Picture 6" descr="Dollar Tree - Discover Brookfield">
            <a:extLst>
              <a:ext uri="{FF2B5EF4-FFF2-40B4-BE49-F238E27FC236}">
                <a16:creationId xmlns:a16="http://schemas.microsoft.com/office/drawing/2014/main" id="{08DB37F0-993F-6CBD-DA0F-24DB7872648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280;p52">
            <a:extLst>
              <a:ext uri="{FF2B5EF4-FFF2-40B4-BE49-F238E27FC236}">
                <a16:creationId xmlns:a16="http://schemas.microsoft.com/office/drawing/2014/main" id="{3F2967F2-7430-23C8-4C94-F063B4620BD6}"/>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520402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8">
          <a:extLst>
            <a:ext uri="{FF2B5EF4-FFF2-40B4-BE49-F238E27FC236}">
              <a16:creationId xmlns:a16="http://schemas.microsoft.com/office/drawing/2014/main" id="{32C6BE78-E521-2D9F-B6F9-D8C8A391F47E}"/>
            </a:ext>
          </a:extLst>
        </p:cNvPr>
        <p:cNvGrpSpPr/>
        <p:nvPr/>
      </p:nvGrpSpPr>
      <p:grpSpPr>
        <a:xfrm>
          <a:off x="0" y="0"/>
          <a:ext cx="0" cy="0"/>
          <a:chOff x="0" y="0"/>
          <a:chExt cx="0" cy="0"/>
        </a:xfrm>
      </p:grpSpPr>
      <p:sp>
        <p:nvSpPr>
          <p:cNvPr id="591" name="Google Shape;591;p65">
            <a:extLst>
              <a:ext uri="{FF2B5EF4-FFF2-40B4-BE49-F238E27FC236}">
                <a16:creationId xmlns:a16="http://schemas.microsoft.com/office/drawing/2014/main" id="{AB085032-784E-0A00-A41B-E49B83151A61}"/>
              </a:ext>
            </a:extLst>
          </p:cNvPr>
          <p:cNvSpPr txBox="1">
            <a:spLocks noGrp="1"/>
          </p:cNvSpPr>
          <p:nvPr>
            <p:ph type="ctrTitle"/>
          </p:nvPr>
        </p:nvSpPr>
        <p:spPr>
          <a:xfrm>
            <a:off x="211671" y="269402"/>
            <a:ext cx="2650800" cy="424129"/>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rgbClr val="0FAA4B"/>
                </a:solidFill>
              </a:rPr>
              <a:t>Recommendation </a:t>
            </a:r>
            <a:endParaRPr sz="2400" dirty="0">
              <a:solidFill>
                <a:srgbClr val="0FAA4B"/>
              </a:solidFill>
            </a:endParaRPr>
          </a:p>
        </p:txBody>
      </p:sp>
      <p:sp>
        <p:nvSpPr>
          <p:cNvPr id="7" name="Oval 6">
            <a:extLst>
              <a:ext uri="{FF2B5EF4-FFF2-40B4-BE49-F238E27FC236}">
                <a16:creationId xmlns:a16="http://schemas.microsoft.com/office/drawing/2014/main" id="{4F871C2B-5104-F678-B820-D113F7E725AE}"/>
              </a:ext>
            </a:extLst>
          </p:cNvPr>
          <p:cNvSpPr/>
          <p:nvPr/>
        </p:nvSpPr>
        <p:spPr>
          <a:xfrm>
            <a:off x="819554" y="2001001"/>
            <a:ext cx="1952017" cy="191376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10000"/>
                  </a:schemeClr>
                </a:solidFill>
              </a:rPr>
              <a:t>Rapid Expansion &amp; Growth</a:t>
            </a:r>
            <a:endParaRPr lang="en-US" b="1" dirty="0"/>
          </a:p>
        </p:txBody>
      </p:sp>
      <p:sp>
        <p:nvSpPr>
          <p:cNvPr id="9" name="Oval 8">
            <a:extLst>
              <a:ext uri="{FF2B5EF4-FFF2-40B4-BE49-F238E27FC236}">
                <a16:creationId xmlns:a16="http://schemas.microsoft.com/office/drawing/2014/main" id="{E9C45E65-71DF-FFF3-D578-0767E49DC8FE}"/>
              </a:ext>
            </a:extLst>
          </p:cNvPr>
          <p:cNvSpPr/>
          <p:nvPr/>
        </p:nvSpPr>
        <p:spPr>
          <a:xfrm>
            <a:off x="3610892" y="1044118"/>
            <a:ext cx="2081241" cy="1913763"/>
          </a:xfrm>
          <a:prstGeom prst="ellipse">
            <a:avLst/>
          </a:prstGeom>
          <a:solidFill>
            <a:srgbClr val="0FAA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10000"/>
                  </a:schemeClr>
                </a:solidFill>
              </a:rPr>
              <a:t>Digital Innovation and Omni-Channel Capabilities</a:t>
            </a:r>
            <a:endParaRPr lang="en-US" b="1" dirty="0"/>
          </a:p>
        </p:txBody>
      </p:sp>
      <p:sp>
        <p:nvSpPr>
          <p:cNvPr id="12" name="Oval 11">
            <a:extLst>
              <a:ext uri="{FF2B5EF4-FFF2-40B4-BE49-F238E27FC236}">
                <a16:creationId xmlns:a16="http://schemas.microsoft.com/office/drawing/2014/main" id="{B3FB29E5-8D2D-09EC-053F-9A872D5D8440}"/>
              </a:ext>
            </a:extLst>
          </p:cNvPr>
          <p:cNvSpPr/>
          <p:nvPr/>
        </p:nvSpPr>
        <p:spPr>
          <a:xfrm>
            <a:off x="6531455" y="2001000"/>
            <a:ext cx="1952017" cy="1913763"/>
          </a:xfrm>
          <a:prstGeom prst="ellipse">
            <a:avLst/>
          </a:prstGeom>
          <a:solidFill>
            <a:srgbClr val="0FAA4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10000"/>
                  </a:schemeClr>
                </a:solidFill>
              </a:rPr>
              <a:t>Leadership Changes</a:t>
            </a:r>
            <a:endParaRPr lang="en-US" b="1" dirty="0"/>
          </a:p>
        </p:txBody>
      </p:sp>
      <p:pic>
        <p:nvPicPr>
          <p:cNvPr id="5" name="Picture 6" descr="Dollar Tree - Discover Brookfield">
            <a:extLst>
              <a:ext uri="{FF2B5EF4-FFF2-40B4-BE49-F238E27FC236}">
                <a16:creationId xmlns:a16="http://schemas.microsoft.com/office/drawing/2014/main" id="{3163C33B-3AE0-DCD2-A313-C2393EF427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280;p52">
            <a:extLst>
              <a:ext uri="{FF2B5EF4-FFF2-40B4-BE49-F238E27FC236}">
                <a16:creationId xmlns:a16="http://schemas.microsoft.com/office/drawing/2014/main" id="{C23DD61D-DD12-BF92-4618-FF827380489F}"/>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340856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2"/>
          <p:cNvSpPr/>
          <p:nvPr/>
        </p:nvSpPr>
        <p:spPr>
          <a:xfrm>
            <a:off x="1578888" y="1536078"/>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79" name="Google Shape;279;p52"/>
          <p:cNvSpPr/>
          <p:nvPr/>
        </p:nvSpPr>
        <p:spPr>
          <a:xfrm>
            <a:off x="-99062" y="3110610"/>
            <a:ext cx="7618500" cy="486900"/>
          </a:xfrm>
          <a:prstGeom prst="rect">
            <a:avLst/>
          </a:prstGeom>
          <a:noFill/>
          <a:ln w="9525" cap="flat" cmpd="sng">
            <a:solidFill>
              <a:srgbClr val="1687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FAA4B"/>
              </a:solidFill>
              <a:effectLst/>
              <a:uLnTx/>
              <a:uFillTx/>
              <a:latin typeface="Arial"/>
              <a:cs typeface="Arial"/>
              <a:sym typeface="Arial"/>
            </a:endParaRPr>
          </a:p>
        </p:txBody>
      </p:sp>
      <p:sp>
        <p:nvSpPr>
          <p:cNvPr id="298" name="Google Shape;298;p52"/>
          <p:cNvSpPr txBox="1">
            <a:spLocks noGrp="1"/>
          </p:cNvSpPr>
          <p:nvPr>
            <p:ph type="ctrTitle"/>
          </p:nvPr>
        </p:nvSpPr>
        <p:spPr>
          <a:xfrm>
            <a:off x="567069" y="472463"/>
            <a:ext cx="2806995"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Table of Contents</a:t>
            </a:r>
            <a:endParaRPr sz="2400">
              <a:solidFill>
                <a:srgbClr val="0FAA4B"/>
              </a:solidFill>
            </a:endParaRPr>
          </a:p>
        </p:txBody>
      </p:sp>
      <p:sp>
        <p:nvSpPr>
          <p:cNvPr id="280" name="Google Shape;280;p52"/>
          <p:cNvSpPr txBox="1">
            <a:spLocks noGrp="1"/>
          </p:cNvSpPr>
          <p:nvPr>
            <p:ph type="ctrTitle" idx="2"/>
          </p:nvPr>
        </p:nvSpPr>
        <p:spPr>
          <a:xfrm>
            <a:off x="2488748" y="2202425"/>
            <a:ext cx="1550744"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600">
                <a:solidFill>
                  <a:schemeClr val="tx1">
                    <a:lumMod val="75000"/>
                  </a:schemeClr>
                </a:solidFill>
              </a:rPr>
              <a:t>Business</a:t>
            </a:r>
            <a:r>
              <a:rPr lang="en" sz="1600"/>
              <a:t> </a:t>
            </a:r>
            <a:r>
              <a:rPr lang="en" sz="1600">
                <a:solidFill>
                  <a:schemeClr val="tx1">
                    <a:lumMod val="75000"/>
                  </a:schemeClr>
                </a:solidFill>
              </a:rPr>
              <a:t>overview</a:t>
            </a:r>
            <a:endParaRPr sz="1600">
              <a:solidFill>
                <a:schemeClr val="tx1">
                  <a:lumMod val="75000"/>
                </a:schemeClr>
              </a:solidFill>
            </a:endParaRPr>
          </a:p>
        </p:txBody>
      </p:sp>
      <p:sp>
        <p:nvSpPr>
          <p:cNvPr id="282" name="Google Shape;282;p52">
            <a:hlinkClick r:id="rId3" action="ppaction://hlinksldjump"/>
          </p:cNvPr>
          <p:cNvSpPr txBox="1">
            <a:spLocks noGrp="1"/>
          </p:cNvSpPr>
          <p:nvPr>
            <p:ph type="title" idx="3"/>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01</a:t>
            </a:r>
            <a:endParaRPr>
              <a:solidFill>
                <a:schemeClr val="tx1">
                  <a:lumMod val="75000"/>
                </a:schemeClr>
              </a:solidFill>
            </a:endParaRPr>
          </a:p>
        </p:txBody>
      </p:sp>
      <p:sp>
        <p:nvSpPr>
          <p:cNvPr id="283" name="Google Shape;283;p52"/>
          <p:cNvSpPr txBox="1">
            <a:spLocks noGrp="1"/>
          </p:cNvSpPr>
          <p:nvPr>
            <p:ph type="ctrTitle" idx="4"/>
          </p:nvPr>
        </p:nvSpPr>
        <p:spPr>
          <a:xfrm>
            <a:off x="4624412" y="2199025"/>
            <a:ext cx="1593175"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Competitive Analysis </a:t>
            </a:r>
            <a:endParaRPr lang="en-US" sz="1600">
              <a:solidFill>
                <a:schemeClr val="tx1">
                  <a:lumMod val="75000"/>
                </a:schemeClr>
              </a:solidFill>
            </a:endParaRPr>
          </a:p>
        </p:txBody>
      </p:sp>
      <p:sp>
        <p:nvSpPr>
          <p:cNvPr id="285" name="Google Shape;285;p52">
            <a:hlinkClick r:id="rId4" action="ppaction://hlinksldjump"/>
          </p:cNvPr>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02</a:t>
            </a:r>
            <a:endParaRPr>
              <a:solidFill>
                <a:schemeClr val="tx1">
                  <a:lumMod val="75000"/>
                </a:schemeClr>
              </a:solidFill>
            </a:endParaRPr>
          </a:p>
        </p:txBody>
      </p:sp>
      <p:sp>
        <p:nvSpPr>
          <p:cNvPr id="286" name="Google Shape;286;p52"/>
          <p:cNvSpPr txBox="1">
            <a:spLocks noGrp="1"/>
          </p:cNvSpPr>
          <p:nvPr>
            <p:ph type="ctrTitle" idx="7"/>
          </p:nvPr>
        </p:nvSpPr>
        <p:spPr>
          <a:xfrm>
            <a:off x="6504170" y="2199050"/>
            <a:ext cx="1914970" cy="3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Conclusion</a:t>
            </a:r>
            <a:endParaRPr lang="en-US" sz="1600">
              <a:solidFill>
                <a:schemeClr val="tx1">
                  <a:lumMod val="75000"/>
                </a:schemeClr>
              </a:solidFill>
            </a:endParaRPr>
          </a:p>
        </p:txBody>
      </p:sp>
      <p:sp>
        <p:nvSpPr>
          <p:cNvPr id="288" name="Google Shape;288;p52">
            <a:hlinkClick r:id="rId5" action="ppaction://hlinksldjump"/>
          </p:cNvPr>
          <p:cNvSpPr txBox="1">
            <a:spLocks noGrp="1"/>
          </p:cNvSpPr>
          <p:nvPr>
            <p:ph type="title" idx="9"/>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tx1">
                    <a:lumMod val="75000"/>
                  </a:schemeClr>
                </a:solidFill>
              </a:rPr>
              <a:t>03</a:t>
            </a:r>
            <a:endParaRPr>
              <a:solidFill>
                <a:schemeClr val="tx1">
                  <a:lumMod val="75000"/>
                </a:schemeClr>
              </a:solidFill>
            </a:endParaRPr>
          </a:p>
        </p:txBody>
      </p:sp>
      <p:sp>
        <p:nvSpPr>
          <p:cNvPr id="289" name="Google Shape;289;p52"/>
          <p:cNvSpPr txBox="1">
            <a:spLocks noGrp="1"/>
          </p:cNvSpPr>
          <p:nvPr>
            <p:ph type="ctrTitle" idx="13"/>
          </p:nvPr>
        </p:nvSpPr>
        <p:spPr>
          <a:xfrm>
            <a:off x="1817078" y="3688700"/>
            <a:ext cx="1779728"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b="1">
                <a:solidFill>
                  <a:schemeClr val="tx1">
                    <a:lumMod val="75000"/>
                  </a:schemeClr>
                </a:solidFill>
                <a:effectLst/>
                <a:latin typeface="Times New Roman" panose="02020603050405020304" pitchFamily="18" charset="0"/>
                <a:ea typeface="Trebuchet MS" panose="020B0603020202020204" pitchFamily="34" charset="0"/>
              </a:rPr>
              <a:t>Recommendation</a:t>
            </a:r>
            <a:endParaRPr lang="en-US" sz="1600">
              <a:solidFill>
                <a:schemeClr val="tx1">
                  <a:lumMod val="75000"/>
                </a:schemeClr>
              </a:solidFill>
            </a:endParaRPr>
          </a:p>
        </p:txBody>
      </p:sp>
      <p:sp>
        <p:nvSpPr>
          <p:cNvPr id="291" name="Google Shape;291;p52">
            <a:hlinkClick r:id="rId6" action="ppaction://hlinksldjump"/>
          </p:cNvPr>
          <p:cNvSpPr txBox="1">
            <a:spLocks noGrp="1"/>
          </p:cNvSpPr>
          <p:nvPr>
            <p:ph type="title" idx="15"/>
          </p:nvPr>
        </p:nvSpPr>
        <p:spPr>
          <a:xfrm>
            <a:off x="1843006" y="325574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tx1">
                    <a:lumMod val="75000"/>
                  </a:schemeClr>
                </a:solidFill>
              </a:rPr>
              <a:t>04</a:t>
            </a:r>
            <a:endParaRPr>
              <a:solidFill>
                <a:schemeClr val="tx1">
                  <a:lumMod val="75000"/>
                </a:schemeClr>
              </a:solidFill>
            </a:endParaRPr>
          </a:p>
        </p:txBody>
      </p:sp>
      <p:sp>
        <p:nvSpPr>
          <p:cNvPr id="292" name="Google Shape;292;p52"/>
          <p:cNvSpPr txBox="1">
            <a:spLocks noGrp="1"/>
          </p:cNvSpPr>
          <p:nvPr>
            <p:ph type="ctrTitle" idx="16"/>
          </p:nvPr>
        </p:nvSpPr>
        <p:spPr>
          <a:xfrm>
            <a:off x="4173660" y="3829554"/>
            <a:ext cx="1140095" cy="4219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1600" b="1">
                <a:solidFill>
                  <a:schemeClr val="bg1"/>
                </a:solidFill>
                <a:effectLst/>
                <a:latin typeface="Times New Roman" panose="02020603050405020304" pitchFamily="18" charset="0"/>
                <a:ea typeface="Trebuchet MS" panose="020B0603020202020204" pitchFamily="34" charset="0"/>
              </a:rPr>
              <a:t>Appendix</a:t>
            </a:r>
            <a:r>
              <a:rPr lang="en-US" sz="1600">
                <a:solidFill>
                  <a:schemeClr val="bg1"/>
                </a:solidFill>
                <a:effectLst/>
                <a:latin typeface="Times New Roman" panose="02020603050405020304" pitchFamily="18" charset="0"/>
                <a:ea typeface="Trebuchet MS" panose="020B0603020202020204" pitchFamily="34" charset="0"/>
              </a:rPr>
              <a:t> </a:t>
            </a:r>
            <a:endParaRPr lang="en-US" sz="1600">
              <a:solidFill>
                <a:schemeClr val="bg1"/>
              </a:solidFill>
            </a:endParaRPr>
          </a:p>
        </p:txBody>
      </p:sp>
      <p:sp>
        <p:nvSpPr>
          <p:cNvPr id="294" name="Google Shape;294;p52">
            <a:hlinkClick r:id="rId7" action="ppaction://hlinksldjump"/>
          </p:cNvPr>
          <p:cNvSpPr txBox="1">
            <a:spLocks noGrp="1"/>
          </p:cNvSpPr>
          <p:nvPr>
            <p:ph type="title" idx="18"/>
          </p:nvPr>
        </p:nvSpPr>
        <p:spPr>
          <a:xfrm>
            <a:off x="4160696" y="3286657"/>
            <a:ext cx="17538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bg1"/>
                </a:solidFill>
              </a:rPr>
              <a:t>05</a:t>
            </a:r>
            <a:endParaRPr>
              <a:solidFill>
                <a:schemeClr val="bg1"/>
              </a:solidFill>
            </a:endParaRPr>
          </a:p>
        </p:txBody>
      </p:sp>
      <p:pic>
        <p:nvPicPr>
          <p:cNvPr id="3" name="Picture 2">
            <a:extLst>
              <a:ext uri="{FF2B5EF4-FFF2-40B4-BE49-F238E27FC236}">
                <a16:creationId xmlns:a16="http://schemas.microsoft.com/office/drawing/2014/main" id="{DFC77482-76F2-2AD9-AFC6-E1A42B418989}"/>
              </a:ext>
            </a:extLst>
          </p:cNvPr>
          <p:cNvPicPr>
            <a:picLocks noChangeAspect="1"/>
          </p:cNvPicPr>
          <p:nvPr/>
        </p:nvPicPr>
        <p:blipFill>
          <a:blip r:embed="rId8"/>
          <a:stretch>
            <a:fillRect/>
          </a:stretch>
        </p:blipFill>
        <p:spPr>
          <a:xfrm>
            <a:off x="76147" y="4270931"/>
            <a:ext cx="762106" cy="800212"/>
          </a:xfrm>
          <a:prstGeom prst="rect">
            <a:avLst/>
          </a:prstGeom>
        </p:spPr>
      </p:pic>
      <p:pic>
        <p:nvPicPr>
          <p:cNvPr id="8" name="Picture 6" descr="Dollar Tree - Discover Brookfield">
            <a:extLst>
              <a:ext uri="{FF2B5EF4-FFF2-40B4-BE49-F238E27FC236}">
                <a16:creationId xmlns:a16="http://schemas.microsoft.com/office/drawing/2014/main" id="{9AA2DA59-7AA0-B25F-F6E1-DB6BBBCCE12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80;p52">
            <a:extLst>
              <a:ext uri="{FF2B5EF4-FFF2-40B4-BE49-F238E27FC236}">
                <a16:creationId xmlns:a16="http://schemas.microsoft.com/office/drawing/2014/main" id="{2913399E-0B71-EF93-0BEE-C94AF10088EB}"/>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743855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2589594" y="75512"/>
            <a:ext cx="385051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A: Balance Sheet</a:t>
            </a:r>
            <a:endParaRPr sz="2400" dirty="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2" name="Picture 1" descr="A spreadsheet with numbers and a tree balance sheet&#10;&#10;Description automatically generated">
            <a:extLst>
              <a:ext uri="{FF2B5EF4-FFF2-40B4-BE49-F238E27FC236}">
                <a16:creationId xmlns:a16="http://schemas.microsoft.com/office/drawing/2014/main" id="{E7E367DD-F2A5-06CC-9A3A-369D9EBDC9BD}"/>
              </a:ext>
            </a:extLst>
          </p:cNvPr>
          <p:cNvPicPr>
            <a:picLocks noChangeAspect="1"/>
          </p:cNvPicPr>
          <p:nvPr/>
        </p:nvPicPr>
        <p:blipFill>
          <a:blip r:embed="rId3"/>
          <a:stretch>
            <a:fillRect/>
          </a:stretch>
        </p:blipFill>
        <p:spPr>
          <a:xfrm>
            <a:off x="1730354" y="707666"/>
            <a:ext cx="5780967" cy="4360322"/>
          </a:xfrm>
          <a:prstGeom prst="rect">
            <a:avLst/>
          </a:prstGeom>
        </p:spPr>
      </p:pic>
      <p:pic>
        <p:nvPicPr>
          <p:cNvPr id="20" name="Picture 6" descr="Dollar Tree - Discover Brookfield">
            <a:extLst>
              <a:ext uri="{FF2B5EF4-FFF2-40B4-BE49-F238E27FC236}">
                <a16:creationId xmlns:a16="http://schemas.microsoft.com/office/drawing/2014/main" id="{7967DC58-9BCE-150D-886A-B94BEAF816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280;p52">
            <a:extLst>
              <a:ext uri="{FF2B5EF4-FFF2-40B4-BE49-F238E27FC236}">
                <a16:creationId xmlns:a16="http://schemas.microsoft.com/office/drawing/2014/main" id="{12AB18F3-5239-0072-942A-F931BC44E2A7}"/>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147029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1982411" y="99028"/>
            <a:ext cx="5179178"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B: Income Statement</a:t>
            </a:r>
            <a:endParaRPr sz="2400" dirty="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6" name="Picture 5">
            <a:extLst>
              <a:ext uri="{FF2B5EF4-FFF2-40B4-BE49-F238E27FC236}">
                <a16:creationId xmlns:a16="http://schemas.microsoft.com/office/drawing/2014/main" id="{3B7E4567-C79D-9E12-04E1-E9FF974CDC3B}"/>
              </a:ext>
            </a:extLst>
          </p:cNvPr>
          <p:cNvPicPr>
            <a:picLocks noChangeAspect="1"/>
          </p:cNvPicPr>
          <p:nvPr/>
        </p:nvPicPr>
        <p:blipFill>
          <a:blip r:embed="rId3"/>
          <a:stretch>
            <a:fillRect/>
          </a:stretch>
        </p:blipFill>
        <p:spPr>
          <a:xfrm>
            <a:off x="0" y="740084"/>
            <a:ext cx="9144000" cy="3590848"/>
          </a:xfrm>
          <a:prstGeom prst="rect">
            <a:avLst/>
          </a:prstGeom>
        </p:spPr>
      </p:pic>
      <p:pic>
        <p:nvPicPr>
          <p:cNvPr id="8" name="Picture 6" descr="Dollar Tree - Discover Brookfield">
            <a:extLst>
              <a:ext uri="{FF2B5EF4-FFF2-40B4-BE49-F238E27FC236}">
                <a16:creationId xmlns:a16="http://schemas.microsoft.com/office/drawing/2014/main" id="{E537163C-8898-2B30-4D42-3DBBD6344A7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80;p52">
            <a:extLst>
              <a:ext uri="{FF2B5EF4-FFF2-40B4-BE49-F238E27FC236}">
                <a16:creationId xmlns:a16="http://schemas.microsoft.com/office/drawing/2014/main" id="{0FD16ECB-7D3F-B975-179C-A4019532E867}"/>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4033514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3312869" y="72949"/>
            <a:ext cx="2518261" cy="57311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C: DCF</a:t>
            </a:r>
            <a:endParaRPr sz="2400" dirty="0">
              <a:solidFill>
                <a:srgbClr val="0FAA4B"/>
              </a:solidFill>
            </a:endParaRPr>
          </a:p>
        </p:txBody>
      </p:sp>
      <p:pic>
        <p:nvPicPr>
          <p:cNvPr id="10" name="Picture 9" descr="A screenshot of a spreadsheet&#10;&#10;Description automatically generated">
            <a:extLst>
              <a:ext uri="{FF2B5EF4-FFF2-40B4-BE49-F238E27FC236}">
                <a16:creationId xmlns:a16="http://schemas.microsoft.com/office/drawing/2014/main" id="{CCC6FCBE-2E7F-A672-5E9C-ED227F5EB6C4}"/>
              </a:ext>
            </a:extLst>
          </p:cNvPr>
          <p:cNvPicPr>
            <a:picLocks noChangeAspect="1"/>
          </p:cNvPicPr>
          <p:nvPr/>
        </p:nvPicPr>
        <p:blipFill>
          <a:blip r:embed="rId3"/>
          <a:stretch>
            <a:fillRect/>
          </a:stretch>
        </p:blipFill>
        <p:spPr>
          <a:xfrm>
            <a:off x="1743022" y="709225"/>
            <a:ext cx="5657956" cy="4416985"/>
          </a:xfrm>
          <a:prstGeom prst="rect">
            <a:avLst/>
          </a:prstGeom>
        </p:spPr>
      </p:pic>
      <p:pic>
        <p:nvPicPr>
          <p:cNvPr id="9" name="Picture 6" descr="Dollar Tree - Discover Brookfield">
            <a:extLst>
              <a:ext uri="{FF2B5EF4-FFF2-40B4-BE49-F238E27FC236}">
                <a16:creationId xmlns:a16="http://schemas.microsoft.com/office/drawing/2014/main" id="{8A9B7D63-1017-4684-408F-F71C836C092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280;p52">
            <a:extLst>
              <a:ext uri="{FF2B5EF4-FFF2-40B4-BE49-F238E27FC236}">
                <a16:creationId xmlns:a16="http://schemas.microsoft.com/office/drawing/2014/main" id="{A9A6FBDF-4094-9934-7976-861561989F20}"/>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872811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1982410" y="44425"/>
            <a:ext cx="5179178"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C: DCF (continued)</a:t>
            </a:r>
            <a:endParaRPr sz="2400" dirty="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5" name="Picture 4" descr="A screenshot of a computer screen&#10;&#10;Description automatically generated">
            <a:extLst>
              <a:ext uri="{FF2B5EF4-FFF2-40B4-BE49-F238E27FC236}">
                <a16:creationId xmlns:a16="http://schemas.microsoft.com/office/drawing/2014/main" id="{C20DF98F-0151-63A7-D5A4-AEAB8911ED56}"/>
              </a:ext>
            </a:extLst>
          </p:cNvPr>
          <p:cNvPicPr>
            <a:picLocks noChangeAspect="1"/>
          </p:cNvPicPr>
          <p:nvPr/>
        </p:nvPicPr>
        <p:blipFill>
          <a:blip r:embed="rId3"/>
          <a:stretch>
            <a:fillRect/>
          </a:stretch>
        </p:blipFill>
        <p:spPr>
          <a:xfrm>
            <a:off x="1170292" y="601262"/>
            <a:ext cx="6803415" cy="4497813"/>
          </a:xfrm>
          <a:prstGeom prst="rect">
            <a:avLst/>
          </a:prstGeom>
        </p:spPr>
      </p:pic>
      <p:pic>
        <p:nvPicPr>
          <p:cNvPr id="6" name="Picture 6" descr="Dollar Tree - Discover Brookfield">
            <a:extLst>
              <a:ext uri="{FF2B5EF4-FFF2-40B4-BE49-F238E27FC236}">
                <a16:creationId xmlns:a16="http://schemas.microsoft.com/office/drawing/2014/main" id="{EFC22DD0-9127-38D3-5F38-9E23033BBC7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0;p52">
            <a:extLst>
              <a:ext uri="{FF2B5EF4-FFF2-40B4-BE49-F238E27FC236}">
                <a16:creationId xmlns:a16="http://schemas.microsoft.com/office/drawing/2014/main" id="{CD7D4BB1-3EE6-2AFF-51C1-F986C9D994D4}"/>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1296784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1982411" y="25677"/>
            <a:ext cx="5179178" cy="76794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D: Trading Comparable </a:t>
            </a:r>
            <a:endParaRPr sz="2400" dirty="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5" name="Picture 4" descr="A screenshot of a spreadsheet&#10;&#10;Description automatically generated">
            <a:extLst>
              <a:ext uri="{FF2B5EF4-FFF2-40B4-BE49-F238E27FC236}">
                <a16:creationId xmlns:a16="http://schemas.microsoft.com/office/drawing/2014/main" id="{4B048FF3-864B-C142-359D-5B205142005E}"/>
              </a:ext>
            </a:extLst>
          </p:cNvPr>
          <p:cNvPicPr>
            <a:picLocks noChangeAspect="1"/>
          </p:cNvPicPr>
          <p:nvPr/>
        </p:nvPicPr>
        <p:blipFill>
          <a:blip r:embed="rId3"/>
          <a:stretch>
            <a:fillRect/>
          </a:stretch>
        </p:blipFill>
        <p:spPr>
          <a:xfrm>
            <a:off x="1183839" y="614508"/>
            <a:ext cx="6776321" cy="4466456"/>
          </a:xfrm>
          <a:prstGeom prst="rect">
            <a:avLst/>
          </a:prstGeom>
        </p:spPr>
      </p:pic>
      <p:pic>
        <p:nvPicPr>
          <p:cNvPr id="6" name="Picture 6" descr="Dollar Tree - Discover Brookfield">
            <a:extLst>
              <a:ext uri="{FF2B5EF4-FFF2-40B4-BE49-F238E27FC236}">
                <a16:creationId xmlns:a16="http://schemas.microsoft.com/office/drawing/2014/main" id="{9201369C-6A06-B92C-D12C-3797DB70FF8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0;p52">
            <a:extLst>
              <a:ext uri="{FF2B5EF4-FFF2-40B4-BE49-F238E27FC236}">
                <a16:creationId xmlns:a16="http://schemas.microsoft.com/office/drawing/2014/main" id="{2DC43BC4-32CD-BFFA-5C7D-A633C49361EE}"/>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3255433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2219564" y="336349"/>
            <a:ext cx="4704869"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0FAA4B"/>
                </a:solidFill>
              </a:rPr>
              <a:t>Appendix E: Trading Comparable</a:t>
            </a:r>
            <a:endParaRPr sz="2400" dirty="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7" name="Picture 6">
            <a:extLst>
              <a:ext uri="{FF2B5EF4-FFF2-40B4-BE49-F238E27FC236}">
                <a16:creationId xmlns:a16="http://schemas.microsoft.com/office/drawing/2014/main" id="{5D3EEACA-CEA7-17AB-6674-57A66654FC1F}"/>
              </a:ext>
            </a:extLst>
          </p:cNvPr>
          <p:cNvPicPr>
            <a:picLocks noChangeAspect="1"/>
          </p:cNvPicPr>
          <p:nvPr/>
        </p:nvPicPr>
        <p:blipFill>
          <a:blip r:embed="rId3"/>
          <a:stretch>
            <a:fillRect/>
          </a:stretch>
        </p:blipFill>
        <p:spPr>
          <a:xfrm>
            <a:off x="53692" y="1419237"/>
            <a:ext cx="2907472" cy="2305023"/>
          </a:xfrm>
          <a:prstGeom prst="rect">
            <a:avLst/>
          </a:prstGeom>
        </p:spPr>
      </p:pic>
      <p:pic>
        <p:nvPicPr>
          <p:cNvPr id="8" name="Picture 7">
            <a:extLst>
              <a:ext uri="{FF2B5EF4-FFF2-40B4-BE49-F238E27FC236}">
                <a16:creationId xmlns:a16="http://schemas.microsoft.com/office/drawing/2014/main" id="{20136389-9D38-E71E-84A9-BB9E76B097B5}"/>
              </a:ext>
            </a:extLst>
          </p:cNvPr>
          <p:cNvPicPr>
            <a:picLocks noChangeAspect="1"/>
          </p:cNvPicPr>
          <p:nvPr/>
        </p:nvPicPr>
        <p:blipFill>
          <a:blip r:embed="rId4"/>
          <a:stretch>
            <a:fillRect/>
          </a:stretch>
        </p:blipFill>
        <p:spPr>
          <a:xfrm>
            <a:off x="3066542" y="1378232"/>
            <a:ext cx="3010915" cy="2387031"/>
          </a:xfrm>
          <a:prstGeom prst="rect">
            <a:avLst/>
          </a:prstGeom>
        </p:spPr>
      </p:pic>
      <p:pic>
        <p:nvPicPr>
          <p:cNvPr id="9" name="Picture 8">
            <a:extLst>
              <a:ext uri="{FF2B5EF4-FFF2-40B4-BE49-F238E27FC236}">
                <a16:creationId xmlns:a16="http://schemas.microsoft.com/office/drawing/2014/main" id="{3BAE75B9-EB8B-985A-70B6-0E01AA51B10C}"/>
              </a:ext>
            </a:extLst>
          </p:cNvPr>
          <p:cNvPicPr>
            <a:picLocks noChangeAspect="1"/>
          </p:cNvPicPr>
          <p:nvPr/>
        </p:nvPicPr>
        <p:blipFill>
          <a:blip r:embed="rId5"/>
          <a:stretch>
            <a:fillRect/>
          </a:stretch>
        </p:blipFill>
        <p:spPr>
          <a:xfrm>
            <a:off x="6180626" y="1419235"/>
            <a:ext cx="2956487" cy="2305023"/>
          </a:xfrm>
          <a:prstGeom prst="rect">
            <a:avLst/>
          </a:prstGeom>
        </p:spPr>
      </p:pic>
      <p:pic>
        <p:nvPicPr>
          <p:cNvPr id="10" name="Picture 6" descr="Dollar Tree - Discover Brookfield">
            <a:extLst>
              <a:ext uri="{FF2B5EF4-FFF2-40B4-BE49-F238E27FC236}">
                <a16:creationId xmlns:a16="http://schemas.microsoft.com/office/drawing/2014/main" id="{44AC2F84-D5E8-8E0D-FCB9-89C41353757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280;p52">
            <a:extLst>
              <a:ext uri="{FF2B5EF4-FFF2-40B4-BE49-F238E27FC236}">
                <a16:creationId xmlns:a16="http://schemas.microsoft.com/office/drawing/2014/main" id="{E93BA06D-9E53-07B0-6DB0-376B3C0C7992}"/>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Tree>
    <p:extLst>
      <p:ext uri="{BB962C8B-B14F-4D97-AF65-F5344CB8AC3E}">
        <p14:creationId xmlns:p14="http://schemas.microsoft.com/office/powerpoint/2010/main" val="2251242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93" name="Google Shape;1493;p96"/>
          <p:cNvSpPr txBox="1">
            <a:spLocks noGrp="1"/>
          </p:cNvSpPr>
          <p:nvPr>
            <p:ph type="ctrTitle"/>
          </p:nvPr>
        </p:nvSpPr>
        <p:spPr>
          <a:xfrm>
            <a:off x="201086" y="128162"/>
            <a:ext cx="5179178"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FAA4B"/>
                </a:solidFill>
              </a:rPr>
              <a:t>Appendix I: Sources</a:t>
            </a:r>
            <a:endParaRPr sz="2400">
              <a:solidFill>
                <a:srgbClr val="0FAA4B"/>
              </a:solidFill>
            </a:endParaRPr>
          </a:p>
        </p:txBody>
      </p:sp>
      <p:sp>
        <p:nvSpPr>
          <p:cNvPr id="1507" name="Google Shape;1507;p96"/>
          <p:cNvSpPr txBox="1"/>
          <p:nvPr/>
        </p:nvSpPr>
        <p:spPr>
          <a:xfrm>
            <a:off x="3508209" y="2597804"/>
            <a:ext cx="2128500" cy="315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rPr>
              <a:t>Pluto is a dwarf planet</a:t>
            </a:r>
            <a:endParaRPr kumimoji="0" sz="1000" b="0" i="0" u="none" strike="noStrike" kern="0" cap="none" spc="0" normalizeH="0" baseline="0" noProof="0">
              <a:ln>
                <a:noFill/>
              </a:ln>
              <a:solidFill>
                <a:srgbClr val="F3F3F3"/>
              </a:solidFill>
              <a:effectLst/>
              <a:uLnTx/>
              <a:uFillTx/>
              <a:latin typeface="Open Sans Light"/>
              <a:ea typeface="Open Sans Light"/>
              <a:cs typeface="Open Sans Light"/>
              <a:sym typeface="Open Sans Light"/>
            </a:endParaRPr>
          </a:p>
        </p:txBody>
      </p:sp>
      <p:pic>
        <p:nvPicPr>
          <p:cNvPr id="5" name="Picture 6" descr="Dollar Tree - Discover Brookfield">
            <a:extLst>
              <a:ext uri="{FF2B5EF4-FFF2-40B4-BE49-F238E27FC236}">
                <a16:creationId xmlns:a16="http://schemas.microsoft.com/office/drawing/2014/main" id="{4866EE73-5C55-A856-8A28-2199C779F0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079" r="28261" b="28261"/>
          <a:stretch/>
        </p:blipFill>
        <p:spPr bwMode="auto">
          <a:xfrm>
            <a:off x="8483472" y="4498888"/>
            <a:ext cx="509230" cy="481693"/>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280;p52">
            <a:extLst>
              <a:ext uri="{FF2B5EF4-FFF2-40B4-BE49-F238E27FC236}">
                <a16:creationId xmlns:a16="http://schemas.microsoft.com/office/drawing/2014/main" id="{54D16243-691C-1DAD-4C9C-36846E6F972C}"/>
              </a:ext>
            </a:extLst>
          </p:cNvPr>
          <p:cNvSpPr txBox="1">
            <a:spLocks/>
          </p:cNvSpPr>
          <p:nvPr/>
        </p:nvSpPr>
        <p:spPr>
          <a:xfrm>
            <a:off x="8066401" y="5080964"/>
            <a:ext cx="1077599" cy="904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1"/>
              </a:buClr>
              <a:buSzPts val="1200"/>
              <a:buFont typeface="DM Serif Display"/>
              <a:buNone/>
              <a:defRPr sz="1200" b="0" i="0" u="none" strike="noStrike" cap="none">
                <a:solidFill>
                  <a:schemeClr val="lt1"/>
                </a:solidFill>
                <a:latin typeface="DM Serif Display"/>
                <a:ea typeface="DM Serif Display"/>
                <a:cs typeface="DM Serif Display"/>
                <a:sym typeface="DM Serif Display"/>
              </a:defRPr>
            </a:lvl1pPr>
            <a:lvl2pPr marR="0" lvl="1"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r>
              <a:rPr lang="en-US" sz="1000">
                <a:solidFill>
                  <a:srgbClr val="0FAA4B"/>
                </a:solidFill>
              </a:rPr>
              <a:t>Dollar Tree</a:t>
            </a:r>
          </a:p>
        </p:txBody>
      </p:sp>
      <p:sp>
        <p:nvSpPr>
          <p:cNvPr id="8" name="TextBox 7">
            <a:extLst>
              <a:ext uri="{FF2B5EF4-FFF2-40B4-BE49-F238E27FC236}">
                <a16:creationId xmlns:a16="http://schemas.microsoft.com/office/drawing/2014/main" id="{CCC7BAE8-887B-803C-6504-1AE5C9D4E694}"/>
              </a:ext>
            </a:extLst>
          </p:cNvPr>
          <p:cNvSpPr txBox="1"/>
          <p:nvPr/>
        </p:nvSpPr>
        <p:spPr>
          <a:xfrm>
            <a:off x="201086" y="666751"/>
            <a:ext cx="8942914" cy="3938001"/>
          </a:xfrm>
          <a:prstGeom prst="rect">
            <a:avLst/>
          </a:prstGeom>
          <a:noFill/>
        </p:spPr>
        <p:txBody>
          <a:bodyPr wrap="square" rtlCol="0">
            <a:spAutoFit/>
          </a:bodyPr>
          <a:lstStyle/>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Dollar Tree. (n.d.).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Our history</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Dollar Tree, Inc. Retrieved December 5, 2024, from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4"/>
              </a:rPr>
              <a:t>https://corporate.dollartree.com/about/our-history</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4000"/>
              </a:lnSpc>
              <a:spcBef>
                <a:spcPts val="0"/>
              </a:spcBef>
              <a:spcAft>
                <a:spcPts val="900"/>
              </a:spcAft>
            </a:pP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Thomas, B. (2024b). Dollar &amp; Variety Stores in the US. Retrieved </a:t>
            </a: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from </a:t>
            </a:r>
            <a:r>
              <a:rPr lang="en-US" sz="1000" u="sng">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5"/>
              </a:rPr>
              <a:t>https://my-ibisworld</a:t>
            </a: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 com.proxy.libraries.rutgers.edu/us/</a:t>
            </a:r>
            <a:r>
              <a:rPr lang="en-US" sz="100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/industry/45299/at-a-glance </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Yahoo Finance. (n.d.).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Dollar Tree (DLTR) gains on strategic actions: Time to hold?</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Yahoo Finance. Retrieved December 5, 2024, from </a:t>
            </a:r>
            <a:r>
              <a:rPr lang="en-US" sz="1000" err="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from</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6"/>
              </a:rPr>
              <a:t>https://finance.yahoo.com/news/dollar-tree-dltr-gains-strategic-154200328.html</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Yahoo Finance. (n.d.).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Here's why Dollar Tree (DLTR) is a great momentum stock to buy.</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Yahoo Finance. Retrieved December 5, 2024, from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7"/>
              </a:rPr>
              <a:t>https://finance.yahoo.com/news/heres-why-dollar-tree-dltr-153603708.html</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The Wall Street Journal. (n.d.).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Dollar Tree cuts annual outlook.</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The Wall Street Journal. Retrieved December 5, 2024, from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8"/>
              </a:rPr>
              <a:t>https://www.wsj.com/articles/dollar-tree-cuts-annual-outlook-11574774744</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DLTR</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Nasdaq. (n.d.).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9"/>
              </a:rPr>
              <a:t>https://www.nasdaq.com/market-activity/stocks/dltr</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err="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AlphaStreet</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(2024, November 22). Dollar Tree (DLTR): Key points of note from the Q3 2024 earnings report. </a:t>
            </a:r>
            <a:r>
              <a:rPr lang="en-US" sz="1000" i="1" err="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AlphaStreet</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10"/>
              </a:rPr>
              <a:t>https://news.alphastreet.com/dollar-tree-dltr-key-points-of-note-from-the-q3-2024-earnings-report/</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Nasdaq. (n.d.).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Dollar Tree Inc. Common Stock (DLTR) Earnings Report Date</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Nasdaq. </a:t>
            </a:r>
            <a:r>
              <a:rPr lang="en-US" sz="1000" u="sng">
                <a:latin typeface="Times New Roman" panose="02020603050405020304" pitchFamily="18" charset="0"/>
                <a:ea typeface="Trebuchet MS" panose="020B0603020202020204" pitchFamily="34" charset="0"/>
                <a:cs typeface="Times New Roman" panose="02020603050405020304" pitchFamily="18" charset="0"/>
              </a:rPr>
              <a:t>https://www.nasdaq.com/market-activity/stocks/dltr/earnings</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Author's Last Name, First Initial. (2024, September 4). Dollar Tree (DLTR) earnings Q2 2024. </a:t>
            </a:r>
            <a:r>
              <a:rPr lang="en-US" sz="1000" i="1">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CNBC</a:t>
            </a:r>
            <a:r>
              <a:rPr lang="en-US" sz="1000">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000" u="sng">
                <a:solidFill>
                  <a:srgbClr val="000000"/>
                </a:solidFill>
                <a:effectLst/>
                <a:latin typeface="Times New Roman" panose="02020603050405020304" pitchFamily="18" charset="0"/>
                <a:ea typeface="Trebuchet MS" panose="020B0603020202020204" pitchFamily="34" charset="0"/>
                <a:cs typeface="Times New Roman" panose="02020603050405020304" pitchFamily="18" charset="0"/>
                <a:hlinkClick r:id="rId11"/>
              </a:rPr>
              <a:t>https://www.cnbc.com/2024/09/04/dollar-tree-dltr-earnings-q2-2024.html</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pPr marL="0" marR="0">
              <a:lnSpc>
                <a:spcPct val="115000"/>
              </a:lnSpc>
              <a:spcBef>
                <a:spcPts val="0"/>
              </a:spcBef>
              <a:spcAft>
                <a:spcPts val="800"/>
              </a:spcAft>
            </a:pPr>
            <a:r>
              <a:rPr lang="en-US" sz="1000" b="1">
                <a:effectLst/>
                <a:latin typeface="Times New Roman" panose="02020603050405020304" pitchFamily="18" charset="0"/>
                <a:ea typeface="Trebuchet MS" panose="020B0603020202020204" pitchFamily="34" charset="0"/>
                <a:cs typeface="Times New Roman" panose="02020603050405020304" pitchFamily="18" charset="0"/>
              </a:rPr>
              <a:t> </a:t>
            </a:r>
            <a:endParaRPr lang="en-US" sz="1000">
              <a:effectLst/>
              <a:latin typeface="Trebuchet MS" panose="020B0603020202020204" pitchFamily="34" charset="0"/>
              <a:ea typeface="Trebuchet MS" panose="020B0603020202020204" pitchFamily="34" charset="0"/>
              <a:cs typeface="Times New Roman" panose="02020603050405020304" pitchFamily="18" charset="0"/>
            </a:endParaRPr>
          </a:p>
          <a:p>
            <a:endParaRPr lang="en-US" sz="1000"/>
          </a:p>
        </p:txBody>
      </p:sp>
    </p:spTree>
    <p:extLst>
      <p:ext uri="{BB962C8B-B14F-4D97-AF65-F5344CB8AC3E}">
        <p14:creationId xmlns:p14="http://schemas.microsoft.com/office/powerpoint/2010/main" val="2106380287"/>
      </p:ext>
    </p:extLst>
  </p:cSld>
  <p:clrMapOvr>
    <a:masterClrMapping/>
  </p:clrMapOvr>
</p:sld>
</file>

<file path=ppt/theme/theme1.xml><?xml version="1.0" encoding="utf-8"?>
<a:theme xmlns:a="http://schemas.openxmlformats.org/drawingml/2006/main" name="1_Investment Business Plan By Slidesgo">
  <a:themeElements>
    <a:clrScheme name="Simple Light">
      <a:dk1>
        <a:srgbClr val="F3F3F3"/>
      </a:dk1>
      <a:lt1>
        <a:srgbClr val="434343"/>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6629c24-1af1-4a7e-8c10-472cac93f0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8125710761CBF4982B8F816836B12C1" ma:contentTypeVersion="5" ma:contentTypeDescription="Create a new document." ma:contentTypeScope="" ma:versionID="3c437a2afb16b64e3d3878d6b7af2c4b">
  <xsd:schema xmlns:xsd="http://www.w3.org/2001/XMLSchema" xmlns:xs="http://www.w3.org/2001/XMLSchema" xmlns:p="http://schemas.microsoft.com/office/2006/metadata/properties" xmlns:ns3="c6629c24-1af1-4a7e-8c10-472cac93f0fe" targetNamespace="http://schemas.microsoft.com/office/2006/metadata/properties" ma:root="true" ma:fieldsID="c1c7c0003f3dbf81136ad7eadc376a85" ns3:_="">
    <xsd:import namespace="c6629c24-1af1-4a7e-8c10-472cac93f0f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629c24-1af1-4a7e-8c10-472cac93f0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35BA66-2D7B-4F81-A8EF-57952700B6A4}">
  <ds:schemaRefs>
    <ds:schemaRef ds:uri="http://schemas.microsoft.com/sharepoint/v3/contenttype/forms"/>
  </ds:schemaRefs>
</ds:datastoreItem>
</file>

<file path=customXml/itemProps2.xml><?xml version="1.0" encoding="utf-8"?>
<ds:datastoreItem xmlns:ds="http://schemas.openxmlformats.org/officeDocument/2006/customXml" ds:itemID="{416F98E5-4D06-426D-9282-B58EAAAAEA18}">
  <ds:schemaRefs>
    <ds:schemaRef ds:uri="http://purl.org/dc/elements/1.1/"/>
    <ds:schemaRef ds:uri="http://schemas.microsoft.com/office/infopath/2007/PartnerControls"/>
    <ds:schemaRef ds:uri="c6629c24-1af1-4a7e-8c10-472cac93f0fe"/>
    <ds:schemaRef ds:uri="http://purl.org/dc/dcmitype/"/>
    <ds:schemaRef ds:uri="http://purl.org/dc/terms/"/>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749FD706-3F48-4336-A513-A967696C2015}">
  <ds:schemaRefs>
    <ds:schemaRef ds:uri="c6629c24-1af1-4a7e-8c10-472cac93f0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42</TotalTime>
  <Words>1856</Words>
  <Application>Microsoft Macintosh PowerPoint</Application>
  <PresentationFormat>On-screen Show (16:9)</PresentationFormat>
  <Paragraphs>277</Paragraphs>
  <Slides>34</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Open Sans</vt:lpstr>
      <vt:lpstr>DM Serif Display</vt:lpstr>
      <vt:lpstr>Calibri</vt:lpstr>
      <vt:lpstr>Times New Roman</vt:lpstr>
      <vt:lpstr>Trebuchet MS</vt:lpstr>
      <vt:lpstr>Open Sans Light</vt:lpstr>
      <vt:lpstr>Fira Sans Extra Condensed Medium</vt:lpstr>
      <vt:lpstr>1_Investment Business Plan By Slidesgo</vt:lpstr>
      <vt:lpstr>Dollar Tree [NASDAQ: DLTR]</vt:lpstr>
      <vt:lpstr>Table of Contents</vt:lpstr>
      <vt:lpstr>Company History</vt:lpstr>
      <vt:lpstr>Industry</vt:lpstr>
      <vt:lpstr>Life Cycle of Dollar Tree: Mature</vt:lpstr>
      <vt:lpstr>Macro Trends</vt:lpstr>
      <vt:lpstr>How is Dollar Tree positioned within these trends? </vt:lpstr>
      <vt:lpstr>Historical Growth </vt:lpstr>
      <vt:lpstr>Table of Contents</vt:lpstr>
      <vt:lpstr>Key Players </vt:lpstr>
      <vt:lpstr>SWOT Analysis: Internal Factors</vt:lpstr>
      <vt:lpstr>SWOT Analysis: External Factors</vt:lpstr>
      <vt:lpstr>Porter’s 5 Forces</vt:lpstr>
      <vt:lpstr>Porter’s 5 Forces</vt:lpstr>
      <vt:lpstr>Margins Relative to Competition / Pricing Power</vt:lpstr>
      <vt:lpstr>Table of Contents</vt:lpstr>
      <vt:lpstr>Major Shareholders</vt:lpstr>
      <vt:lpstr>Composition of Revenues</vt:lpstr>
      <vt:lpstr>DuPont Analysis </vt:lpstr>
      <vt:lpstr>Leverage / Capital Structure </vt:lpstr>
      <vt:lpstr>Working Capital Structure </vt:lpstr>
      <vt:lpstr>Assumptions </vt:lpstr>
      <vt:lpstr>Target Price vs Trading Price </vt:lpstr>
      <vt:lpstr>Table of Contents</vt:lpstr>
      <vt:lpstr>Risks and Mitigants </vt:lpstr>
      <vt:lpstr>Recommendation </vt:lpstr>
      <vt:lpstr>Table of Contents</vt:lpstr>
      <vt:lpstr>Appendix A: Balance Sheet</vt:lpstr>
      <vt:lpstr>Appendix B: Income Statement</vt:lpstr>
      <vt:lpstr>Appendix C: DCF</vt:lpstr>
      <vt:lpstr>Appendix C: DCF (continued)</vt:lpstr>
      <vt:lpstr>Appendix D: Trading Comparable </vt:lpstr>
      <vt:lpstr>Appendix E: Trading Comparable</vt:lpstr>
      <vt:lpstr>Appendix I: 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Dollar Tree [NASDAQ: DLTR]</dc:title>
  <cp:lastModifiedBy>Chaitanya Rachakunta</cp:lastModifiedBy>
  <cp:revision>7</cp:revision>
  <dcterms:modified xsi:type="dcterms:W3CDTF">2026-03-11T13:58:19Z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0x01010068125710761CBF4982B8F816836B12C1</vt:lpwstr>
  </property>
</Properties>
</file>